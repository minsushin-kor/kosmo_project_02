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4" r:id="rId10"/>
    <p:sldId id="265" r:id="rId11"/>
    <p:sldId id="266" r:id="rId12"/>
    <p:sldId id="272" r:id="rId13"/>
    <p:sldId id="273" r:id="rId14"/>
    <p:sldId id="267" r:id="rId15"/>
    <p:sldId id="26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DF7"/>
    <a:srgbClr val="F9F8F4"/>
    <a:srgbClr val="F5F4F0"/>
    <a:srgbClr val="EAF3EC"/>
    <a:srgbClr val="C6D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F461A-4338-4BE3-B833-91D434D7B106}" v="134" dt="2026-09-08T08:14:14.762"/>
    <p1510:client id="{754BC056-C1B1-43D3-B4D8-CAEE415ADE5A}" v="42" dt="2026-09-08T09:17:08.028"/>
    <p1510:client id="{C15ADD36-DAF0-707C-F4DE-C6EC6904EA5C}" v="10" dt="2026-09-08T07:44:44.212"/>
    <p1510:client id="{D0D10BCA-BA1D-821C-096B-A93B39DFC78B}" v="4" dt="2026-09-07T11:13:28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안녕하세요</a:t>
            </a:r>
            <a:r>
              <a:rPr lang="en-US" altLang="ko-KR"/>
              <a:t>.</a:t>
            </a:r>
            <a:r>
              <a:rPr lang="ko-KR" altLang="en-US"/>
              <a:t> 팀 프로젝트 발표를 </a:t>
            </a:r>
            <a:r>
              <a:rPr lang="ko-KR"/>
              <a:t>시작하겠습니다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endParaRPr lang="en-US" altLang="ko-KR"/>
          </a:p>
          <a:p>
            <a:r>
              <a:rPr lang="ko-KR"/>
              <a:t>저희 프로젝트는</a:t>
            </a:r>
            <a:r>
              <a:rPr lang="ko-KR" altLang="en-US"/>
              <a:t> </a:t>
            </a:r>
            <a:r>
              <a:rPr lang="ko-KR"/>
              <a:t>보호자가</a:t>
            </a:r>
            <a:r>
              <a:rPr lang="ko-KR" altLang="en-US"/>
              <a:t> </a:t>
            </a:r>
            <a:r>
              <a:rPr lang="ko-KR"/>
              <a:t>평소에</a:t>
            </a:r>
            <a:r>
              <a:rPr lang="ko-KR" altLang="en-US"/>
              <a:t> </a:t>
            </a:r>
            <a:r>
              <a:rPr lang="ko-KR"/>
              <a:t>관찰하는</a:t>
            </a:r>
            <a:r>
              <a:rPr lang="ko-KR" altLang="en-US"/>
              <a:t> 반려동물의 </a:t>
            </a:r>
            <a:r>
              <a:rPr lang="ko-KR"/>
              <a:t>일상 기록을 </a:t>
            </a:r>
            <a:r>
              <a:rPr lang="ko-KR" altLang="en-US"/>
              <a:t>건강</a:t>
            </a:r>
            <a:r>
              <a:rPr lang="ko-KR"/>
              <a:t> </a:t>
            </a:r>
            <a:r>
              <a:rPr lang="ko-KR" altLang="en-US"/>
              <a:t>신호로</a:t>
            </a:r>
            <a:r>
              <a:rPr lang="ko-KR"/>
              <a:t> </a:t>
            </a:r>
            <a:r>
              <a:rPr lang="ko-KR" altLang="en-US"/>
              <a:t>연결하는</a:t>
            </a:r>
            <a:r>
              <a:rPr lang="ko-KR"/>
              <a:t> 서비스입니다.</a:t>
            </a:r>
            <a:endParaRPr lang="en-US" altLang="ko-KR">
              <a:solidFill>
                <a:srgbClr val="444444"/>
              </a:solidFill>
            </a:endParaRPr>
          </a:p>
          <a:p>
            <a:r>
              <a:rPr lang="ko-KR"/>
              <a:t>단순히</a:t>
            </a:r>
            <a:r>
              <a:rPr lang="ko-KR" altLang="en-US"/>
              <a:t> </a:t>
            </a:r>
            <a:r>
              <a:rPr lang="ko-KR"/>
              <a:t>기록을</a:t>
            </a:r>
            <a:r>
              <a:rPr lang="ko-KR" altLang="en-US"/>
              <a:t> </a:t>
            </a:r>
            <a:r>
              <a:rPr lang="ko-KR"/>
              <a:t>남기는 </a:t>
            </a:r>
            <a:r>
              <a:rPr lang="ko-KR" altLang="en-US"/>
              <a:t>데서 끝나는 </a:t>
            </a:r>
            <a:r>
              <a:rPr lang="ko-KR"/>
              <a:t>것이 아니라,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 </a:t>
            </a:r>
            <a:r>
              <a:rPr lang="ko-KR"/>
              <a:t>분석</a:t>
            </a:r>
            <a:r>
              <a:rPr lang="en-US" altLang="ko-KR"/>
              <a:t>,</a:t>
            </a:r>
            <a:r>
              <a:rPr lang="ko-KR"/>
              <a:t> </a:t>
            </a:r>
            <a:r>
              <a:rPr lang="ko-KR" altLang="en-US"/>
              <a:t>생활 관리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/>
              <a:t>실종</a:t>
            </a:r>
            <a:r>
              <a:rPr lang="ko-KR" altLang="en-US"/>
              <a:t> </a:t>
            </a:r>
            <a:r>
              <a:rPr lang="ko-KR"/>
              <a:t>대응까지</a:t>
            </a:r>
            <a:r>
              <a:rPr lang="ko-KR" altLang="en-US"/>
              <a:t> </a:t>
            </a:r>
            <a:r>
              <a:rPr lang="ko-KR"/>
              <a:t>하나의</a:t>
            </a:r>
            <a:r>
              <a:rPr lang="ko-KR" altLang="en-US"/>
              <a:t> </a:t>
            </a:r>
            <a:r>
              <a:rPr lang="ko-KR"/>
              <a:t>흐름으로</a:t>
            </a:r>
            <a:r>
              <a:rPr lang="ko-KR" altLang="en-US"/>
              <a:t> </a:t>
            </a:r>
            <a:r>
              <a:rPr lang="ko-KR"/>
              <a:t>이어지도록 구성했습니다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endParaRPr lang="ko-KR" altLang="en-US"/>
          </a:p>
          <a:p>
            <a:r>
              <a:rPr lang="ko-KR" altLang="en-US"/>
              <a:t>프로젝트는</a:t>
            </a:r>
            <a:r>
              <a:rPr lang="ko-KR"/>
              <a:t> </a:t>
            </a:r>
            <a:r>
              <a:rPr lang="ko-KR" err="1"/>
              <a:t>박준하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/>
              <a:t>신민수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/>
              <a:t>정재혁</a:t>
            </a:r>
            <a:r>
              <a:rPr lang="ko-KR" altLang="en-US"/>
              <a:t> </a:t>
            </a:r>
            <a:r>
              <a:rPr lang="ko-KR"/>
              <a:t>세</a:t>
            </a:r>
            <a:r>
              <a:rPr lang="ko-KR" altLang="en-US"/>
              <a:t> </a:t>
            </a:r>
            <a:r>
              <a:rPr lang="ko-KR"/>
              <a:t>명이</a:t>
            </a:r>
            <a:r>
              <a:rPr lang="ko-KR" altLang="en-US"/>
              <a:t> </a:t>
            </a:r>
            <a:r>
              <a:rPr lang="ko-KR"/>
              <a:t>함께</a:t>
            </a:r>
            <a:r>
              <a:rPr lang="ko-KR" altLang="en-US"/>
              <a:t> 진행했습니다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프로젝트를 위해 처음으로 고민한 것은, 보호자가</a:t>
            </a:r>
            <a:r>
              <a:rPr lang="en-US" altLang="ko-KR"/>
              <a:t> </a:t>
            </a:r>
            <a:r>
              <a:rPr lang="ko-KR" altLang="en-US"/>
              <a:t>반려동물의</a:t>
            </a:r>
            <a:r>
              <a:rPr lang="en-US"/>
              <a:t> </a:t>
            </a:r>
            <a:r>
              <a:rPr lang="ko-KR" altLang="en-US"/>
              <a:t>상태를</a:t>
            </a:r>
            <a:r>
              <a:rPr lang="en-US" altLang="ko-KR"/>
              <a:t> </a:t>
            </a:r>
            <a:r>
              <a:rPr lang="en-US" altLang="ko-KR" err="1"/>
              <a:t>느낄</a:t>
            </a:r>
            <a:r>
              <a:rPr lang="en-US" altLang="ko-KR"/>
              <a:t> 수 있지만, </a:t>
            </a:r>
            <a:r>
              <a:rPr lang="ko-KR" altLang="en-US"/>
              <a:t>그</a:t>
            </a:r>
            <a:r>
              <a:rPr lang="en-US" altLang="ko-KR"/>
              <a:t> </a:t>
            </a:r>
            <a:r>
              <a:rPr lang="ko-KR" altLang="en-US"/>
              <a:t>정보가</a:t>
            </a:r>
            <a:r>
              <a:rPr lang="en-US" altLang="ko-KR"/>
              <a:t> </a:t>
            </a:r>
            <a:r>
              <a:rPr lang="en-US" altLang="ko-KR" err="1"/>
              <a:t>기억에</a:t>
            </a:r>
            <a:r>
              <a:rPr lang="en-US" altLang="ko-KR"/>
              <a:t> </a:t>
            </a:r>
            <a:r>
              <a:rPr lang="en-US" altLang="ko-KR" err="1"/>
              <a:t>의존하는</a:t>
            </a:r>
            <a:r>
              <a:rPr lang="en-US" altLang="ko-KR"/>
              <a:t> </a:t>
            </a:r>
            <a:r>
              <a:rPr lang="en-US" altLang="ko-KR" err="1"/>
              <a:t>것을</a:t>
            </a:r>
            <a:r>
              <a:rPr lang="en-US" altLang="ko-KR"/>
              <a:t> </a:t>
            </a:r>
            <a:r>
              <a:rPr lang="en-US" altLang="ko-KR" err="1"/>
              <a:t>문제로</a:t>
            </a:r>
            <a:r>
              <a:rPr lang="en-US" altLang="ko-KR"/>
              <a:t> </a:t>
            </a:r>
            <a:r>
              <a:rPr lang="en-US" altLang="ko-KR" err="1"/>
              <a:t>생각했습니다</a:t>
            </a:r>
            <a:r>
              <a:rPr lang="en-US" altLang="ko-KR"/>
              <a:t>.</a:t>
            </a:r>
            <a:endParaRPr lang="en-US"/>
          </a:p>
          <a:p>
            <a:endParaRPr lang="en-US" altLang="ko-KR"/>
          </a:p>
          <a:p>
            <a:r>
              <a:rPr lang="ko-KR" altLang="en-US"/>
              <a:t>예를</a:t>
            </a:r>
            <a:r>
              <a:rPr lang="en-US" altLang="ko-KR"/>
              <a:t> </a:t>
            </a:r>
            <a:r>
              <a:rPr lang="ko-KR" altLang="en-US"/>
              <a:t>들어</a:t>
            </a:r>
            <a:r>
              <a:rPr lang="en-US" altLang="ko-KR"/>
              <a:t> </a:t>
            </a:r>
            <a:r>
              <a:rPr lang="en-US" altLang="ko-KR" err="1"/>
              <a:t>반려동물의</a:t>
            </a:r>
            <a:r>
              <a:rPr lang="en-US" altLang="ko-KR"/>
              <a:t> </a:t>
            </a:r>
            <a:r>
              <a:rPr lang="ko-KR" altLang="en-US"/>
              <a:t>식욕이</a:t>
            </a:r>
            <a:r>
              <a:rPr lang="en-US" altLang="ko-KR"/>
              <a:t> </a:t>
            </a:r>
            <a:r>
              <a:rPr lang="ko-KR" altLang="en-US" err="1"/>
              <a:t>줄었다거나</a:t>
            </a:r>
            <a:r>
              <a:rPr lang="en-US" altLang="ko-KR"/>
              <a:t> </a:t>
            </a:r>
            <a:r>
              <a:rPr lang="ko-KR" altLang="en-US"/>
              <a:t>활동량이</a:t>
            </a:r>
            <a:r>
              <a:rPr lang="en-US" altLang="ko-KR"/>
              <a:t> </a:t>
            </a:r>
            <a:r>
              <a:rPr lang="ko-KR" altLang="en-US"/>
              <a:t>평소보다</a:t>
            </a:r>
            <a:r>
              <a:rPr lang="en-US" altLang="ko-KR"/>
              <a:t> </a:t>
            </a:r>
            <a:r>
              <a:rPr lang="ko-KR" altLang="en-US"/>
              <a:t>떨어진</a:t>
            </a:r>
            <a:r>
              <a:rPr lang="en-US" altLang="ko-KR"/>
              <a:t> </a:t>
            </a:r>
            <a:r>
              <a:rPr lang="ko-KR" altLang="en-US"/>
              <a:t>것</a:t>
            </a:r>
            <a:r>
              <a:rPr lang="en-US" altLang="ko-KR"/>
              <a:t> </a:t>
            </a:r>
            <a:r>
              <a:rPr lang="ko-KR" altLang="en-US"/>
              <a:t>경우 보호자는 이상을 빠르게 감지할 수 있습니다. </a:t>
            </a:r>
            <a:endParaRPr lang="ko-KR"/>
          </a:p>
          <a:p>
            <a:r>
              <a:rPr lang="ko-KR" altLang="en-US"/>
              <a:t>다만 기록하지 않은 채 기억에 의존하게 된다면 언제부터</a:t>
            </a:r>
            <a:r>
              <a:rPr lang="en-US" altLang="ko-KR"/>
              <a:t> </a:t>
            </a:r>
            <a:r>
              <a:rPr lang="ko-KR" altLang="en-US"/>
              <a:t>변화가</a:t>
            </a:r>
            <a:r>
              <a:rPr lang="en-US" altLang="ko-KR"/>
              <a:t> </a:t>
            </a:r>
            <a:r>
              <a:rPr lang="ko-KR" altLang="en-US"/>
              <a:t>있었는지</a:t>
            </a:r>
            <a:r>
              <a:rPr lang="en-US" altLang="ko-KR"/>
              <a:t> </a:t>
            </a:r>
            <a:r>
              <a:rPr lang="ko-KR" altLang="en-US"/>
              <a:t>정확하게</a:t>
            </a:r>
            <a:r>
              <a:rPr lang="en-US" altLang="ko-KR"/>
              <a:t> </a:t>
            </a:r>
            <a:r>
              <a:rPr lang="ko-KR" altLang="en-US"/>
              <a:t>확인하기</a:t>
            </a:r>
            <a:r>
              <a:rPr lang="en-US"/>
              <a:t> </a:t>
            </a:r>
            <a:r>
              <a:rPr lang="ko-KR" altLang="en-US"/>
              <a:t>어려우며 건강</a:t>
            </a:r>
            <a:r>
              <a:rPr lang="en-US"/>
              <a:t> </a:t>
            </a:r>
            <a:r>
              <a:rPr lang="ko-KR" altLang="en-US"/>
              <a:t>상태를</a:t>
            </a:r>
            <a:r>
              <a:rPr lang="en-US" altLang="ko-KR"/>
              <a:t> </a:t>
            </a:r>
            <a:r>
              <a:rPr lang="ko-KR" altLang="en-US"/>
              <a:t>기록하더라도</a:t>
            </a:r>
            <a:r>
              <a:rPr lang="en-US" altLang="ko-KR"/>
              <a:t> </a:t>
            </a:r>
            <a:r>
              <a:rPr lang="ko-KR" altLang="en-US"/>
              <a:t>분석</a:t>
            </a:r>
            <a:r>
              <a:rPr lang="en-US"/>
              <a:t> </a:t>
            </a:r>
            <a:r>
              <a:rPr lang="ko-KR" altLang="en-US"/>
              <a:t>결과, 생활</a:t>
            </a:r>
            <a:r>
              <a:rPr lang="en-US"/>
              <a:t> </a:t>
            </a:r>
            <a:r>
              <a:rPr lang="ko-KR" altLang="en-US"/>
              <a:t>관리</a:t>
            </a:r>
            <a:r>
              <a:rPr lang="en-US"/>
              <a:t> </a:t>
            </a:r>
            <a:r>
              <a:rPr lang="ko-KR" altLang="en-US"/>
              <a:t>정보 등</a:t>
            </a:r>
            <a:r>
              <a:rPr lang="en-US" altLang="ko-KR"/>
              <a:t> </a:t>
            </a:r>
            <a:r>
              <a:rPr lang="en-US" altLang="ko-KR" err="1"/>
              <a:t>각각</a:t>
            </a:r>
            <a:r>
              <a:rPr lang="en-US" altLang="ko-KR"/>
              <a:t> </a:t>
            </a:r>
            <a:r>
              <a:rPr lang="en-US" altLang="ko-KR" err="1"/>
              <a:t>분리되어</a:t>
            </a:r>
            <a:r>
              <a:rPr lang="en-US" altLang="ko-KR"/>
              <a:t> </a:t>
            </a:r>
            <a:r>
              <a:rPr lang="ko-KR" altLang="en-US"/>
              <a:t>한눈에 파악하기 어렵다고 느꼈습니다.</a:t>
            </a:r>
            <a:endParaRPr lang="en-US"/>
          </a:p>
          <a:p>
            <a:endParaRPr lang="ko-KR" altLang="en-US"/>
          </a:p>
          <a:p>
            <a:r>
              <a:rPr lang="ko-KR" altLang="en-US"/>
              <a:t>이외에도 반려동물을</a:t>
            </a:r>
            <a:r>
              <a:rPr lang="en-US" altLang="ko-KR"/>
              <a:t> </a:t>
            </a:r>
            <a:r>
              <a:rPr lang="ko-KR" altLang="en-US"/>
              <a:t>잃어버렸을</a:t>
            </a:r>
            <a:r>
              <a:rPr lang="en-US" altLang="ko-KR"/>
              <a:t> </a:t>
            </a:r>
            <a:r>
              <a:rPr lang="ko-KR" altLang="en-US"/>
              <a:t>때</a:t>
            </a:r>
            <a:r>
              <a:rPr lang="en-US" altLang="ko-KR"/>
              <a:t> </a:t>
            </a:r>
            <a:r>
              <a:rPr lang="ko-KR" altLang="en-US"/>
              <a:t>발견자가</a:t>
            </a:r>
            <a:r>
              <a:rPr lang="en-US"/>
              <a:t> </a:t>
            </a:r>
            <a:r>
              <a:rPr lang="ko-KR" altLang="en-US"/>
              <a:t>보호자에게 연락할</a:t>
            </a:r>
            <a:r>
              <a:rPr lang="en-US"/>
              <a:t> </a:t>
            </a:r>
            <a:r>
              <a:rPr lang="ko-KR" altLang="en-US"/>
              <a:t>정보를</a:t>
            </a:r>
            <a:r>
              <a:rPr lang="en-US"/>
              <a:t> </a:t>
            </a:r>
            <a:r>
              <a:rPr lang="ko-KR" altLang="en-US"/>
              <a:t>바로</a:t>
            </a:r>
            <a:r>
              <a:rPr lang="en-US" altLang="ko-KR"/>
              <a:t> </a:t>
            </a:r>
            <a:r>
              <a:rPr lang="ko-KR" altLang="en-US"/>
              <a:t>확인하기</a:t>
            </a:r>
            <a:r>
              <a:rPr lang="en-US"/>
              <a:t> </a:t>
            </a:r>
            <a:r>
              <a:rPr lang="ko-KR" altLang="en-US"/>
              <a:t>어렵다는</a:t>
            </a:r>
            <a:r>
              <a:rPr lang="en-US"/>
              <a:t> </a:t>
            </a:r>
            <a:r>
              <a:rPr lang="ko-KR" altLang="en-US"/>
              <a:t>점도 문제로 꼽았습니다.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그래서</a:t>
            </a:r>
            <a:r>
              <a:rPr lang="en-US"/>
              <a:t> </a:t>
            </a:r>
            <a:r>
              <a:rPr lang="ko-KR" altLang="en-US"/>
              <a:t>저희는</a:t>
            </a:r>
            <a:r>
              <a:rPr lang="en-US"/>
              <a:t> </a:t>
            </a:r>
            <a:r>
              <a:rPr lang="ko-KR" altLang="en-US"/>
              <a:t>이런</a:t>
            </a:r>
            <a:r>
              <a:rPr lang="en-US" altLang="ko-KR"/>
              <a:t> </a:t>
            </a:r>
            <a:r>
              <a:rPr lang="ko-KR" altLang="en-US"/>
              <a:t>정보들을</a:t>
            </a:r>
            <a:r>
              <a:rPr lang="en-US"/>
              <a:t> </a:t>
            </a:r>
            <a:r>
              <a:rPr lang="ko-KR" altLang="en-US"/>
              <a:t>하나의</a:t>
            </a:r>
            <a:r>
              <a:rPr lang="en-US"/>
              <a:t> </a:t>
            </a:r>
            <a:r>
              <a:rPr lang="ko-KR" altLang="en-US"/>
              <a:t>서비스</a:t>
            </a:r>
            <a:r>
              <a:rPr lang="en-US"/>
              <a:t> </a:t>
            </a:r>
            <a:r>
              <a:rPr lang="ko-KR" altLang="en-US"/>
              <a:t>안에서</a:t>
            </a:r>
            <a:r>
              <a:rPr lang="en-US"/>
              <a:t> </a:t>
            </a:r>
            <a:r>
              <a:rPr lang="ko-KR" altLang="en-US"/>
              <a:t>연결해보는</a:t>
            </a:r>
            <a:r>
              <a:rPr lang="en-US"/>
              <a:t> </a:t>
            </a:r>
            <a:r>
              <a:rPr lang="ko-KR" altLang="en-US"/>
              <a:t>방향으로</a:t>
            </a:r>
            <a:r>
              <a:rPr lang="en-US"/>
              <a:t> </a:t>
            </a:r>
            <a:r>
              <a:rPr lang="ko-KR" altLang="en-US"/>
              <a:t>프로젝트를</a:t>
            </a:r>
            <a:r>
              <a:rPr lang="en-US"/>
              <a:t> </a:t>
            </a:r>
            <a:r>
              <a:rPr lang="ko-KR" altLang="en-US"/>
              <a:t>시작했습니다</a:t>
            </a:r>
            <a:r>
              <a:rPr lang="en-US"/>
              <a:t>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앞서 말씀드린 문제점을 토대로 전체</a:t>
            </a:r>
            <a:r>
              <a:rPr lang="en-US" altLang="ko-KR"/>
              <a:t> </a:t>
            </a:r>
            <a:r>
              <a:rPr lang="ko-KR" altLang="en-US"/>
              <a:t>서비스를</a:t>
            </a:r>
            <a:r>
              <a:rPr lang="en-US" altLang="ko-KR"/>
              <a:t> </a:t>
            </a:r>
            <a:r>
              <a:rPr lang="ko-KR" altLang="en-US"/>
              <a:t>크게</a:t>
            </a:r>
            <a:r>
              <a:rPr lang="en-US"/>
              <a:t> 네 </a:t>
            </a:r>
            <a:r>
              <a:rPr lang="ko-KR" altLang="en-US"/>
              <a:t>가지</a:t>
            </a:r>
            <a:r>
              <a:rPr lang="en-US" altLang="ko-KR"/>
              <a:t> </a:t>
            </a:r>
            <a:r>
              <a:rPr lang="ko-KR" altLang="en-US"/>
              <a:t>기능으로</a:t>
            </a:r>
            <a:r>
              <a:rPr lang="en-US" altLang="ko-KR"/>
              <a:t> </a:t>
            </a:r>
            <a:r>
              <a:rPr lang="ko-KR" altLang="en-US"/>
              <a:t>구성했습니다</a:t>
            </a:r>
            <a:r>
              <a:rPr lang="en-US"/>
              <a:t>.</a:t>
            </a:r>
            <a:endParaRPr lang="ko-KR" altLang="en-US"/>
          </a:p>
          <a:p>
            <a:endParaRPr lang="en-US" altLang="ko-KR"/>
          </a:p>
          <a:p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건강</a:t>
            </a:r>
            <a:r>
              <a:rPr lang="en-US" altLang="ko-KR"/>
              <a:t> </a:t>
            </a:r>
            <a:r>
              <a:rPr lang="ko-KR" altLang="en-US"/>
              <a:t>문진이나</a:t>
            </a:r>
            <a:r>
              <a:rPr lang="en-US" altLang="ko-KR"/>
              <a:t> </a:t>
            </a:r>
            <a:r>
              <a:rPr lang="ko-KR" altLang="en-US"/>
              <a:t>생체</a:t>
            </a:r>
            <a:r>
              <a:rPr lang="en-US" altLang="ko-KR"/>
              <a:t> </a:t>
            </a:r>
            <a:r>
              <a:rPr lang="ko-KR" altLang="en-US"/>
              <a:t>정보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하루</a:t>
            </a:r>
            <a:r>
              <a:rPr lang="en-US" altLang="ko-KR"/>
              <a:t> </a:t>
            </a:r>
            <a:r>
              <a:rPr lang="ko-KR" altLang="en-US"/>
              <a:t>상태를</a:t>
            </a:r>
            <a:r>
              <a:rPr lang="en-US" altLang="ko-KR"/>
              <a:t> </a:t>
            </a:r>
            <a:r>
              <a:rPr lang="ko-KR" altLang="en-US"/>
              <a:t>반려동물별로</a:t>
            </a:r>
            <a:r>
              <a:rPr lang="en-US" altLang="ko-KR"/>
              <a:t> </a:t>
            </a:r>
            <a:r>
              <a:rPr lang="ko-KR" altLang="en-US"/>
              <a:t>기록할</a:t>
            </a:r>
            <a:r>
              <a:rPr lang="en-US" altLang="ko-KR"/>
              <a:t> </a:t>
            </a:r>
            <a:r>
              <a:rPr lang="en-US"/>
              <a:t>수 </a:t>
            </a:r>
            <a:r>
              <a:rPr lang="ko-KR" altLang="en-US"/>
              <a:t>있도록</a:t>
            </a:r>
            <a:r>
              <a:rPr lang="en-US" altLang="ko-KR"/>
              <a:t> </a:t>
            </a:r>
            <a:r>
              <a:rPr lang="ko-KR" altLang="en-US"/>
              <a:t>했습니다</a:t>
            </a:r>
            <a:r>
              <a:rPr lang="en-US"/>
              <a:t>.</a:t>
            </a:r>
            <a:endParaRPr lang="en-US" altLang="ko-KR"/>
          </a:p>
          <a:p>
            <a:r>
              <a:rPr lang="ko-KR" altLang="en-US"/>
              <a:t>이렇게</a:t>
            </a:r>
            <a:r>
              <a:rPr lang="en-US" altLang="ko-KR"/>
              <a:t> </a:t>
            </a:r>
            <a:r>
              <a:rPr lang="ko-KR" altLang="en-US"/>
              <a:t>기록된</a:t>
            </a:r>
            <a:r>
              <a:rPr lang="en-US" altLang="ko-KR"/>
              <a:t> </a:t>
            </a:r>
            <a:r>
              <a:rPr lang="ko-KR" altLang="en-US"/>
              <a:t>데이터를</a:t>
            </a:r>
            <a:r>
              <a:rPr lang="en-US" altLang="ko-KR"/>
              <a:t> </a:t>
            </a:r>
            <a:r>
              <a:rPr lang="ko-KR" altLang="en-US"/>
              <a:t>기반으로</a:t>
            </a:r>
            <a:r>
              <a:rPr lang="en-US"/>
              <a:t> AI</a:t>
            </a:r>
            <a:r>
              <a:rPr lang="ko-KR" altLang="en-US"/>
              <a:t>가</a:t>
            </a:r>
            <a:r>
              <a:rPr lang="en-US" altLang="ko-KR"/>
              <a:t> </a:t>
            </a:r>
            <a:r>
              <a:rPr lang="ko-KR" altLang="en-US"/>
              <a:t>현재</a:t>
            </a:r>
            <a:r>
              <a:rPr lang="en-US"/>
              <a:t> </a:t>
            </a:r>
            <a:r>
              <a:rPr lang="en-US" err="1"/>
              <a:t>건강</a:t>
            </a:r>
            <a:r>
              <a:rPr lang="en-US"/>
              <a:t> </a:t>
            </a:r>
            <a:r>
              <a:rPr lang="ko-KR" altLang="en-US"/>
              <a:t>위험도를</a:t>
            </a:r>
            <a:r>
              <a:rPr lang="en-US" altLang="ko-KR"/>
              <a:t> </a:t>
            </a:r>
            <a:r>
              <a:rPr lang="ko-KR" altLang="en-US"/>
              <a:t>분석하고</a:t>
            </a:r>
            <a:r>
              <a:rPr lang="en-US"/>
              <a:t>, </a:t>
            </a:r>
            <a:r>
              <a:rPr lang="ko-KR" altLang="en-US"/>
              <a:t>어떤</a:t>
            </a:r>
            <a:r>
              <a:rPr lang="en-US" altLang="ko-KR"/>
              <a:t> </a:t>
            </a:r>
            <a:r>
              <a:rPr lang="ko-KR" altLang="en-US"/>
              <a:t>요소가</a:t>
            </a:r>
            <a:r>
              <a:rPr lang="en-US" altLang="ko-KR"/>
              <a:t> </a:t>
            </a:r>
            <a:r>
              <a:rPr lang="ko-KR" altLang="en-US"/>
              <a:t>결과에</a:t>
            </a:r>
            <a:r>
              <a:rPr lang="en-US" altLang="ko-KR"/>
              <a:t> </a:t>
            </a:r>
            <a:r>
              <a:rPr lang="ko-KR" altLang="en-US"/>
              <a:t>영향을</a:t>
            </a:r>
            <a:r>
              <a:rPr lang="en-US" altLang="ko-KR"/>
              <a:t> </a:t>
            </a:r>
            <a:r>
              <a:rPr lang="ko-KR" altLang="en-US"/>
              <a:t>줬는지도</a:t>
            </a:r>
            <a:r>
              <a:rPr lang="en-US" altLang="ko-KR"/>
              <a:t> </a:t>
            </a:r>
            <a:r>
              <a:rPr lang="ko-KR" altLang="en-US"/>
              <a:t>같이</a:t>
            </a:r>
            <a:r>
              <a:rPr lang="en-US" altLang="ko-KR"/>
              <a:t> </a:t>
            </a:r>
            <a:r>
              <a:rPr lang="ko-KR" altLang="en-US"/>
              <a:t>보여줍니다</a:t>
            </a:r>
            <a:r>
              <a:rPr lang="en-US"/>
              <a:t>.</a:t>
            </a:r>
            <a:r>
              <a:rPr lang="en-US" altLang="ko-KR"/>
              <a:t> </a:t>
            </a:r>
          </a:p>
          <a:p>
            <a:endParaRPr lang="en-US" altLang="ko-KR"/>
          </a:p>
          <a:p>
            <a:r>
              <a:rPr lang="ko-KR" altLang="en-US"/>
              <a:t>그리고</a:t>
            </a:r>
            <a:r>
              <a:rPr lang="en-US" altLang="ko-KR"/>
              <a:t> </a:t>
            </a:r>
            <a:r>
              <a:rPr lang="ko-KR" altLang="en-US"/>
              <a:t>사료의</a:t>
            </a:r>
            <a:r>
              <a:rPr lang="en-US" altLang="ko-KR"/>
              <a:t> </a:t>
            </a:r>
            <a:r>
              <a:rPr lang="ko-KR" altLang="en-US"/>
              <a:t>경우에는</a:t>
            </a:r>
            <a:r>
              <a:rPr lang="en-US" altLang="ko-KR"/>
              <a:t> </a:t>
            </a:r>
            <a:r>
              <a:rPr lang="ko-KR" altLang="en-US"/>
              <a:t>특정</a:t>
            </a:r>
            <a:r>
              <a:rPr lang="en-US" altLang="ko-KR"/>
              <a:t> </a:t>
            </a:r>
            <a:r>
              <a:rPr lang="ko-KR" altLang="en-US"/>
              <a:t>제품을</a:t>
            </a:r>
            <a:r>
              <a:rPr lang="en-US" altLang="ko-KR"/>
              <a:t> </a:t>
            </a:r>
            <a:r>
              <a:rPr lang="ko-KR" altLang="en-US"/>
              <a:t>추천하기보다는</a:t>
            </a:r>
            <a:r>
              <a:rPr lang="en-US" altLang="ko-KR"/>
              <a:t> </a:t>
            </a:r>
            <a:r>
              <a:rPr lang="ko-KR" altLang="en-US"/>
              <a:t>현재</a:t>
            </a:r>
            <a:r>
              <a:rPr lang="en-US" altLang="ko-KR"/>
              <a:t> </a:t>
            </a:r>
            <a:r>
              <a:rPr lang="ko-KR" altLang="en-US"/>
              <a:t>상태에</a:t>
            </a:r>
            <a:r>
              <a:rPr lang="en-US" altLang="ko-KR"/>
              <a:t> </a:t>
            </a:r>
            <a:r>
              <a:rPr lang="ko-KR" altLang="en-US"/>
              <a:t>맞는</a:t>
            </a:r>
            <a:r>
              <a:rPr lang="en-US" altLang="ko-KR"/>
              <a:t> </a:t>
            </a:r>
            <a:r>
              <a:rPr lang="ko-KR" altLang="en-US"/>
              <a:t>성분</a:t>
            </a:r>
            <a:r>
              <a:rPr lang="en-US" altLang="ko-KR"/>
              <a:t> </a:t>
            </a:r>
            <a:r>
              <a:rPr lang="ko-KR" altLang="en-US"/>
              <a:t>방향을</a:t>
            </a:r>
            <a:r>
              <a:rPr lang="en-US" altLang="ko-KR"/>
              <a:t> </a:t>
            </a:r>
            <a:r>
              <a:rPr lang="ko-KR" altLang="en-US"/>
              <a:t>안내하도록</a:t>
            </a:r>
            <a:r>
              <a:rPr lang="en-US" altLang="ko-KR"/>
              <a:t> </a:t>
            </a:r>
            <a:r>
              <a:rPr lang="ko-KR" altLang="en-US"/>
              <a:t>구성했습니다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ko-KR" altLang="en-US"/>
              <a:t>생활</a:t>
            </a:r>
            <a:r>
              <a:rPr lang="en-US" altLang="ko-KR"/>
              <a:t> </a:t>
            </a:r>
            <a:r>
              <a:rPr lang="ko-KR" altLang="en-US"/>
              <a:t>관리</a:t>
            </a:r>
            <a:r>
              <a:rPr lang="en-US" altLang="ko-KR"/>
              <a:t> </a:t>
            </a:r>
            <a:r>
              <a:rPr lang="ko-KR" altLang="en-US"/>
              <a:t>측면에서는</a:t>
            </a:r>
            <a:r>
              <a:rPr lang="en-US" altLang="ko-KR"/>
              <a:t> </a:t>
            </a:r>
            <a:r>
              <a:rPr lang="ko-KR" altLang="en-US"/>
              <a:t>날씨와</a:t>
            </a:r>
            <a:r>
              <a:rPr lang="en-US" altLang="ko-KR"/>
              <a:t> </a:t>
            </a:r>
            <a:r>
              <a:rPr lang="ko-KR" altLang="en-US"/>
              <a:t>대기질을</a:t>
            </a:r>
            <a:r>
              <a:rPr lang="en-US" altLang="ko-KR"/>
              <a:t> </a:t>
            </a:r>
            <a:r>
              <a:rPr lang="ko-KR" altLang="en-US"/>
              <a:t>이용해서</a:t>
            </a:r>
            <a:r>
              <a:rPr lang="en-US" altLang="ko-KR"/>
              <a:t> </a:t>
            </a:r>
            <a:r>
              <a:rPr lang="ko-KR" altLang="en-US"/>
              <a:t>산책하기</a:t>
            </a:r>
            <a:r>
              <a:rPr lang="en-US" altLang="ko-KR"/>
              <a:t> </a:t>
            </a:r>
            <a:r>
              <a:rPr lang="ko-KR" altLang="en-US"/>
              <a:t>적절한지를</a:t>
            </a:r>
            <a:r>
              <a:rPr lang="en-US" altLang="ko-KR"/>
              <a:t> </a:t>
            </a:r>
            <a:r>
              <a:rPr lang="ko-KR" altLang="en-US"/>
              <a:t>보여주고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실종</a:t>
            </a:r>
            <a:r>
              <a:rPr lang="en-US" altLang="ko-KR"/>
              <a:t> </a:t>
            </a:r>
            <a:r>
              <a:rPr lang="ko-KR" altLang="en-US"/>
              <a:t>상황에서는</a:t>
            </a:r>
            <a:r>
              <a:rPr lang="en-US"/>
              <a:t> QR</a:t>
            </a:r>
            <a:r>
              <a:rPr lang="en-US" altLang="ko-KR"/>
              <a:t> </a:t>
            </a:r>
            <a:r>
              <a:rPr lang="ko-KR" altLang="en-US"/>
              <a:t>코드를</a:t>
            </a:r>
            <a:r>
              <a:rPr lang="en-US" altLang="ko-KR"/>
              <a:t> </a:t>
            </a:r>
            <a:r>
              <a:rPr lang="ko-KR" altLang="en-US"/>
              <a:t>통해</a:t>
            </a:r>
            <a:r>
              <a:rPr lang="en-US" altLang="ko-KR"/>
              <a:t> </a:t>
            </a:r>
            <a:r>
              <a:rPr lang="ko-KR" altLang="en-US"/>
              <a:t>보호자가</a:t>
            </a:r>
            <a:r>
              <a:rPr lang="en-US" altLang="ko-KR"/>
              <a:t> </a:t>
            </a:r>
            <a:r>
              <a:rPr lang="ko-KR" altLang="en-US"/>
              <a:t>허용한</a:t>
            </a:r>
            <a:r>
              <a:rPr lang="en-US" altLang="ko-KR"/>
              <a:t> </a:t>
            </a:r>
            <a:r>
              <a:rPr lang="ko-KR" altLang="en-US"/>
              <a:t>연락처와</a:t>
            </a:r>
            <a:r>
              <a:rPr lang="en-US" altLang="ko-KR"/>
              <a:t> </a:t>
            </a:r>
            <a:r>
              <a:rPr lang="ko-KR" altLang="en-US"/>
              <a:t>반려동물</a:t>
            </a:r>
            <a:r>
              <a:rPr lang="en-US" altLang="ko-KR"/>
              <a:t> </a:t>
            </a:r>
            <a:r>
              <a:rPr lang="ko-KR" altLang="en-US"/>
              <a:t>정보를</a:t>
            </a:r>
            <a:r>
              <a:rPr lang="en-US" altLang="ko-KR"/>
              <a:t> </a:t>
            </a:r>
            <a:r>
              <a:rPr lang="ko-KR" altLang="en-US"/>
              <a:t>확인할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있게</a:t>
            </a:r>
            <a:r>
              <a:rPr lang="en-US" altLang="ko-KR"/>
              <a:t> </a:t>
            </a:r>
            <a:r>
              <a:rPr lang="ko-KR" altLang="en-US"/>
              <a:t>했습니다</a:t>
            </a:r>
            <a:r>
              <a:rPr lang="en-US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사이트의 사용</a:t>
            </a:r>
            <a:r>
              <a:rPr lang="en-US" altLang="ko-KR"/>
              <a:t> </a:t>
            </a:r>
            <a:r>
              <a:rPr lang="ko-KR" altLang="en-US"/>
              <a:t>흐름은</a:t>
            </a:r>
            <a:r>
              <a:rPr lang="en-US" altLang="ko-KR"/>
              <a:t> </a:t>
            </a:r>
            <a:r>
              <a:rPr lang="en-US" altLang="ko-KR" err="1"/>
              <a:t>다음과</a:t>
            </a:r>
            <a:r>
              <a:rPr lang="en-US" altLang="ko-KR"/>
              <a:t> </a:t>
            </a:r>
            <a:r>
              <a:rPr lang="en-US" altLang="ko-KR" err="1"/>
              <a:t>같습니다</a:t>
            </a:r>
            <a:r>
              <a:rPr lang="en-US" altLang="ko-KR"/>
              <a:t>.</a:t>
            </a:r>
            <a:endParaRPr lang="ko-KR" altLang="en-US"/>
          </a:p>
          <a:p>
            <a:endParaRPr lang="en-US" altLang="ko-KR"/>
          </a:p>
          <a:p>
            <a:r>
              <a:rPr lang="ko-KR" altLang="en-US"/>
              <a:t>사용자는 반려동물을 등록하고</a:t>
            </a:r>
            <a:r>
              <a:rPr lang="en-US" altLang="ko-KR"/>
              <a:t>,</a:t>
            </a:r>
            <a:r>
              <a:rPr lang="ko-KR" altLang="en-US"/>
              <a:t> 이름</a:t>
            </a:r>
            <a:r>
              <a:rPr lang="en-US" altLang="ko-KR"/>
              <a:t>,</a:t>
            </a:r>
            <a:r>
              <a:rPr lang="ko-KR" altLang="en-US"/>
              <a:t> 품종</a:t>
            </a:r>
            <a:r>
              <a:rPr lang="en-US" altLang="ko-KR"/>
              <a:t>,</a:t>
            </a:r>
            <a:r>
              <a:rPr lang="ko-KR" altLang="en-US"/>
              <a:t> 사진 등 기본 정보를 설정합니다</a:t>
            </a:r>
            <a:r>
              <a:rPr lang="en-US" altLang="ko-KR"/>
              <a:t>.</a:t>
            </a:r>
            <a:endParaRPr lang="en-US">
              <a:solidFill>
                <a:srgbClr val="444444"/>
              </a:solidFill>
            </a:endParaRPr>
          </a:p>
          <a:p>
            <a:endParaRPr lang="en-US" altLang="ko-KR"/>
          </a:p>
          <a:p>
            <a:r>
              <a:rPr lang="ko-KR" altLang="en-US"/>
              <a:t>그 다음 문진</a:t>
            </a:r>
            <a:r>
              <a:rPr lang="en-US" altLang="ko-KR"/>
              <a:t>,</a:t>
            </a:r>
            <a:r>
              <a:rPr lang="ko-KR" altLang="en-US"/>
              <a:t> 생체정보</a:t>
            </a:r>
            <a:r>
              <a:rPr lang="en-US" altLang="ko-KR"/>
              <a:t>,</a:t>
            </a:r>
            <a:r>
              <a:rPr lang="ko-KR" altLang="en-US"/>
              <a:t> 하루 관찰 등 반려 동물의 상태를 기록합니다</a:t>
            </a:r>
            <a:r>
              <a:rPr lang="en-US" altLang="ko-KR"/>
              <a:t>.</a:t>
            </a:r>
            <a:endParaRPr lang="en-US">
              <a:solidFill>
                <a:srgbClr val="444444"/>
              </a:solidFill>
            </a:endParaRPr>
          </a:p>
          <a:p>
            <a:r>
              <a:rPr lang="ko-KR" altLang="en-US"/>
              <a:t>기록한 내용을 바탕으로 </a:t>
            </a:r>
            <a:r>
              <a:rPr lang="ko-KR" altLang="en-US" err="1"/>
              <a:t>A</a:t>
            </a:r>
            <a:r>
              <a:rPr lang="en-US"/>
              <a:t>I</a:t>
            </a:r>
            <a:r>
              <a:rPr lang="en-US" altLang="ko-KR"/>
              <a:t> </a:t>
            </a:r>
            <a:r>
              <a:rPr lang="ko-KR" altLang="en-US"/>
              <a:t>분석을</a:t>
            </a:r>
            <a:r>
              <a:rPr lang="en-US" altLang="ko-KR"/>
              <a:t> </a:t>
            </a:r>
            <a:r>
              <a:rPr lang="ko-KR" altLang="en-US"/>
              <a:t>실행하면</a:t>
            </a:r>
            <a:r>
              <a:rPr lang="en-US" altLang="ko-KR"/>
              <a:t> </a:t>
            </a:r>
            <a:r>
              <a:rPr lang="ko-KR" altLang="en-US"/>
              <a:t>건강</a:t>
            </a:r>
            <a:r>
              <a:rPr lang="en-US" altLang="ko-KR"/>
              <a:t> </a:t>
            </a:r>
            <a:r>
              <a:rPr lang="ko-KR" altLang="en-US"/>
              <a:t>위험</a:t>
            </a:r>
            <a:r>
              <a:rPr lang="en-US" altLang="ko-KR"/>
              <a:t> </a:t>
            </a:r>
            <a:r>
              <a:rPr lang="ko-KR" altLang="en-US"/>
              <a:t>등급과</a:t>
            </a:r>
            <a:r>
              <a:rPr lang="en-US" altLang="ko-KR"/>
              <a:t> </a:t>
            </a:r>
            <a:r>
              <a:rPr lang="ko-KR" altLang="en-US"/>
              <a:t>주요</a:t>
            </a:r>
            <a:r>
              <a:rPr lang="en-US" altLang="ko-KR"/>
              <a:t> </a:t>
            </a:r>
            <a:r>
              <a:rPr lang="ko-KR" altLang="en-US"/>
              <a:t>위험</a:t>
            </a:r>
            <a:r>
              <a:rPr lang="en-US" altLang="ko-KR"/>
              <a:t> </a:t>
            </a:r>
            <a:r>
              <a:rPr lang="ko-KR" altLang="en-US"/>
              <a:t>요인을</a:t>
            </a:r>
            <a:r>
              <a:rPr lang="en-US" altLang="ko-KR"/>
              <a:t> </a:t>
            </a:r>
            <a:r>
              <a:rPr lang="ko-KR" altLang="en-US"/>
              <a:t>확인할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있습니다</a:t>
            </a:r>
            <a:r>
              <a:rPr lang="en-US"/>
              <a:t>.</a:t>
            </a:r>
            <a:endParaRPr/>
          </a:p>
          <a:p>
            <a:endParaRPr lang="en-US" altLang="ko-KR"/>
          </a:p>
          <a:p>
            <a:r>
              <a:rPr lang="en-US" altLang="ko-KR" err="1"/>
              <a:t>뿐만아니라</a:t>
            </a:r>
            <a:r>
              <a:rPr lang="en-US" altLang="ko-KR"/>
              <a:t>, </a:t>
            </a:r>
            <a:r>
              <a:rPr lang="en-US" altLang="ko-KR" err="1"/>
              <a:t>작성한</a:t>
            </a:r>
            <a:r>
              <a:rPr lang="en-US" altLang="ko-KR"/>
              <a:t> </a:t>
            </a:r>
            <a:r>
              <a:rPr lang="en-US" altLang="ko-KR" err="1"/>
              <a:t>기록들과</a:t>
            </a:r>
            <a:r>
              <a:rPr lang="en-US" altLang="ko-KR"/>
              <a:t> </a:t>
            </a:r>
            <a:r>
              <a:rPr lang="ko-KR" altLang="en-US"/>
              <a:t>주간</a:t>
            </a:r>
            <a:r>
              <a:rPr lang="en-US" altLang="ko-KR"/>
              <a:t> </a:t>
            </a:r>
            <a:r>
              <a:rPr lang="ko-KR" altLang="en-US"/>
              <a:t>리포트</a:t>
            </a:r>
            <a:r>
              <a:rPr lang="en-US" altLang="ko-KR"/>
              <a:t> </a:t>
            </a:r>
            <a:r>
              <a:rPr lang="ko-KR" altLang="en-US"/>
              <a:t>등을</a:t>
            </a:r>
            <a:r>
              <a:rPr lang="en-US" altLang="ko-KR"/>
              <a:t> </a:t>
            </a:r>
            <a:r>
              <a:rPr lang="ko-KR" altLang="en-US"/>
              <a:t>통해</a:t>
            </a:r>
            <a:r>
              <a:rPr lang="en-US" altLang="ko-KR"/>
              <a:t> </a:t>
            </a:r>
            <a:r>
              <a:rPr lang="en-US" altLang="ko-KR" err="1"/>
              <a:t>반려동물의</a:t>
            </a:r>
            <a:r>
              <a:rPr lang="en-US" altLang="ko-KR"/>
              <a:t> </a:t>
            </a:r>
            <a:r>
              <a:rPr lang="ko-KR" altLang="en-US"/>
              <a:t>변화를</a:t>
            </a:r>
            <a:r>
              <a:rPr lang="en-US" altLang="ko-KR"/>
              <a:t> </a:t>
            </a:r>
            <a:r>
              <a:rPr lang="ko-KR" altLang="en-US"/>
              <a:t>확인할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있으며, 산책</a:t>
            </a:r>
            <a:r>
              <a:rPr lang="en-US" altLang="ko-KR"/>
              <a:t> </a:t>
            </a:r>
            <a:r>
              <a:rPr lang="ko-KR" altLang="en-US"/>
              <a:t>정보와</a:t>
            </a:r>
            <a:r>
              <a:rPr lang="en-US" altLang="ko-KR"/>
              <a:t> </a:t>
            </a:r>
            <a:r>
              <a:rPr lang="ko-KR" altLang="en-US"/>
              <a:t>실종</a:t>
            </a:r>
            <a:r>
              <a:rPr lang="en-US"/>
              <a:t> QR</a:t>
            </a:r>
            <a:r>
              <a:rPr lang="en-US" altLang="ko-KR"/>
              <a:t> </a:t>
            </a:r>
            <a:r>
              <a:rPr lang="ko-KR" altLang="en-US"/>
              <a:t>기능까지</a:t>
            </a:r>
            <a:r>
              <a:rPr lang="en-US" altLang="ko-KR"/>
              <a:t> </a:t>
            </a:r>
            <a:r>
              <a:rPr lang="ko-KR" altLang="en-US"/>
              <a:t>이용하여 생활 관리에 도움이 될 수</a:t>
            </a:r>
            <a:r>
              <a:rPr lang="en-US" altLang="ko-KR"/>
              <a:t> </a:t>
            </a:r>
            <a:r>
              <a:rPr lang="ko-KR" altLang="en-US"/>
              <a:t>있도록</a:t>
            </a:r>
            <a:r>
              <a:rPr lang="en-US" altLang="ko-KR"/>
              <a:t> </a:t>
            </a:r>
            <a:r>
              <a:rPr lang="ko-KR" altLang="en-US"/>
              <a:t>구성했습니다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ko-KR" altLang="en-US"/>
              <a:t>끝으로, 회원가입을</a:t>
            </a:r>
            <a:r>
              <a:rPr lang="en-US" altLang="ko-KR"/>
              <a:t> </a:t>
            </a:r>
            <a:r>
              <a:rPr lang="ko-KR" altLang="en-US"/>
              <a:t>하지</a:t>
            </a:r>
            <a:r>
              <a:rPr lang="en-US" altLang="ko-KR"/>
              <a:t> </a:t>
            </a:r>
            <a:r>
              <a:rPr lang="ko-KR" altLang="en-US"/>
              <a:t>않은</a:t>
            </a:r>
            <a:r>
              <a:rPr lang="en-US" altLang="ko-KR"/>
              <a:t> </a:t>
            </a:r>
            <a:r>
              <a:rPr lang="ko-KR" altLang="en-US"/>
              <a:t>사용자도</a:t>
            </a:r>
            <a:r>
              <a:rPr lang="en-US" altLang="ko-KR"/>
              <a:t> </a:t>
            </a:r>
            <a:r>
              <a:rPr lang="en-US" altLang="ko-KR" err="1"/>
              <a:t>어떤</a:t>
            </a:r>
            <a:r>
              <a:rPr lang="en-US" altLang="ko-KR"/>
              <a:t> </a:t>
            </a:r>
            <a:r>
              <a:rPr lang="en-US" altLang="ko-KR" err="1"/>
              <a:t>서비스인지</a:t>
            </a:r>
            <a:r>
              <a:rPr lang="en-US" altLang="ko-KR"/>
              <a:t> </a:t>
            </a:r>
            <a:r>
              <a:rPr lang="ko-KR" altLang="en-US"/>
              <a:t>확인할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있도록</a:t>
            </a:r>
            <a:r>
              <a:rPr lang="en-US" altLang="ko-KR"/>
              <a:t> </a:t>
            </a:r>
            <a:r>
              <a:rPr lang="ko-KR" altLang="en-US"/>
              <a:t>빠른</a:t>
            </a:r>
            <a:r>
              <a:rPr lang="en-US" altLang="ko-KR"/>
              <a:t> </a:t>
            </a:r>
            <a:r>
              <a:rPr lang="ko-KR" altLang="en-US"/>
              <a:t>건강</a:t>
            </a:r>
            <a:r>
              <a:rPr lang="en-US" altLang="ko-KR"/>
              <a:t> </a:t>
            </a:r>
            <a:r>
              <a:rPr lang="ko-KR" altLang="en-US"/>
              <a:t>예측과</a:t>
            </a:r>
            <a:r>
              <a:rPr lang="en-US" altLang="ko-KR"/>
              <a:t> </a:t>
            </a:r>
            <a:r>
              <a:rPr lang="ko-KR" altLang="en-US"/>
              <a:t>사료</a:t>
            </a:r>
            <a:r>
              <a:rPr lang="en-US" altLang="ko-KR"/>
              <a:t> </a:t>
            </a:r>
            <a:r>
              <a:rPr lang="ko-KR" altLang="en-US"/>
              <a:t>추천</a:t>
            </a:r>
            <a:r>
              <a:rPr lang="en-US" altLang="ko-KR"/>
              <a:t> </a:t>
            </a:r>
            <a:r>
              <a:rPr lang="ko-KR" altLang="en-US"/>
              <a:t>기능을 체험할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있도록 디자인했습니다.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다음은</a:t>
            </a:r>
            <a:r>
              <a:rPr lang="en-US"/>
              <a:t> </a:t>
            </a:r>
            <a:r>
              <a:rPr lang="ko-KR" altLang="en-US"/>
              <a:t>전체</a:t>
            </a:r>
            <a:r>
              <a:rPr lang="en-US"/>
              <a:t> </a:t>
            </a:r>
            <a:r>
              <a:rPr lang="ko-KR" altLang="en-US"/>
              <a:t>시스템</a:t>
            </a:r>
            <a:r>
              <a:rPr lang="en-US"/>
              <a:t> </a:t>
            </a:r>
            <a:r>
              <a:rPr lang="ko-KR" altLang="en-US"/>
              <a:t>구조입니다</a:t>
            </a:r>
            <a:r>
              <a:rPr lang="en-US"/>
              <a:t>.</a:t>
            </a:r>
            <a:endParaRPr lang="ko-KR"/>
          </a:p>
          <a:p>
            <a:r>
              <a:rPr lang="en-US" err="1"/>
              <a:t>프론트엔드는</a:t>
            </a:r>
            <a:r>
              <a:rPr lang="en-US"/>
              <a:t> React</a:t>
            </a:r>
            <a:r>
              <a:rPr lang="ko-KR" altLang="en-US"/>
              <a:t>와</a:t>
            </a:r>
            <a:r>
              <a:rPr lang="en-US"/>
              <a:t> </a:t>
            </a:r>
            <a:r>
              <a:rPr lang="en-US" err="1"/>
              <a:t>TypeScript를</a:t>
            </a:r>
            <a:r>
              <a:rPr lang="en-US"/>
              <a:t> </a:t>
            </a:r>
            <a:r>
              <a:rPr lang="ko-KR" altLang="en-US"/>
              <a:t>사용했고</a:t>
            </a:r>
            <a:r>
              <a:rPr lang="en-US"/>
              <a:t>, </a:t>
            </a:r>
            <a:r>
              <a:rPr lang="ko-KR" altLang="en-US"/>
              <a:t>사용자가</a:t>
            </a:r>
            <a:r>
              <a:rPr lang="en-US"/>
              <a:t> </a:t>
            </a:r>
            <a:r>
              <a:rPr lang="en-US" err="1"/>
              <a:t>브라우저에서</a:t>
            </a:r>
            <a:r>
              <a:rPr lang="en-US"/>
              <a:t> </a:t>
            </a:r>
            <a:r>
              <a:rPr lang="en-US" err="1"/>
              <a:t>요청을</a:t>
            </a:r>
            <a:r>
              <a:rPr lang="en-US"/>
              <a:t> </a:t>
            </a:r>
            <a:r>
              <a:rPr lang="en-US" err="1"/>
              <a:t>보내면</a:t>
            </a:r>
            <a:r>
              <a:rPr lang="en-US"/>
              <a:t> </a:t>
            </a:r>
            <a:r>
              <a:rPr lang="ko-KR" altLang="en-US"/>
              <a:t>모든</a:t>
            </a:r>
            <a:r>
              <a:rPr lang="en-US"/>
              <a:t> </a:t>
            </a:r>
            <a:r>
              <a:rPr lang="ko-KR" altLang="en-US"/>
              <a:t>요청은</a:t>
            </a:r>
            <a:r>
              <a:rPr lang="en-US"/>
              <a:t> </a:t>
            </a:r>
            <a:r>
              <a:rPr lang="ko-KR" altLang="en-US"/>
              <a:t>먼저</a:t>
            </a:r>
            <a:r>
              <a:rPr lang="en-US"/>
              <a:t> Spring Boot</a:t>
            </a:r>
            <a:r>
              <a:rPr lang="ko-KR" altLang="en-US" err="1"/>
              <a:t>를</a:t>
            </a:r>
            <a:r>
              <a:rPr lang="en-US"/>
              <a:t> </a:t>
            </a:r>
            <a:r>
              <a:rPr lang="ko-KR" altLang="en-US"/>
              <a:t>거치도록</a:t>
            </a:r>
            <a:r>
              <a:rPr lang="en-US"/>
              <a:t> </a:t>
            </a:r>
            <a:r>
              <a:rPr lang="en-US" err="1"/>
              <a:t>구성했습니다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Spring</a:t>
            </a:r>
            <a:r>
              <a:rPr lang="ko-KR" altLang="en-US"/>
              <a:t>에서는</a:t>
            </a:r>
            <a:r>
              <a:rPr lang="en-US"/>
              <a:t> JWT</a:t>
            </a:r>
            <a:r>
              <a:rPr lang="ko-KR" altLang="en-US" err="1"/>
              <a:t>를</a:t>
            </a:r>
            <a:r>
              <a:rPr lang="en-US"/>
              <a:t> </a:t>
            </a:r>
            <a:r>
              <a:rPr lang="en-US" err="1"/>
              <a:t>이용한</a:t>
            </a:r>
            <a:r>
              <a:rPr lang="en-US"/>
              <a:t> </a:t>
            </a:r>
            <a:r>
              <a:rPr lang="ko-KR" altLang="en-US"/>
              <a:t>인증과</a:t>
            </a:r>
            <a:r>
              <a:rPr lang="en-US"/>
              <a:t> </a:t>
            </a:r>
            <a:r>
              <a:rPr lang="ko-KR" altLang="en-US"/>
              <a:t>인가</a:t>
            </a:r>
            <a:r>
              <a:rPr lang="en-US"/>
              <a:t>, </a:t>
            </a:r>
            <a:r>
              <a:rPr lang="ko-KR" altLang="en-US"/>
              <a:t>반려동물</a:t>
            </a:r>
            <a:r>
              <a:rPr lang="en-US"/>
              <a:t> </a:t>
            </a:r>
            <a:r>
              <a:rPr lang="ko-KR" altLang="en-US"/>
              <a:t>소유권</a:t>
            </a:r>
            <a:r>
              <a:rPr lang="en-US"/>
              <a:t> </a:t>
            </a:r>
            <a:r>
              <a:rPr lang="ko-KR" altLang="en-US"/>
              <a:t>확인</a:t>
            </a:r>
            <a:r>
              <a:rPr lang="en-US"/>
              <a:t> </a:t>
            </a:r>
            <a:r>
              <a:rPr lang="ko-KR" altLang="en-US"/>
              <a:t>같은</a:t>
            </a:r>
            <a:r>
              <a:rPr lang="en-US"/>
              <a:t> </a:t>
            </a:r>
            <a:r>
              <a:rPr lang="en-US" err="1"/>
              <a:t>도메인</a:t>
            </a:r>
            <a:r>
              <a:rPr lang="en-US"/>
              <a:t> </a:t>
            </a:r>
            <a:r>
              <a:rPr lang="ko-KR" altLang="en-US"/>
              <a:t>로직과</a:t>
            </a:r>
            <a:r>
              <a:rPr lang="en-US"/>
              <a:t> </a:t>
            </a:r>
            <a:r>
              <a:rPr lang="ko-KR" altLang="en-US"/>
              <a:t>데이터베이스</a:t>
            </a:r>
            <a:r>
              <a:rPr lang="en-US"/>
              <a:t> </a:t>
            </a:r>
            <a:r>
              <a:rPr lang="ko-KR" altLang="en-US"/>
              <a:t>처리를</a:t>
            </a:r>
            <a:r>
              <a:rPr lang="en-US"/>
              <a:t> </a:t>
            </a:r>
            <a:r>
              <a:rPr lang="ko-KR" altLang="en-US"/>
              <a:t>담당합니다</a:t>
            </a:r>
            <a:r>
              <a:rPr lang="en-US"/>
              <a:t>.</a:t>
            </a:r>
          </a:p>
          <a:p>
            <a:r>
              <a:rPr lang="en-US"/>
              <a:t>AI </a:t>
            </a:r>
            <a:r>
              <a:rPr lang="ko-KR" altLang="en-US"/>
              <a:t>예측이나</a:t>
            </a:r>
            <a:r>
              <a:rPr lang="en-US"/>
              <a:t> SHAP </a:t>
            </a:r>
            <a:r>
              <a:rPr lang="ko-KR" altLang="en-US"/>
              <a:t>설명</a:t>
            </a:r>
            <a:r>
              <a:rPr lang="en-US"/>
              <a:t>, RAG, Gemini</a:t>
            </a:r>
            <a:r>
              <a:rPr lang="ko-KR" altLang="en-US" err="1"/>
              <a:t>를</a:t>
            </a:r>
            <a:r>
              <a:rPr lang="en-US"/>
              <a:t> </a:t>
            </a:r>
            <a:r>
              <a:rPr lang="en-US" err="1"/>
              <a:t>사용하는</a:t>
            </a:r>
            <a:r>
              <a:rPr lang="en-US"/>
              <a:t> </a:t>
            </a:r>
            <a:r>
              <a:rPr lang="ko-KR" altLang="en-US"/>
              <a:t>기능들은</a:t>
            </a:r>
            <a:r>
              <a:rPr lang="en-US"/>
              <a:t> </a:t>
            </a:r>
            <a:r>
              <a:rPr lang="en-US" err="1"/>
              <a:t>FastAPI</a:t>
            </a:r>
            <a:r>
              <a:rPr lang="en-US"/>
              <a:t> </a:t>
            </a:r>
            <a:r>
              <a:rPr lang="ko-KR" altLang="en-US"/>
              <a:t>쪽으로</a:t>
            </a:r>
            <a:r>
              <a:rPr lang="en-US"/>
              <a:t> </a:t>
            </a:r>
            <a:r>
              <a:rPr lang="ko-KR" altLang="en-US"/>
              <a:t>따로</a:t>
            </a:r>
            <a:r>
              <a:rPr lang="en-US"/>
              <a:t> </a:t>
            </a:r>
            <a:r>
              <a:rPr lang="ko-KR" altLang="en-US"/>
              <a:t>분리했습니다</a:t>
            </a:r>
            <a:r>
              <a:rPr lang="en-US"/>
              <a:t>.</a:t>
            </a:r>
            <a:endParaRPr lang="ko-KR"/>
          </a:p>
          <a:p>
            <a:endParaRPr lang="en-US"/>
          </a:p>
          <a:p>
            <a:r>
              <a:rPr lang="ko-KR" altLang="en-US"/>
              <a:t>여기서 중요한 점은 브라우저가</a:t>
            </a:r>
            <a:r>
              <a:rPr lang="en-US"/>
              <a:t> </a:t>
            </a:r>
            <a:r>
              <a:rPr lang="en-US" err="1"/>
              <a:t>FastAPI</a:t>
            </a:r>
            <a:r>
              <a:rPr lang="ko-KR" altLang="en-US" err="1"/>
              <a:t>를</a:t>
            </a:r>
            <a:r>
              <a:rPr lang="en-US"/>
              <a:t> </a:t>
            </a:r>
            <a:r>
              <a:rPr lang="ko-KR" altLang="en-US"/>
              <a:t>직접</a:t>
            </a:r>
            <a:r>
              <a:rPr lang="en-US"/>
              <a:t> </a:t>
            </a:r>
            <a:r>
              <a:rPr lang="ko-KR" altLang="en-US"/>
              <a:t>호출하는</a:t>
            </a:r>
            <a:r>
              <a:rPr lang="en-US"/>
              <a:t> </a:t>
            </a:r>
            <a:r>
              <a:rPr lang="ko-KR" altLang="en-US"/>
              <a:t>구조가</a:t>
            </a:r>
            <a:r>
              <a:rPr lang="en-US"/>
              <a:t> </a:t>
            </a:r>
            <a:r>
              <a:rPr lang="ko-KR" altLang="en-US"/>
              <a:t>아닌</a:t>
            </a:r>
            <a:r>
              <a:rPr lang="en-US"/>
              <a:t>, </a:t>
            </a:r>
            <a:r>
              <a:rPr lang="ko-KR" altLang="en-US" b="1"/>
              <a:t>필요한</a:t>
            </a:r>
            <a:r>
              <a:rPr lang="en-US" b="1"/>
              <a:t> </a:t>
            </a:r>
            <a:r>
              <a:rPr lang="ko-KR" altLang="en-US" b="1"/>
              <a:t>경우에만</a:t>
            </a:r>
            <a:r>
              <a:rPr lang="en-US" b="1"/>
              <a:t> Spring</a:t>
            </a:r>
            <a:r>
              <a:rPr lang="ko-KR" altLang="en-US" b="1"/>
              <a:t>이</a:t>
            </a:r>
            <a:r>
              <a:rPr lang="en-US" b="1"/>
              <a:t> </a:t>
            </a:r>
            <a:r>
              <a:rPr lang="ko-KR" altLang="en-US" b="1"/>
              <a:t>내부적으로</a:t>
            </a:r>
            <a:r>
              <a:rPr lang="en-US" b="1"/>
              <a:t> FastAPI</a:t>
            </a:r>
            <a:r>
              <a:rPr lang="ko-KR" altLang="en-US" b="1"/>
              <a:t>와</a:t>
            </a:r>
            <a:r>
              <a:rPr lang="en-US" b="1"/>
              <a:t> </a:t>
            </a:r>
            <a:r>
              <a:rPr lang="ko-KR" altLang="en-US" b="1"/>
              <a:t>통신하는</a:t>
            </a:r>
            <a:r>
              <a:rPr lang="en-US" b="1"/>
              <a:t> </a:t>
            </a:r>
            <a:r>
              <a:rPr lang="ko-KR" altLang="en-US" b="1"/>
              <a:t>방식</a:t>
            </a:r>
            <a:r>
              <a:rPr lang="ko-KR" altLang="en-US"/>
              <a:t>입니다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ko-KR" altLang="en-US"/>
              <a:t>외부</a:t>
            </a:r>
            <a:r>
              <a:rPr lang="en-US"/>
              <a:t> </a:t>
            </a:r>
            <a:r>
              <a:rPr lang="ko-KR" altLang="en-US"/>
              <a:t>데이터로는</a:t>
            </a:r>
            <a:r>
              <a:rPr lang="en-US"/>
              <a:t> </a:t>
            </a:r>
            <a:r>
              <a:rPr lang="ko-KR" altLang="en-US"/>
              <a:t>기상청과</a:t>
            </a:r>
            <a:r>
              <a:rPr lang="en-US"/>
              <a:t> AirKorea </a:t>
            </a:r>
            <a:r>
              <a:rPr lang="ko-KR" altLang="en-US"/>
              <a:t>데이터를</a:t>
            </a:r>
            <a:r>
              <a:rPr lang="en-US"/>
              <a:t> </a:t>
            </a:r>
            <a:r>
              <a:rPr lang="ko-KR" altLang="en-US"/>
              <a:t>사용했고</a:t>
            </a:r>
            <a:r>
              <a:rPr lang="en-US"/>
              <a:t>, </a:t>
            </a:r>
            <a:r>
              <a:rPr lang="ko-KR" altLang="en-US"/>
              <a:t>주소를</a:t>
            </a:r>
            <a:r>
              <a:rPr lang="en-US"/>
              <a:t> </a:t>
            </a:r>
            <a:r>
              <a:rPr lang="ko-KR" altLang="en-US"/>
              <a:t>좌표로</a:t>
            </a:r>
            <a:r>
              <a:rPr lang="en-US"/>
              <a:t> </a:t>
            </a:r>
            <a:r>
              <a:rPr lang="ko-KR" altLang="en-US"/>
              <a:t>변환하기</a:t>
            </a:r>
            <a:r>
              <a:rPr lang="en-US"/>
              <a:t> </a:t>
            </a:r>
            <a:r>
              <a:rPr lang="ko-KR" altLang="en-US"/>
              <a:t>위해</a:t>
            </a:r>
            <a:r>
              <a:rPr lang="en-US"/>
              <a:t> Kakao API</a:t>
            </a:r>
            <a:r>
              <a:rPr lang="ko-KR" altLang="en-US"/>
              <a:t>도</a:t>
            </a:r>
            <a:r>
              <a:rPr lang="en-US"/>
              <a:t> </a:t>
            </a:r>
            <a:r>
              <a:rPr lang="ko-KR" altLang="en-US"/>
              <a:t>활용했습니다</a:t>
            </a:r>
            <a:r>
              <a:rPr lang="en-US"/>
              <a:t>. </a:t>
            </a:r>
            <a:r>
              <a:rPr lang="ko-KR" altLang="en-US"/>
              <a:t>데이터베이스는</a:t>
            </a:r>
            <a:r>
              <a:rPr lang="en-US"/>
              <a:t> PostgreSQL</a:t>
            </a:r>
            <a:r>
              <a:rPr lang="ko-KR" altLang="en-US"/>
              <a:t>을</a:t>
            </a:r>
            <a:r>
              <a:rPr lang="en-US"/>
              <a:t> </a:t>
            </a:r>
            <a:r>
              <a:rPr lang="ko-KR" altLang="en-US"/>
              <a:t>사용했습니다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b="1"/>
              <a:t>TypeScript </a:t>
            </a:r>
            <a:r>
              <a:rPr lang="ko-KR" altLang="en-US" b="1"/>
              <a:t>란</a:t>
            </a:r>
            <a:r>
              <a:rPr lang="en-US"/>
              <a:t> : JavaScript</a:t>
            </a:r>
            <a:r>
              <a:rPr lang="ko-KR" altLang="en-US" err="1"/>
              <a:t>에</a:t>
            </a:r>
            <a:r>
              <a:rPr lang="en-US"/>
              <a:t> </a:t>
            </a:r>
            <a:r>
              <a:rPr lang="ko-KR" altLang="en-US"/>
              <a:t>타입</a:t>
            </a:r>
            <a:r>
              <a:rPr lang="en-US"/>
              <a:t> </a:t>
            </a:r>
            <a:r>
              <a:rPr lang="ko-KR" altLang="en-US"/>
              <a:t>기능을</a:t>
            </a:r>
            <a:r>
              <a:rPr lang="en-US"/>
              <a:t> </a:t>
            </a:r>
            <a:r>
              <a:rPr lang="ko-KR" altLang="en-US"/>
              <a:t>추가한</a:t>
            </a:r>
            <a:r>
              <a:rPr lang="en-US"/>
              <a:t> </a:t>
            </a:r>
            <a:r>
              <a:rPr lang="ko-KR" altLang="en-US"/>
              <a:t>언어입니다</a:t>
            </a:r>
            <a:r>
              <a:rPr lang="en-US"/>
              <a:t>. </a:t>
            </a:r>
            <a:r>
              <a:rPr lang="ko-KR" altLang="en-US"/>
              <a:t>변수나</a:t>
            </a:r>
            <a:r>
              <a:rPr lang="en-US"/>
              <a:t> </a:t>
            </a:r>
            <a:r>
              <a:rPr lang="ko-KR" altLang="en-US"/>
              <a:t>데이터의</a:t>
            </a:r>
            <a:r>
              <a:rPr lang="en-US"/>
              <a:t> </a:t>
            </a:r>
            <a:r>
              <a:rPr lang="ko-KR" altLang="en-US"/>
              <a:t>타입을</a:t>
            </a:r>
            <a:r>
              <a:rPr lang="en-US"/>
              <a:t> </a:t>
            </a:r>
            <a:r>
              <a:rPr lang="ko-KR" altLang="en-US"/>
              <a:t>미리</a:t>
            </a:r>
            <a:r>
              <a:rPr lang="en-US"/>
              <a:t> </a:t>
            </a:r>
            <a:r>
              <a:rPr lang="ko-KR" altLang="en-US"/>
              <a:t>설정할</a:t>
            </a:r>
            <a:r>
              <a:rPr lang="en-US"/>
              <a:t> </a:t>
            </a:r>
            <a:r>
              <a:rPr lang="ko-KR" altLang="en-US"/>
              <a:t>수</a:t>
            </a:r>
            <a:r>
              <a:rPr lang="en-US"/>
              <a:t> </a:t>
            </a:r>
            <a:r>
              <a:rPr lang="ko-KR" altLang="en-US"/>
              <a:t>있어서</a:t>
            </a:r>
            <a:r>
              <a:rPr lang="en-US"/>
              <a:t> </a:t>
            </a:r>
            <a:r>
              <a:rPr lang="ko-KR" altLang="en-US"/>
              <a:t>개발</a:t>
            </a:r>
            <a:r>
              <a:rPr lang="en-US"/>
              <a:t> </a:t>
            </a:r>
            <a:r>
              <a:rPr lang="ko-KR" altLang="en-US"/>
              <a:t>중</a:t>
            </a:r>
            <a:r>
              <a:rPr lang="en-US"/>
              <a:t> </a:t>
            </a:r>
            <a:r>
              <a:rPr lang="ko-KR" altLang="en-US"/>
              <a:t>오류를</a:t>
            </a:r>
            <a:r>
              <a:rPr lang="en-US"/>
              <a:t> </a:t>
            </a:r>
            <a:r>
              <a:rPr lang="ko-KR" altLang="en-US"/>
              <a:t>줄이는</a:t>
            </a:r>
            <a:r>
              <a:rPr lang="en-US"/>
              <a:t> </a:t>
            </a:r>
            <a:r>
              <a:rPr lang="ko-KR" altLang="en-US"/>
              <a:t>데</a:t>
            </a:r>
            <a:r>
              <a:rPr lang="en-US"/>
              <a:t> </a:t>
            </a:r>
            <a:r>
              <a:rPr lang="ko-KR" altLang="en-US"/>
              <a:t>도움이</a:t>
            </a:r>
            <a:r>
              <a:rPr lang="en-US"/>
              <a:t> </a:t>
            </a:r>
            <a:r>
              <a:rPr lang="ko-KR" altLang="en-US"/>
              <a:t>됩니다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ko-KR" altLang="en-US"/>
              <a:t>필요한</a:t>
            </a:r>
            <a:r>
              <a:rPr lang="en-US"/>
              <a:t> </a:t>
            </a:r>
            <a:r>
              <a:rPr lang="ko-KR" altLang="en-US" err="1"/>
              <a:t>경우란</a:t>
            </a:r>
            <a:r>
              <a:rPr lang="en-US"/>
              <a:t>? :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첫</a:t>
            </a:r>
            <a:r>
              <a:rPr lang="en-US" altLang="ko-KR"/>
              <a:t> </a:t>
            </a:r>
            <a:r>
              <a:rPr lang="ko-KR" altLang="en-US"/>
              <a:t>번째</a:t>
            </a:r>
            <a:r>
              <a:rPr lang="en-US" altLang="ko-KR"/>
              <a:t> </a:t>
            </a:r>
            <a:r>
              <a:rPr lang="ko-KR" altLang="en-US"/>
              <a:t>핵심</a:t>
            </a:r>
            <a:r>
              <a:rPr lang="en-US" altLang="ko-KR"/>
              <a:t> </a:t>
            </a:r>
            <a:r>
              <a:rPr lang="ko-KR" altLang="en-US"/>
              <a:t>기능은</a:t>
            </a:r>
            <a:r>
              <a:rPr lang="en-US" altLang="ko-KR"/>
              <a:t> </a:t>
            </a:r>
            <a:r>
              <a:rPr lang="ko-KR" altLang="en-US"/>
              <a:t>건강</a:t>
            </a:r>
            <a:r>
              <a:rPr lang="en-US" altLang="ko-KR"/>
              <a:t> </a:t>
            </a:r>
            <a:r>
              <a:rPr lang="ko-KR" altLang="en-US"/>
              <a:t>문진을</a:t>
            </a:r>
            <a:r>
              <a:rPr lang="en-US" altLang="ko-KR"/>
              <a:t> </a:t>
            </a:r>
            <a:r>
              <a:rPr lang="ko-KR" altLang="en-US"/>
              <a:t>이용한</a:t>
            </a:r>
            <a:r>
              <a:rPr lang="en-US"/>
              <a:t> AI</a:t>
            </a:r>
            <a:r>
              <a:rPr lang="en-US" altLang="ko-KR"/>
              <a:t> </a:t>
            </a:r>
            <a:r>
              <a:rPr lang="ko-KR" altLang="en-US"/>
              <a:t>예측</a:t>
            </a:r>
            <a:r>
              <a:rPr lang="en-US" altLang="ko-KR"/>
              <a:t> </a:t>
            </a:r>
            <a:r>
              <a:rPr lang="ko-KR" altLang="en-US"/>
              <a:t>기능입니다</a:t>
            </a:r>
            <a:r>
              <a:rPr lang="en-US"/>
              <a:t>.</a:t>
            </a:r>
            <a:endParaRPr lang="ko-KR" altLang="en-US"/>
          </a:p>
          <a:p>
            <a:r>
              <a:rPr lang="ko-KR" altLang="en-US"/>
              <a:t>사용자는</a:t>
            </a:r>
            <a:r>
              <a:rPr lang="en-US" altLang="ko-KR"/>
              <a:t> </a:t>
            </a:r>
            <a:r>
              <a:rPr lang="ko-KR" altLang="en-US"/>
              <a:t>반려동물의</a:t>
            </a:r>
            <a:r>
              <a:rPr lang="en-US" altLang="ko-KR"/>
              <a:t> </a:t>
            </a:r>
            <a:r>
              <a:rPr lang="ko-KR" altLang="en-US"/>
              <a:t>종이나</a:t>
            </a:r>
            <a:r>
              <a:rPr lang="en-US" altLang="ko-KR"/>
              <a:t> </a:t>
            </a:r>
            <a:r>
              <a:rPr lang="ko-KR" altLang="en-US"/>
              <a:t>나이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체중을 비롯하여 체온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심박수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호흡수</a:t>
            </a:r>
            <a:r>
              <a:rPr lang="en-US" altLang="ko-KR"/>
              <a:t> </a:t>
            </a:r>
            <a:r>
              <a:rPr lang="ko-KR" altLang="en-US"/>
              <a:t>같은</a:t>
            </a:r>
            <a:r>
              <a:rPr lang="en-US"/>
              <a:t> </a:t>
            </a:r>
            <a:r>
              <a:rPr lang="ko-KR" altLang="en-US"/>
              <a:t>생체</a:t>
            </a:r>
            <a:r>
              <a:rPr lang="en-US" altLang="ko-KR"/>
              <a:t> </a:t>
            </a:r>
            <a:r>
              <a:rPr lang="en-US" altLang="ko-KR" err="1"/>
              <a:t>정보</a:t>
            </a:r>
            <a:r>
              <a:rPr lang="ko-KR" altLang="en-US" err="1"/>
              <a:t>를</a:t>
            </a:r>
            <a:r>
              <a:rPr lang="en-US"/>
              <a:t> </a:t>
            </a:r>
            <a:r>
              <a:rPr lang="ko-KR" altLang="en-US"/>
              <a:t>입력할 수 있으며, 식욕이나</a:t>
            </a:r>
            <a:r>
              <a:rPr lang="en-US" altLang="ko-KR"/>
              <a:t> </a:t>
            </a:r>
            <a:r>
              <a:rPr lang="ko-KR" altLang="en-US"/>
              <a:t>활동</a:t>
            </a:r>
            <a:r>
              <a:rPr lang="en-US" altLang="ko-KR"/>
              <a:t> </a:t>
            </a:r>
            <a:r>
              <a:rPr lang="ko-KR" altLang="en-US"/>
              <a:t>상태 등 보호자가 관찰한</a:t>
            </a:r>
            <a:r>
              <a:rPr lang="en-US" altLang="ko-KR"/>
              <a:t> </a:t>
            </a:r>
            <a:r>
              <a:rPr lang="ko-KR" altLang="en-US"/>
              <a:t>증상도</a:t>
            </a:r>
            <a:r>
              <a:rPr lang="en-US" altLang="ko-KR"/>
              <a:t> </a:t>
            </a:r>
            <a:r>
              <a:rPr lang="ko-KR" altLang="en-US"/>
              <a:t>함께</a:t>
            </a:r>
            <a:r>
              <a:rPr lang="en-US" altLang="ko-KR"/>
              <a:t> </a:t>
            </a:r>
            <a:r>
              <a:rPr lang="ko-KR" altLang="en-US"/>
              <a:t>입력할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있습니다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ko-KR" altLang="en-US"/>
              <a:t>입력된</a:t>
            </a:r>
            <a:r>
              <a:rPr lang="en-US" altLang="ko-KR"/>
              <a:t> </a:t>
            </a:r>
            <a:r>
              <a:rPr lang="ko-KR" altLang="en-US"/>
              <a:t>데이터를</a:t>
            </a:r>
            <a:r>
              <a:rPr lang="en-US" altLang="ko-KR"/>
              <a:t> </a:t>
            </a:r>
            <a:r>
              <a:rPr lang="ko-KR" altLang="en-US"/>
              <a:t>모델에</a:t>
            </a:r>
            <a:r>
              <a:rPr lang="en-US" altLang="ko-KR"/>
              <a:t> </a:t>
            </a:r>
            <a:r>
              <a:rPr lang="ko-KR" altLang="en-US"/>
              <a:t>전달하면</a:t>
            </a:r>
            <a:r>
              <a:rPr lang="en-US" altLang="ko-KR"/>
              <a:t> </a:t>
            </a:r>
            <a:r>
              <a:rPr lang="ko-KR" altLang="en-US"/>
              <a:t>건강</a:t>
            </a:r>
            <a:r>
              <a:rPr lang="en-US" altLang="ko-KR"/>
              <a:t> </a:t>
            </a:r>
            <a:r>
              <a:rPr lang="ko-KR" altLang="en-US"/>
              <a:t>위험</a:t>
            </a:r>
            <a:r>
              <a:rPr lang="en-US" altLang="ko-KR"/>
              <a:t> </a:t>
            </a:r>
            <a:r>
              <a:rPr lang="ko-KR" altLang="en-US"/>
              <a:t>확률과</a:t>
            </a:r>
            <a:r>
              <a:rPr lang="en-US" altLang="ko-KR"/>
              <a:t> </a:t>
            </a:r>
            <a:r>
              <a:rPr lang="ko-KR" altLang="en-US"/>
              <a:t>등급을</a:t>
            </a:r>
            <a:r>
              <a:rPr lang="en-US" altLang="ko-KR"/>
              <a:t> </a:t>
            </a:r>
            <a:r>
              <a:rPr lang="ko-KR" altLang="en-US"/>
              <a:t>계산하고</a:t>
            </a:r>
            <a:r>
              <a:rPr lang="en-US"/>
              <a:t>,</a:t>
            </a:r>
            <a:r>
              <a:rPr lang="en-US" altLang="ko-KR"/>
              <a:t> SHAP</a:t>
            </a:r>
            <a:r>
              <a:rPr lang="ko-KR" altLang="en-US"/>
              <a:t> 기반 주요 위험 요인을 함께 제시해</a:t>
            </a:r>
            <a:r>
              <a:rPr lang="en-US" altLang="ko-KR"/>
              <a:t>,</a:t>
            </a:r>
            <a:r>
              <a:rPr lang="ko-KR" altLang="en-US"/>
              <a:t> 보호자가 왜 이런 결과가 나왔는지 이해할 수 있게 했습니다</a:t>
            </a:r>
            <a:r>
              <a:rPr lang="en-US" altLang="ko-KR"/>
              <a:t>.</a:t>
            </a:r>
            <a:endParaRPr lang="en-US"/>
          </a:p>
          <a:p>
            <a:endParaRPr lang="en-US" altLang="ko-KR"/>
          </a:p>
          <a:p>
            <a:r>
              <a:rPr lang="ko-KR" altLang="en-US"/>
              <a:t>다만, 해당 기능은 모델 학습을 통해 나온 결과인 만큼, 전문 의학지식이 아닌 참고 정보임을 알리고자 </a:t>
            </a:r>
            <a:r>
              <a:rPr lang="ko-KR"/>
              <a:t>화면과 응답에서 전문 진단·처방처럼 보일 수 있는 표현은 제한해 사용자들이 혼란을 겪지 않도록 하였습니다. </a:t>
            </a:r>
            <a:endParaRPr lang="ko-KR" altLang="en-US"/>
          </a:p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두</a:t>
            </a:r>
            <a:r>
              <a:rPr lang="en-US" altLang="ko-KR"/>
              <a:t> </a:t>
            </a:r>
            <a:r>
              <a:rPr lang="ko-KR" altLang="en-US"/>
              <a:t>번째는</a:t>
            </a:r>
            <a:r>
              <a:rPr lang="en-US"/>
              <a:t> </a:t>
            </a:r>
            <a:r>
              <a:rPr lang="en-US" err="1"/>
              <a:t>건강</a:t>
            </a:r>
            <a:r>
              <a:rPr lang="en-US"/>
              <a:t> </a:t>
            </a:r>
            <a:r>
              <a:rPr lang="en-US" err="1"/>
              <a:t>기록</a:t>
            </a:r>
            <a:r>
              <a:rPr lang="en-US"/>
              <a:t> </a:t>
            </a:r>
            <a:r>
              <a:rPr lang="ko-KR" altLang="en-US"/>
              <a:t>관리</a:t>
            </a:r>
            <a:r>
              <a:rPr lang="en-US" altLang="ko-KR"/>
              <a:t> </a:t>
            </a:r>
            <a:r>
              <a:rPr lang="ko-KR" altLang="en-US"/>
              <a:t>기능입니다</a:t>
            </a:r>
            <a:r>
              <a:rPr lang="en-US"/>
              <a:t>.</a:t>
            </a:r>
            <a:endParaRPr lang="ko-KR" altLang="en-US"/>
          </a:p>
          <a:p>
            <a:r>
              <a:rPr lang="ko-KR"/>
              <a:t>저희는</a:t>
            </a:r>
            <a:r>
              <a:rPr lang="ko-KR" altLang="en-US"/>
              <a:t> </a:t>
            </a:r>
            <a:r>
              <a:rPr lang="ko-KR"/>
              <a:t>문진과 </a:t>
            </a:r>
            <a:r>
              <a:rPr lang="en-US" altLang="ko-KR"/>
              <a:t>AI</a:t>
            </a:r>
            <a:r>
              <a:rPr lang="ko-KR" altLang="en-US"/>
              <a:t> </a:t>
            </a:r>
            <a:r>
              <a:rPr lang="ko-KR"/>
              <a:t>분석</a:t>
            </a:r>
            <a:r>
              <a:rPr lang="ko-KR" altLang="en-US"/>
              <a:t> </a:t>
            </a:r>
            <a:r>
              <a:rPr lang="ko-KR"/>
              <a:t>결과를</a:t>
            </a:r>
            <a:r>
              <a:rPr lang="ko-KR" altLang="en-US"/>
              <a:t> 하나로 </a:t>
            </a:r>
            <a:r>
              <a:rPr lang="ko-KR"/>
              <a:t>묶어 저장하지</a:t>
            </a:r>
            <a:r>
              <a:rPr lang="ko-KR" altLang="en-US"/>
              <a:t> </a:t>
            </a:r>
            <a:r>
              <a:rPr lang="ko-KR"/>
              <a:t>않고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/>
              <a:t>서로</a:t>
            </a:r>
            <a:r>
              <a:rPr lang="ko-KR" altLang="en-US"/>
              <a:t> </a:t>
            </a:r>
            <a:r>
              <a:rPr lang="ko-KR"/>
              <a:t>분리해서</a:t>
            </a:r>
            <a:r>
              <a:rPr lang="ko-KR" altLang="en-US"/>
              <a:t> </a:t>
            </a:r>
            <a:r>
              <a:rPr lang="ko-KR"/>
              <a:t>관리했습니다</a:t>
            </a:r>
            <a:r>
              <a:rPr lang="en-US" altLang="ko-KR"/>
              <a:t>.</a:t>
            </a:r>
            <a:endParaRPr lang="ko-KR" altLang="en-US"/>
          </a:p>
          <a:p>
            <a:endParaRPr lang="en-US" altLang="ko-KR" b="1"/>
          </a:p>
          <a:p>
            <a:r>
              <a:rPr lang="ko-KR" altLang="en-US"/>
              <a:t>그</a:t>
            </a:r>
            <a:r>
              <a:rPr lang="en-US" altLang="ko-KR"/>
              <a:t> </a:t>
            </a:r>
            <a:r>
              <a:rPr lang="ko-KR" altLang="en-US"/>
              <a:t>이유는</a:t>
            </a:r>
            <a:r>
              <a:rPr lang="en-US" altLang="ko-KR"/>
              <a:t> </a:t>
            </a:r>
            <a:r>
              <a:rPr lang="ko-KR" altLang="en-US"/>
              <a:t>사용자가</a:t>
            </a:r>
            <a:r>
              <a:rPr lang="en-US" altLang="ko-KR"/>
              <a:t> </a:t>
            </a:r>
            <a:r>
              <a:rPr lang="ko-KR" altLang="en-US"/>
              <a:t>문진을</a:t>
            </a:r>
            <a:r>
              <a:rPr lang="en-US" altLang="ko-KR"/>
              <a:t> </a:t>
            </a:r>
            <a:r>
              <a:rPr lang="ko-KR" altLang="en-US"/>
              <a:t>작성하더라도</a:t>
            </a:r>
            <a:r>
              <a:rPr lang="en-US" altLang="ko-KR"/>
              <a:t> </a:t>
            </a:r>
            <a:r>
              <a:rPr lang="en-US" altLang="ko-KR" err="1"/>
              <a:t>언제나</a:t>
            </a:r>
            <a:r>
              <a:rPr lang="ko-KR" altLang="en-US"/>
              <a:t> </a:t>
            </a:r>
            <a:r>
              <a:rPr lang="en-US"/>
              <a:t>AI</a:t>
            </a:r>
            <a:r>
              <a:rPr lang="en-US" altLang="ko-KR"/>
              <a:t> </a:t>
            </a:r>
            <a:r>
              <a:rPr lang="ko-KR" altLang="en-US"/>
              <a:t>분석을</a:t>
            </a:r>
            <a:r>
              <a:rPr lang="en-US" altLang="ko-KR"/>
              <a:t> </a:t>
            </a:r>
            <a:r>
              <a:rPr lang="ko-KR" altLang="en-US"/>
              <a:t>실행하는</a:t>
            </a:r>
            <a:r>
              <a:rPr lang="en-US" altLang="ko-KR"/>
              <a:t> </a:t>
            </a:r>
            <a:r>
              <a:rPr lang="ko-KR" altLang="en-US"/>
              <a:t>것은</a:t>
            </a:r>
            <a:r>
              <a:rPr lang="en-US" altLang="ko-KR"/>
              <a:t> </a:t>
            </a:r>
            <a:r>
              <a:rPr lang="ko-KR" altLang="en-US"/>
              <a:t>아니라 생각했습니다.</a:t>
            </a:r>
            <a:endParaRPr/>
          </a:p>
          <a:p>
            <a:r>
              <a:rPr lang="ko-KR" altLang="en-US"/>
              <a:t>따라서, 문진</a:t>
            </a:r>
            <a:r>
              <a:rPr lang="en-US" altLang="ko-KR"/>
              <a:t> </a:t>
            </a:r>
            <a:r>
              <a:rPr lang="ko-KR" altLang="en-US"/>
              <a:t>자체는</a:t>
            </a:r>
            <a:r>
              <a:rPr lang="en-US" altLang="ko-KR"/>
              <a:t> </a:t>
            </a:r>
            <a:r>
              <a:rPr lang="en-US" altLang="ko-KR" err="1"/>
              <a:t>분석</a:t>
            </a:r>
            <a:r>
              <a:rPr lang="en-US" altLang="ko-KR"/>
              <a:t> </a:t>
            </a:r>
            <a:r>
              <a:rPr lang="en-US" altLang="ko-KR" err="1"/>
              <a:t>여부와</a:t>
            </a:r>
            <a:r>
              <a:rPr lang="en-US" altLang="ko-KR"/>
              <a:t> </a:t>
            </a:r>
            <a:r>
              <a:rPr lang="en-US" altLang="ko-KR" err="1"/>
              <a:t>상관없이</a:t>
            </a:r>
            <a:r>
              <a:rPr lang="en-US" altLang="ko-KR"/>
              <a:t> </a:t>
            </a:r>
            <a:r>
              <a:rPr lang="ko-KR" altLang="en-US"/>
              <a:t>저장하고</a:t>
            </a:r>
            <a:r>
              <a:rPr lang="en-US"/>
              <a:t>, </a:t>
            </a:r>
            <a:r>
              <a:rPr lang="ko-KR" altLang="en-US"/>
              <a:t>저장된</a:t>
            </a:r>
            <a:r>
              <a:rPr lang="en-US" altLang="ko-KR"/>
              <a:t> </a:t>
            </a:r>
            <a:r>
              <a:rPr lang="en-US" altLang="ko-KR" err="1"/>
              <a:t>기록을</a:t>
            </a:r>
            <a:r>
              <a:rPr lang="en-US" altLang="ko-KR"/>
              <a:t> </a:t>
            </a:r>
            <a:r>
              <a:rPr lang="en-US" altLang="ko-KR" err="1"/>
              <a:t>언제든</a:t>
            </a:r>
            <a:r>
              <a:rPr lang="en-US" altLang="ko-KR"/>
              <a:t> </a:t>
            </a:r>
            <a:r>
              <a:rPr lang="en-US" altLang="ko-KR" err="1"/>
              <a:t>불러와</a:t>
            </a:r>
            <a:r>
              <a:rPr lang="en-US" altLang="ko-KR"/>
              <a:t> </a:t>
            </a:r>
            <a:r>
              <a:rPr lang="en-US"/>
              <a:t>AI</a:t>
            </a:r>
            <a:r>
              <a:rPr lang="en-US" altLang="ko-KR"/>
              <a:t> </a:t>
            </a:r>
            <a:r>
              <a:rPr lang="ko-KR" altLang="en-US"/>
              <a:t>분석을</a:t>
            </a:r>
            <a:r>
              <a:rPr lang="en-US" altLang="ko-KR"/>
              <a:t> </a:t>
            </a:r>
            <a:r>
              <a:rPr lang="ko-KR" altLang="en-US"/>
              <a:t>실행했을</a:t>
            </a:r>
            <a:r>
              <a:rPr lang="en-US" altLang="ko-KR"/>
              <a:t> </a:t>
            </a:r>
            <a:r>
              <a:rPr lang="ko-KR" altLang="en-US"/>
              <a:t>때</a:t>
            </a:r>
            <a:r>
              <a:rPr lang="en-US" altLang="ko-KR"/>
              <a:t> </a:t>
            </a:r>
            <a:r>
              <a:rPr lang="en-US" altLang="ko-KR" err="1"/>
              <a:t>예측</a:t>
            </a:r>
            <a:r>
              <a:rPr lang="en-US" altLang="ko-KR"/>
              <a:t> </a:t>
            </a:r>
            <a:r>
              <a:rPr lang="ko-KR" altLang="en-US"/>
              <a:t>결과를</a:t>
            </a:r>
            <a:r>
              <a:rPr lang="en-US" altLang="ko-KR"/>
              <a:t> </a:t>
            </a:r>
            <a:r>
              <a:rPr lang="ko-KR" altLang="en-US"/>
              <a:t>문진</a:t>
            </a:r>
            <a:r>
              <a:rPr lang="en-US" altLang="ko-KR"/>
              <a:t> </a:t>
            </a:r>
            <a:r>
              <a:rPr lang="ko-KR" altLang="en-US"/>
              <a:t>기록에</a:t>
            </a:r>
            <a:r>
              <a:rPr lang="en-US" altLang="ko-KR"/>
              <a:t> </a:t>
            </a:r>
            <a:r>
              <a:rPr lang="ko-KR" altLang="en-US"/>
              <a:t>연결했습니다.</a:t>
            </a:r>
            <a:endParaRPr/>
          </a:p>
          <a:p>
            <a:endParaRPr lang="ko-KR" altLang="en-US"/>
          </a:p>
          <a:p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화면에서는</a:t>
            </a:r>
            <a:r>
              <a:rPr lang="en-US" altLang="ko-KR"/>
              <a:t> </a:t>
            </a:r>
            <a:r>
              <a:rPr lang="ko-KR" altLang="en-US"/>
              <a:t>사용자가</a:t>
            </a:r>
            <a:r>
              <a:rPr lang="en-US" altLang="ko-KR"/>
              <a:t> </a:t>
            </a:r>
            <a:r>
              <a:rPr lang="ko-KR" altLang="en-US"/>
              <a:t>입력했던</a:t>
            </a:r>
            <a:r>
              <a:rPr lang="en-US" altLang="ko-KR"/>
              <a:t> </a:t>
            </a:r>
            <a:r>
              <a:rPr lang="ko-KR" altLang="en-US"/>
              <a:t>전체</a:t>
            </a:r>
            <a:r>
              <a:rPr lang="en-US" altLang="ko-KR"/>
              <a:t> </a:t>
            </a:r>
            <a:r>
              <a:rPr lang="ko-KR" altLang="en-US"/>
              <a:t>문진</a:t>
            </a:r>
            <a:r>
              <a:rPr lang="en-US" altLang="ko-KR"/>
              <a:t> </a:t>
            </a:r>
            <a:r>
              <a:rPr lang="ko-KR" altLang="en-US"/>
              <a:t>내용과</a:t>
            </a:r>
            <a:r>
              <a:rPr lang="en-US"/>
              <a:t> AI</a:t>
            </a:r>
            <a:r>
              <a:rPr lang="en-US" altLang="ko-KR"/>
              <a:t> </a:t>
            </a:r>
            <a:r>
              <a:rPr lang="ko-KR" altLang="en-US"/>
              <a:t>결과를</a:t>
            </a:r>
            <a:r>
              <a:rPr lang="en-US" altLang="ko-KR"/>
              <a:t> </a:t>
            </a:r>
            <a:r>
              <a:rPr lang="ko-KR" altLang="en-US"/>
              <a:t>한</a:t>
            </a:r>
            <a:r>
              <a:rPr lang="en-US" altLang="ko-KR"/>
              <a:t> </a:t>
            </a:r>
            <a:r>
              <a:rPr lang="ko-KR" altLang="en-US"/>
              <a:t>번에</a:t>
            </a:r>
            <a:r>
              <a:rPr lang="en-US" altLang="ko-KR"/>
              <a:t> </a:t>
            </a:r>
            <a:r>
              <a:rPr lang="ko-KR" altLang="en-US"/>
              <a:t>확인할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있도록</a:t>
            </a:r>
            <a:r>
              <a:rPr lang="en-US" altLang="ko-KR"/>
              <a:t> </a:t>
            </a:r>
            <a:r>
              <a:rPr lang="ko-KR" altLang="en-US"/>
              <a:t>구성했습니다</a:t>
            </a:r>
            <a:r>
              <a:rPr lang="en-US"/>
              <a:t>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>
                <a:solidFill>
                  <a:srgbClr val="000000"/>
                </a:solidFill>
              </a:rPr>
              <a:t>다음은 일상의 기록을 담을 수 있는 </a:t>
            </a:r>
            <a:r>
              <a:rPr lang="ko-KR" altLang="en-US">
                <a:solidFill>
                  <a:srgbClr val="000000"/>
                </a:solidFill>
              </a:rPr>
              <a:t>다이어리와 건강 데이터를 요약한 페이지 입니다.</a:t>
            </a:r>
            <a:endParaRPr lang="ko-KR">
              <a:solidFill>
                <a:srgbClr val="000000"/>
              </a:solidFill>
            </a:endParaRPr>
          </a:p>
          <a:p>
            <a:endParaRPr lang="ko-KR" altLang="en-US">
              <a:solidFill>
                <a:srgbClr val="000000"/>
              </a:solidFill>
            </a:endParaRPr>
          </a:p>
          <a:p>
            <a:r>
              <a:rPr lang="ko-KR">
                <a:solidFill>
                  <a:srgbClr val="000000"/>
                </a:solidFill>
              </a:rPr>
              <a:t>왼쪽화면의 경우 보</a:t>
            </a:r>
            <a:r>
              <a:rPr lang="ko-KR" altLang="en-US">
                <a:solidFill>
                  <a:srgbClr val="000000"/>
                </a:solidFill>
              </a:rPr>
              <a:t>호자가</a:t>
            </a:r>
            <a:r>
              <a:rPr lang="ko-KR">
                <a:solidFill>
                  <a:srgbClr val="000000"/>
                </a:solidFill>
              </a:rPr>
              <a:t> 날짜별로 </a:t>
            </a:r>
            <a:r>
              <a:rPr lang="ko-KR" altLang="en-US">
                <a:solidFill>
                  <a:srgbClr val="000000"/>
                </a:solidFill>
              </a:rPr>
              <a:t>반려동물의</a:t>
            </a:r>
            <a:r>
              <a:rPr lang="ko-KR">
                <a:solidFill>
                  <a:srgbClr val="000000"/>
                </a:solidFill>
              </a:rPr>
              <a:t> 상태와 관찰 메모를 기록할 수 있습니다. </a:t>
            </a:r>
            <a:endParaRPr lang="ko-KR" altLang="en-US">
              <a:solidFill>
                <a:srgbClr val="000000"/>
              </a:solidFill>
            </a:endParaRPr>
          </a:p>
          <a:p>
            <a:r>
              <a:rPr lang="ko-KR" altLang="en-US">
                <a:solidFill>
                  <a:srgbClr val="000000"/>
                </a:solidFill>
              </a:rPr>
              <a:t>달력을 통해 건강</a:t>
            </a:r>
            <a:r>
              <a:rPr lang="ko-KR">
                <a:solidFill>
                  <a:srgbClr val="000000"/>
                </a:solidFill>
              </a:rPr>
              <a:t> 문진이나 AI 분석 결과가 있는 날짜도 함께 확인할 수 있으며 상태 변화를 더 쉽게 살펴볼 수 있습니다. 달력의 경우 추후 시연을 통해 보여드리도록 </a:t>
            </a:r>
            <a:r>
              <a:rPr lang="ko-KR" altLang="en-US">
                <a:solidFill>
                  <a:srgbClr val="000000"/>
                </a:solidFill>
              </a:rPr>
              <a:t>하겠습니다</a:t>
            </a:r>
            <a:r>
              <a:rPr lang="en-US" altLang="ko-KR">
                <a:solidFill>
                  <a:srgbClr val="000000"/>
                </a:solidFill>
              </a:rPr>
              <a:t>.</a:t>
            </a:r>
            <a:endParaRPr lang="ko-KR" altLang="en-US"/>
          </a:p>
          <a:p>
            <a:endParaRPr lang="ko-KR" altLang="en-US">
              <a:solidFill>
                <a:srgbClr val="000000"/>
              </a:solidFill>
            </a:endParaRPr>
          </a:p>
          <a:p>
            <a:r>
              <a:rPr lang="ko-KR">
                <a:solidFill>
                  <a:srgbClr val="000000"/>
                </a:solidFill>
              </a:rPr>
              <a:t>오른쪽은 주간 리포트는 최근 7일 동안 입력된 건강 기록을 바탕으로 평균 체온과 심박수, 건강 문진 횟수, </a:t>
            </a:r>
            <a:r>
              <a:rPr lang="ko-KR" err="1">
                <a:solidFill>
                  <a:srgbClr val="000000"/>
                </a:solidFill>
              </a:rPr>
              <a:t>주의·위험</a:t>
            </a:r>
            <a:r>
              <a:rPr lang="ko-KR">
                <a:solidFill>
                  <a:srgbClr val="000000"/>
                </a:solidFill>
              </a:rPr>
              <a:t> 알림을 한눈에 보여줍니다. </a:t>
            </a:r>
          </a:p>
          <a:p>
            <a:r>
              <a:rPr lang="ko-KR" altLang="en-US">
                <a:solidFill>
                  <a:srgbClr val="000000"/>
                </a:solidFill>
              </a:rPr>
              <a:t>이렇게 모인 주간 데이터를 집계한 뒤</a:t>
            </a:r>
            <a:r>
              <a:rPr lang="ko-KR">
                <a:solidFill>
                  <a:srgbClr val="000000"/>
                </a:solidFill>
              </a:rPr>
              <a:t>, </a:t>
            </a:r>
            <a:r>
              <a:rPr lang="en-US" altLang="ko-KR">
                <a:solidFill>
                  <a:srgbClr val="000000"/>
                </a:solidFill>
              </a:rPr>
              <a:t>Gemini</a:t>
            </a:r>
            <a:r>
              <a:rPr lang="ko-KR" altLang="en-US">
                <a:solidFill>
                  <a:srgbClr val="000000"/>
                </a:solidFill>
              </a:rPr>
              <a:t> </a:t>
            </a:r>
            <a:r>
              <a:rPr lang="en-US" altLang="ko-KR" err="1">
                <a:solidFill>
                  <a:srgbClr val="000000"/>
                </a:solidFill>
              </a:rPr>
              <a:t>LLM을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en-US" altLang="ko-KR" err="1">
                <a:solidFill>
                  <a:srgbClr val="000000"/>
                </a:solidFill>
              </a:rPr>
              <a:t>통해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보호자가 이해하기 쉽도록 종합 리포트 문장을 생성합니다. </a:t>
            </a:r>
            <a:endParaRPr lang="en-US">
              <a:solidFill>
                <a:srgbClr val="000000"/>
              </a:solidFill>
            </a:endParaRPr>
          </a:p>
          <a:p>
            <a:endParaRPr lang="ko-KR" altLang="en-US">
              <a:solidFill>
                <a:srgbClr val="000000"/>
              </a:solidFill>
            </a:endParaRPr>
          </a:p>
          <a:p>
            <a:r>
              <a:rPr lang="ko-KR" altLang="en-US">
                <a:solidFill>
                  <a:srgbClr val="000000"/>
                </a:solidFill>
              </a:rPr>
              <a:t>만약, </a:t>
            </a:r>
            <a:r>
              <a:rPr lang="en-US" altLang="ko-KR">
                <a:solidFill>
                  <a:srgbClr val="000000"/>
                </a:solidFill>
              </a:rPr>
              <a:t>LLM </a:t>
            </a:r>
            <a:r>
              <a:rPr lang="en-US" altLang="ko-KR" err="1">
                <a:solidFill>
                  <a:srgbClr val="000000"/>
                </a:solidFill>
              </a:rPr>
              <a:t>호출이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en-US" altLang="ko-KR" err="1">
                <a:solidFill>
                  <a:srgbClr val="000000"/>
                </a:solidFill>
              </a:rPr>
              <a:t>실패하더라도</a:t>
            </a:r>
            <a:r>
              <a:rPr lang="en-US" altLang="ko-KR">
                <a:solidFill>
                  <a:srgbClr val="000000"/>
                </a:solidFill>
              </a:rPr>
              <a:t> </a:t>
            </a:r>
            <a:r>
              <a:rPr lang="ko-KR" altLang="en-US">
                <a:solidFill>
                  <a:srgbClr val="000000"/>
                </a:solidFill>
              </a:rPr>
              <a:t>기본 템플릿 요약을 제공해 리포트 기능이 중단되지 않도록 했습니다</a:t>
            </a:r>
            <a:r>
              <a:rPr lang="en-US" altLang="ko-KR">
                <a:solidFill>
                  <a:srgbClr val="000000"/>
                </a:solidFill>
              </a:rPr>
              <a:t>.</a:t>
            </a:r>
            <a:endParaRPr lang="en-US">
              <a:solidFill>
                <a:srgbClr val="000000"/>
              </a:solidFill>
            </a:endParaRPr>
          </a:p>
          <a:p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다음은</a:t>
            </a:r>
            <a:r>
              <a:rPr lang="en-US"/>
              <a:t> </a:t>
            </a:r>
            <a:r>
              <a:rPr lang="en-US" err="1"/>
              <a:t>산책</a:t>
            </a:r>
            <a:r>
              <a:rPr lang="en-US"/>
              <a:t> </a:t>
            </a:r>
            <a:r>
              <a:rPr lang="ko-KR" altLang="en-US"/>
              <a:t>추천</a:t>
            </a:r>
            <a:r>
              <a:rPr lang="en-US" altLang="ko-KR"/>
              <a:t> </a:t>
            </a:r>
            <a:r>
              <a:rPr lang="ko-KR" altLang="en-US"/>
              <a:t>기능입니다</a:t>
            </a:r>
            <a:r>
              <a:rPr lang="en-US"/>
              <a:t>.</a:t>
            </a:r>
          </a:p>
          <a:p>
            <a:r>
              <a:rPr lang="ko-KR" altLang="en-US"/>
              <a:t>사용자가 입력한 회원정보의</a:t>
            </a:r>
            <a:r>
              <a:rPr lang="en-US" altLang="ko-KR"/>
              <a:t> </a:t>
            </a:r>
            <a:r>
              <a:rPr lang="ko-KR" altLang="en-US"/>
              <a:t>주소를</a:t>
            </a:r>
            <a:r>
              <a:rPr lang="en-US" altLang="ko-KR"/>
              <a:t> </a:t>
            </a:r>
            <a:r>
              <a:rPr lang="ko-KR" altLang="en-US"/>
              <a:t>기준으로</a:t>
            </a:r>
            <a:r>
              <a:rPr lang="en-US" altLang="ko-KR"/>
              <a:t> </a:t>
            </a:r>
            <a:r>
              <a:rPr lang="ko-KR" altLang="en-US"/>
              <a:t>해당</a:t>
            </a:r>
            <a:r>
              <a:rPr lang="en-US" altLang="ko-KR"/>
              <a:t> </a:t>
            </a:r>
            <a:r>
              <a:rPr lang="ko-KR" altLang="en-US"/>
              <a:t>지역의</a:t>
            </a:r>
            <a:r>
              <a:rPr lang="en-US" altLang="ko-KR"/>
              <a:t> </a:t>
            </a:r>
            <a:r>
              <a:rPr lang="ko-KR" altLang="en-US"/>
              <a:t>날씨와</a:t>
            </a:r>
            <a:r>
              <a:rPr lang="en-US" altLang="ko-KR"/>
              <a:t> </a:t>
            </a:r>
            <a:r>
              <a:rPr lang="ko-KR" altLang="en-US"/>
              <a:t>대기질</a:t>
            </a:r>
            <a:r>
              <a:rPr lang="en-US" altLang="ko-KR"/>
              <a:t> </a:t>
            </a:r>
            <a:r>
              <a:rPr lang="ko-KR" altLang="en-US"/>
              <a:t>데이터를</a:t>
            </a:r>
            <a:r>
              <a:rPr lang="en-US" altLang="ko-KR"/>
              <a:t> </a:t>
            </a:r>
            <a:r>
              <a:rPr lang="ko-KR" altLang="en-US"/>
              <a:t>가져오고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en-US" altLang="ko-KR" err="1"/>
              <a:t>계산하여</a:t>
            </a:r>
            <a:r>
              <a:rPr lang="en-US" altLang="ko-KR"/>
              <a:t> </a:t>
            </a:r>
            <a:r>
              <a:rPr lang="ko-KR" altLang="en-US"/>
              <a:t>현재</a:t>
            </a:r>
            <a:r>
              <a:rPr lang="en-US" altLang="ko-KR"/>
              <a:t> </a:t>
            </a:r>
            <a:r>
              <a:rPr lang="ko-KR" altLang="en-US"/>
              <a:t>산책하기</a:t>
            </a:r>
            <a:r>
              <a:rPr lang="en-US" altLang="ko-KR"/>
              <a:t> </a:t>
            </a:r>
            <a:r>
              <a:rPr lang="ko-KR" altLang="en-US"/>
              <a:t>어느</a:t>
            </a:r>
            <a:r>
              <a:rPr lang="en-US" altLang="ko-KR"/>
              <a:t> </a:t>
            </a:r>
            <a:r>
              <a:rPr lang="ko-KR" altLang="en-US"/>
              <a:t>정도</a:t>
            </a:r>
            <a:r>
              <a:rPr lang="en-US" altLang="ko-KR"/>
              <a:t> </a:t>
            </a:r>
            <a:r>
              <a:rPr lang="ko-KR" altLang="en-US"/>
              <a:t>적합한지를</a:t>
            </a:r>
            <a:r>
              <a:rPr lang="en-US" altLang="ko-KR"/>
              <a:t> </a:t>
            </a:r>
            <a:r>
              <a:rPr lang="ko-KR" altLang="en-US"/>
              <a:t>점수로</a:t>
            </a:r>
            <a:r>
              <a:rPr lang="en-US" altLang="ko-KR"/>
              <a:t> </a:t>
            </a:r>
            <a:r>
              <a:rPr lang="ko-KR" altLang="en-US"/>
              <a:t>보여줍니다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ko-KR" altLang="en-US"/>
              <a:t>만약, 사용자가</a:t>
            </a:r>
            <a:r>
              <a:rPr lang="en-US" altLang="ko-KR"/>
              <a:t> </a:t>
            </a:r>
            <a:r>
              <a:rPr lang="ko-KR" altLang="en-US"/>
              <a:t>다른</a:t>
            </a:r>
            <a:r>
              <a:rPr lang="en-US" altLang="ko-KR"/>
              <a:t> </a:t>
            </a:r>
            <a:r>
              <a:rPr lang="ko-KR" altLang="en-US"/>
              <a:t>지역을</a:t>
            </a:r>
            <a:r>
              <a:rPr lang="en-US" altLang="ko-KR"/>
              <a:t> </a:t>
            </a:r>
            <a:r>
              <a:rPr lang="ko-KR" altLang="en-US"/>
              <a:t>직접</a:t>
            </a:r>
            <a:r>
              <a:rPr lang="en-US" altLang="ko-KR"/>
              <a:t> </a:t>
            </a:r>
            <a:r>
              <a:rPr lang="ko-KR" altLang="en-US"/>
              <a:t>검색하면</a:t>
            </a:r>
            <a:r>
              <a:rPr lang="en-US" altLang="ko-KR"/>
              <a:t> </a:t>
            </a:r>
            <a:r>
              <a:rPr lang="ko-KR" altLang="en-US"/>
              <a:t>검색한</a:t>
            </a:r>
            <a:r>
              <a:rPr lang="en-US" altLang="ko-KR"/>
              <a:t> </a:t>
            </a:r>
            <a:r>
              <a:rPr lang="ko-KR" altLang="en-US"/>
              <a:t>지역의 산책 점수를 다시</a:t>
            </a:r>
            <a:r>
              <a:rPr lang="en-US" altLang="ko-KR"/>
              <a:t> </a:t>
            </a:r>
            <a:r>
              <a:rPr lang="ko-KR" altLang="en-US"/>
              <a:t>계산할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있습니다</a:t>
            </a:r>
            <a:r>
              <a:rPr lang="en-US"/>
              <a:t>.</a:t>
            </a:r>
          </a:p>
          <a:p>
            <a:r>
              <a:rPr lang="ko-KR" altLang="en-US"/>
              <a:t>주소는</a:t>
            </a:r>
            <a:r>
              <a:rPr lang="en-US"/>
              <a:t> Kakao API</a:t>
            </a:r>
            <a:r>
              <a:rPr lang="ko-KR" altLang="en-US" err="1"/>
              <a:t>를</a:t>
            </a:r>
            <a:r>
              <a:rPr lang="en-US" altLang="ko-KR"/>
              <a:t> </a:t>
            </a:r>
            <a:r>
              <a:rPr lang="ko-KR" altLang="en-US"/>
              <a:t>통해</a:t>
            </a:r>
            <a:r>
              <a:rPr lang="en-US" altLang="ko-KR"/>
              <a:t> </a:t>
            </a:r>
            <a:r>
              <a:rPr lang="ko-KR" altLang="en-US"/>
              <a:t>좌표로</a:t>
            </a:r>
            <a:r>
              <a:rPr lang="en-US" altLang="ko-KR"/>
              <a:t> </a:t>
            </a:r>
            <a:r>
              <a:rPr lang="ko-KR" altLang="en-US"/>
              <a:t>변환하였으며,</a:t>
            </a:r>
            <a:r>
              <a:rPr lang="en-US" altLang="ko-KR"/>
              <a:t> </a:t>
            </a:r>
            <a:r>
              <a:rPr lang="ko-KR" altLang="en-US"/>
              <a:t>기온과</a:t>
            </a:r>
            <a:r>
              <a:rPr lang="en-US" altLang="ko-KR"/>
              <a:t> </a:t>
            </a:r>
            <a:r>
              <a:rPr lang="ko-KR" altLang="en-US"/>
              <a:t>강수</a:t>
            </a:r>
            <a:r>
              <a:rPr lang="en-US" altLang="ko-KR"/>
              <a:t> </a:t>
            </a:r>
            <a:r>
              <a:rPr lang="ko-KR" altLang="en-US"/>
              <a:t>정보는</a:t>
            </a:r>
            <a:r>
              <a:rPr lang="en-US" altLang="ko-KR"/>
              <a:t> </a:t>
            </a:r>
            <a:r>
              <a:rPr lang="ko-KR" altLang="en-US"/>
              <a:t>기상청</a:t>
            </a:r>
            <a:r>
              <a:rPr lang="en-US" altLang="ko-KR"/>
              <a:t> </a:t>
            </a:r>
            <a:r>
              <a:rPr lang="ko-KR" altLang="en-US"/>
              <a:t>미세먼지</a:t>
            </a:r>
            <a:r>
              <a:rPr lang="en-US" altLang="ko-KR"/>
              <a:t> </a:t>
            </a:r>
            <a:r>
              <a:rPr lang="ko-KR" altLang="en-US"/>
              <a:t>정보는</a:t>
            </a:r>
            <a:r>
              <a:rPr lang="en-US"/>
              <a:t> AirKorea</a:t>
            </a:r>
            <a:r>
              <a:rPr lang="ko-KR" altLang="en-US"/>
              <a:t>에서</a:t>
            </a:r>
            <a:r>
              <a:rPr lang="en-US" altLang="ko-KR"/>
              <a:t> </a:t>
            </a:r>
            <a:r>
              <a:rPr lang="ko-KR" altLang="en-US"/>
              <a:t>받아옵니다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ko-KR" altLang="en-US"/>
              <a:t>이렇게</a:t>
            </a:r>
            <a:r>
              <a:rPr lang="en-US" altLang="ko-KR"/>
              <a:t> </a:t>
            </a:r>
            <a:r>
              <a:rPr lang="ko-KR" altLang="en-US"/>
              <a:t>가져온</a:t>
            </a:r>
            <a:r>
              <a:rPr lang="en-US" altLang="ko-KR"/>
              <a:t> </a:t>
            </a:r>
            <a:r>
              <a:rPr lang="ko-KR" altLang="en-US"/>
              <a:t>값들을</a:t>
            </a:r>
            <a:r>
              <a:rPr lang="en-US" altLang="ko-KR"/>
              <a:t> 계</a:t>
            </a:r>
            <a:r>
              <a:rPr lang="ko-KR" altLang="en-US"/>
              <a:t>산해서</a:t>
            </a:r>
            <a:r>
              <a:rPr lang="en-US"/>
              <a:t> 0</a:t>
            </a:r>
            <a:r>
              <a:rPr lang="ko-KR" altLang="en-US"/>
              <a:t>점에서</a:t>
            </a:r>
            <a:r>
              <a:rPr lang="en-US"/>
              <a:t> 100</a:t>
            </a:r>
            <a:r>
              <a:rPr lang="ko-KR" altLang="en-US"/>
              <a:t>점</a:t>
            </a:r>
            <a:r>
              <a:rPr lang="en-US" altLang="ko-KR"/>
              <a:t> </a:t>
            </a:r>
            <a:r>
              <a:rPr lang="ko-KR" altLang="en-US"/>
              <a:t>사이의</a:t>
            </a:r>
            <a:r>
              <a:rPr lang="en-US" altLang="ko-KR"/>
              <a:t> </a:t>
            </a:r>
            <a:r>
              <a:rPr lang="ko-KR" altLang="en-US"/>
              <a:t>산책</a:t>
            </a:r>
            <a:r>
              <a:rPr lang="en-US" altLang="ko-KR"/>
              <a:t> </a:t>
            </a:r>
            <a:r>
              <a:rPr lang="ko-KR" altLang="en-US"/>
              <a:t>점수로</a:t>
            </a:r>
            <a:r>
              <a:rPr lang="en-US" altLang="ko-KR"/>
              <a:t> </a:t>
            </a:r>
            <a:r>
              <a:rPr lang="ko-KR" altLang="en-US"/>
              <a:t>변환하고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점수에</a:t>
            </a:r>
            <a:r>
              <a:rPr lang="en-US" altLang="ko-KR"/>
              <a:t> </a:t>
            </a:r>
            <a:r>
              <a:rPr lang="ko-KR" altLang="en-US"/>
              <a:t>따라</a:t>
            </a:r>
            <a:r>
              <a:rPr lang="en-US" altLang="ko-KR"/>
              <a:t> </a:t>
            </a:r>
            <a:r>
              <a:rPr lang="ko-KR" altLang="en-US"/>
              <a:t>산책하기</a:t>
            </a:r>
            <a:r>
              <a:rPr lang="en-US" altLang="ko-KR"/>
              <a:t> </a:t>
            </a:r>
            <a:r>
              <a:rPr lang="ko-KR" altLang="en-US"/>
              <a:t>좋은</a:t>
            </a:r>
            <a:r>
              <a:rPr lang="en-US" altLang="ko-KR"/>
              <a:t> </a:t>
            </a:r>
            <a:r>
              <a:rPr lang="ko-KR" altLang="en-US"/>
              <a:t>날인지를</a:t>
            </a:r>
            <a:r>
              <a:rPr lang="en-US" altLang="ko-KR"/>
              <a:t> </a:t>
            </a:r>
            <a:r>
              <a:rPr lang="en-US" altLang="ko-KR" err="1"/>
              <a:t>그림을</a:t>
            </a:r>
            <a:r>
              <a:rPr lang="en-US" altLang="ko-KR"/>
              <a:t> </a:t>
            </a:r>
            <a:r>
              <a:rPr lang="en-US" altLang="ko-KR" err="1"/>
              <a:t>통해</a:t>
            </a:r>
            <a:r>
              <a:rPr lang="en-US" altLang="ko-KR"/>
              <a:t> </a:t>
            </a:r>
            <a:r>
              <a:rPr lang="en-US" altLang="ko-KR" err="1"/>
              <a:t>사용자에게</a:t>
            </a:r>
            <a:r>
              <a:rPr lang="en-US" altLang="ko-KR"/>
              <a:t> </a:t>
            </a:r>
            <a:r>
              <a:rPr lang="ko-KR" altLang="en-US"/>
              <a:t>직관적으로</a:t>
            </a:r>
            <a:r>
              <a:rPr lang="en-US" altLang="ko-KR"/>
              <a:t> </a:t>
            </a:r>
            <a:r>
              <a:rPr lang="ko-KR" altLang="en-US"/>
              <a:t>보여주도록</a:t>
            </a:r>
            <a:r>
              <a:rPr lang="en-US" altLang="ko-KR"/>
              <a:t> </a:t>
            </a:r>
            <a:r>
              <a:rPr lang="ko-KR" altLang="en-US"/>
              <a:t>했습니다</a:t>
            </a:r>
            <a:r>
              <a:rPr lang="en-US"/>
              <a:t>.</a:t>
            </a:r>
          </a:p>
          <a:p>
            <a:r>
              <a:rPr lang="ko-KR" altLang="en-US"/>
              <a:t>해당</a:t>
            </a:r>
            <a:r>
              <a:rPr lang="en-US"/>
              <a:t> </a:t>
            </a:r>
            <a:r>
              <a:rPr lang="ko-KR" altLang="en-US"/>
              <a:t>그림의</a:t>
            </a:r>
            <a:r>
              <a:rPr lang="en-US"/>
              <a:t> </a:t>
            </a:r>
            <a:r>
              <a:rPr lang="en-US" err="1"/>
              <a:t>경우</a:t>
            </a:r>
            <a:r>
              <a:rPr lang="en-US"/>
              <a:t> Chat-</a:t>
            </a:r>
            <a:r>
              <a:rPr lang="en-US" err="1"/>
              <a:t>GptLLM</a:t>
            </a:r>
            <a:r>
              <a:rPr lang="ko-KR" altLang="en-US"/>
              <a:t>모델을</a:t>
            </a:r>
            <a:r>
              <a:rPr lang="en-US"/>
              <a:t> </a:t>
            </a:r>
            <a:r>
              <a:rPr lang="ko-KR" altLang="en-US"/>
              <a:t>활용하여</a:t>
            </a:r>
            <a:r>
              <a:rPr lang="en-US"/>
              <a:t> </a:t>
            </a:r>
            <a:r>
              <a:rPr lang="ko-KR" altLang="en-US"/>
              <a:t>제작했습니다</a:t>
            </a:r>
            <a:r>
              <a:rPr lang="en-US"/>
              <a:t>. </a:t>
            </a:r>
          </a:p>
          <a:p>
            <a:endParaRPr lang="en-US"/>
          </a:p>
          <a:p>
            <a:pPr>
              <a:buFont typeface="Arial"/>
              <a:buChar char="•"/>
            </a:pPr>
            <a:r>
              <a:rPr lang="en-US" altLang="ko-KR" err="1"/>
              <a:t>산책점수</a:t>
            </a:r>
            <a:r>
              <a:rPr lang="en-US" altLang="ko-KR"/>
              <a:t> </a:t>
            </a:r>
            <a:r>
              <a:rPr lang="en-US" altLang="ko-KR" err="1"/>
              <a:t>책정</a:t>
            </a:r>
            <a:r>
              <a:rPr lang="en-US" altLang="ko-KR"/>
              <a:t> : </a:t>
            </a:r>
            <a:r>
              <a:rPr lang="en-US" altLang="ko-KR" err="1"/>
              <a:t>기준</a:t>
            </a:r>
            <a:r>
              <a:rPr lang="en-US" altLang="ko-KR"/>
              <a:t> </a:t>
            </a:r>
            <a:r>
              <a:rPr lang="en-US"/>
              <a:t>75점 </a:t>
            </a:r>
            <a:r>
              <a:rPr lang="en-US" err="1"/>
              <a:t>이상</a:t>
            </a:r>
            <a:r>
              <a:rPr lang="en-US"/>
              <a:t>: GOOD / 45~74점: CAUTION / 44점 </a:t>
            </a:r>
            <a:r>
              <a:rPr lang="en-US" err="1"/>
              <a:t>이하</a:t>
            </a:r>
            <a:r>
              <a:rPr lang="en-US"/>
              <a:t>: REST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강수비·눈이</a:t>
            </a:r>
            <a:r>
              <a:rPr lang="en-US"/>
              <a:t> </a:t>
            </a:r>
            <a:r>
              <a:rPr lang="en-US" err="1"/>
              <a:t>내리거나</a:t>
            </a:r>
            <a:r>
              <a:rPr lang="en-US"/>
              <a:t> </a:t>
            </a:r>
            <a:r>
              <a:rPr lang="en-US" err="1"/>
              <a:t>강수량이</a:t>
            </a:r>
            <a:r>
              <a:rPr lang="en-US"/>
              <a:t> 0 </a:t>
            </a:r>
            <a:r>
              <a:rPr lang="en-US" err="1"/>
              <a:t>초과</a:t>
            </a:r>
            <a:r>
              <a:rPr lang="en-US"/>
              <a:t> /-60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강수확률</a:t>
            </a:r>
            <a:r>
              <a:rPr lang="en-US"/>
              <a:t> 70% </a:t>
            </a:r>
            <a:r>
              <a:rPr lang="en-US" err="1"/>
              <a:t>이상</a:t>
            </a:r>
            <a:r>
              <a:rPr lang="en-US"/>
              <a:t> / -40</a:t>
            </a:r>
          </a:p>
          <a:p>
            <a:pPr marL="171450" indent="-171450">
              <a:buFont typeface="Arial"/>
              <a:buChar char="•"/>
            </a:pPr>
            <a:r>
              <a:rPr lang="ko-KR" altLang="en-US"/>
              <a:t>강수확률</a:t>
            </a:r>
            <a:r>
              <a:rPr lang="en-US" altLang="ko-KR"/>
              <a:t> </a:t>
            </a:r>
            <a:r>
              <a:rPr lang="en-US"/>
              <a:t>40% </a:t>
            </a:r>
            <a:r>
              <a:rPr lang="en-US" err="1"/>
              <a:t>이상</a:t>
            </a:r>
            <a:r>
              <a:rPr lang="en-US"/>
              <a:t> / -20</a:t>
            </a:r>
          </a:p>
          <a:p>
            <a:pPr marL="171450" indent="-171450">
              <a:buFont typeface="Arial"/>
              <a:buChar char="•"/>
            </a:pPr>
            <a:r>
              <a:rPr lang="ko-KR" altLang="en-US"/>
              <a:t>강수확률</a:t>
            </a:r>
            <a:r>
              <a:rPr lang="en-US" altLang="ko-KR"/>
              <a:t> </a:t>
            </a:r>
            <a:r>
              <a:rPr lang="en-US"/>
              <a:t>20% </a:t>
            </a:r>
            <a:r>
              <a:rPr lang="en-US" err="1"/>
              <a:t>이상</a:t>
            </a:r>
            <a:r>
              <a:rPr lang="en-US"/>
              <a:t> / -8기온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32℃ </a:t>
            </a:r>
            <a:r>
              <a:rPr lang="en-US" err="1"/>
              <a:t>이상</a:t>
            </a:r>
            <a:r>
              <a:rPr lang="en-US"/>
              <a:t> </a:t>
            </a:r>
            <a:r>
              <a:rPr lang="en-US" err="1"/>
              <a:t>또는</a:t>
            </a:r>
            <a:r>
              <a:rPr lang="en-US"/>
              <a:t> -5℃ </a:t>
            </a:r>
            <a:r>
              <a:rPr lang="en-US" err="1"/>
              <a:t>이하</a:t>
            </a:r>
            <a:r>
              <a:rPr lang="en-US"/>
              <a:t> / -45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28℃ </a:t>
            </a:r>
            <a:r>
              <a:rPr lang="en-US" err="1"/>
              <a:t>이상</a:t>
            </a:r>
            <a:r>
              <a:rPr lang="en-US"/>
              <a:t> </a:t>
            </a:r>
            <a:r>
              <a:rPr lang="en-US" err="1"/>
              <a:t>또는</a:t>
            </a:r>
            <a:r>
              <a:rPr lang="en-US"/>
              <a:t> 3℃ </a:t>
            </a:r>
            <a:r>
              <a:rPr lang="en-US" err="1"/>
              <a:t>이하</a:t>
            </a:r>
            <a:r>
              <a:rPr lang="en-US"/>
              <a:t> / -25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25℃ </a:t>
            </a:r>
            <a:r>
              <a:rPr lang="en-US" err="1"/>
              <a:t>이상</a:t>
            </a:r>
            <a:r>
              <a:rPr lang="en-US"/>
              <a:t> </a:t>
            </a:r>
            <a:r>
              <a:rPr lang="en-US" err="1"/>
              <a:t>또는</a:t>
            </a:r>
            <a:r>
              <a:rPr lang="en-US"/>
              <a:t> 8℃ </a:t>
            </a:r>
            <a:r>
              <a:rPr lang="en-US" err="1"/>
              <a:t>이하</a:t>
            </a:r>
            <a:r>
              <a:rPr lang="en-US"/>
              <a:t> / -10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풍속10m/s </a:t>
            </a:r>
            <a:r>
              <a:rPr lang="en-US" err="1"/>
              <a:t>이상</a:t>
            </a:r>
            <a:r>
              <a:rPr lang="en-US"/>
              <a:t>  / -25</a:t>
            </a:r>
          </a:p>
          <a:p>
            <a:pPr marL="171450" indent="-171450">
              <a:buFont typeface="Arial"/>
              <a:buChar char="•"/>
            </a:pPr>
            <a:r>
              <a:rPr lang="ko-KR" altLang="en-US"/>
              <a:t>풍속</a:t>
            </a:r>
            <a:r>
              <a:rPr lang="en-US"/>
              <a:t> 7m/s </a:t>
            </a:r>
            <a:r>
              <a:rPr lang="en-US" err="1"/>
              <a:t>이상</a:t>
            </a:r>
            <a:r>
              <a:rPr lang="en-US"/>
              <a:t> / -10</a:t>
            </a:r>
          </a:p>
          <a:p>
            <a:pPr marL="171450" indent="-171450">
              <a:buFont typeface="Arial"/>
              <a:buChar char="•"/>
            </a:pPr>
            <a:r>
              <a:rPr lang="ko-KR" altLang="en-US" err="1"/>
              <a:t>대기질</a:t>
            </a:r>
            <a:r>
              <a:rPr lang="en-US" altLang="ko-KR"/>
              <a:t> </a:t>
            </a:r>
            <a:r>
              <a:rPr lang="ko-KR" altLang="en-US"/>
              <a:t>매우</a:t>
            </a:r>
            <a:r>
              <a:rPr lang="en-US"/>
              <a:t> </a:t>
            </a:r>
            <a:r>
              <a:rPr lang="en-US" err="1"/>
              <a:t>나쁨</a:t>
            </a:r>
            <a:r>
              <a:rPr lang="en-US"/>
              <a:t> / -55</a:t>
            </a:r>
          </a:p>
          <a:p>
            <a:pPr marL="171450" indent="-171450">
              <a:buFont typeface="Arial"/>
              <a:buChar char="•"/>
            </a:pPr>
            <a:r>
              <a:rPr lang="ko-KR" altLang="en-US" err="1"/>
              <a:t>대기질</a:t>
            </a:r>
            <a:r>
              <a:rPr lang="ko-KR" altLang="en-US"/>
              <a:t> 나쁨</a:t>
            </a:r>
            <a:r>
              <a:rPr lang="en-US"/>
              <a:t> / -35 </a:t>
            </a:r>
          </a:p>
          <a:p>
            <a:pPr marL="171450" indent="-171450">
              <a:buFont typeface="Arial"/>
              <a:buChar char="•"/>
            </a:pPr>
            <a:r>
              <a:rPr lang="ko-KR" altLang="en-US" err="1"/>
              <a:t>대기질</a:t>
            </a:r>
            <a:r>
              <a:rPr lang="en-US"/>
              <a:t> </a:t>
            </a:r>
            <a:r>
              <a:rPr lang="ko-KR" altLang="en-US"/>
              <a:t>보통</a:t>
            </a:r>
            <a:r>
              <a:rPr lang="en-US" altLang="ko-KR"/>
              <a:t> </a:t>
            </a:r>
            <a:r>
              <a:rPr lang="en-US"/>
              <a:t>/ -5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다음은</a:t>
            </a:r>
            <a:r>
              <a:rPr lang="en-US" altLang="ko-KR"/>
              <a:t> </a:t>
            </a:r>
            <a:r>
              <a:rPr lang="ko-KR" altLang="en-US"/>
              <a:t>실종</a:t>
            </a:r>
            <a:r>
              <a:rPr lang="en-US" altLang="ko-KR"/>
              <a:t> </a:t>
            </a:r>
            <a:r>
              <a:rPr lang="en-US" altLang="ko-KR" err="1"/>
              <a:t>대응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위한</a:t>
            </a:r>
            <a:r>
              <a:rPr lang="en-US"/>
              <a:t> QR</a:t>
            </a:r>
            <a:r>
              <a:rPr lang="en-US" altLang="ko-KR"/>
              <a:t> </a:t>
            </a:r>
            <a:r>
              <a:rPr lang="ko-KR" altLang="en-US"/>
              <a:t>기능입니다</a:t>
            </a:r>
            <a:r>
              <a:rPr lang="en-US"/>
              <a:t>.</a:t>
            </a:r>
          </a:p>
          <a:p>
            <a:r>
              <a:rPr lang="ko-KR" altLang="en-US"/>
              <a:t>사용자가</a:t>
            </a:r>
            <a:r>
              <a:rPr lang="en-US" altLang="ko-KR"/>
              <a:t> </a:t>
            </a:r>
            <a:r>
              <a:rPr lang="en-US" altLang="ko-KR" err="1"/>
              <a:t>등록한</a:t>
            </a:r>
            <a:r>
              <a:rPr lang="en-US" altLang="ko-KR"/>
              <a:t> </a:t>
            </a:r>
            <a:r>
              <a:rPr lang="ko-KR" altLang="en-US"/>
              <a:t>반려동물별로</a:t>
            </a:r>
            <a:r>
              <a:rPr lang="en-US"/>
              <a:t> QR</a:t>
            </a:r>
            <a:r>
              <a:rPr lang="en-US" altLang="ko-KR"/>
              <a:t> </a:t>
            </a:r>
            <a:r>
              <a:rPr lang="ko-KR" altLang="en-US"/>
              <a:t>코드를</a:t>
            </a:r>
            <a:r>
              <a:rPr lang="en-US" altLang="ko-KR"/>
              <a:t> </a:t>
            </a:r>
            <a:r>
              <a:rPr lang="ko-KR" altLang="en-US"/>
              <a:t>만들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있고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반려동물을</a:t>
            </a:r>
            <a:r>
              <a:rPr lang="en-US" altLang="ko-KR"/>
              <a:t> </a:t>
            </a:r>
            <a:r>
              <a:rPr lang="ko-KR" altLang="en-US"/>
              <a:t>발견한</a:t>
            </a:r>
            <a:r>
              <a:rPr lang="en-US" altLang="ko-KR"/>
              <a:t> </a:t>
            </a:r>
            <a:r>
              <a:rPr lang="ko-KR" altLang="en-US"/>
              <a:t>사람이</a:t>
            </a:r>
            <a:r>
              <a:rPr lang="en-US"/>
              <a:t> QR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스캔하면</a:t>
            </a:r>
            <a:r>
              <a:rPr lang="en-US" altLang="ko-KR"/>
              <a:t> </a:t>
            </a:r>
            <a:r>
              <a:rPr lang="ko-KR" altLang="en-US"/>
              <a:t>로그인</a:t>
            </a:r>
            <a:r>
              <a:rPr lang="en-US" altLang="ko-KR"/>
              <a:t> </a:t>
            </a:r>
            <a:r>
              <a:rPr lang="ko-KR" altLang="en-US"/>
              <a:t>없이</a:t>
            </a:r>
            <a:r>
              <a:rPr lang="en-US" altLang="ko-KR"/>
              <a:t> </a:t>
            </a:r>
            <a:r>
              <a:rPr lang="ko-KR" altLang="en-US"/>
              <a:t>공개</a:t>
            </a:r>
            <a:r>
              <a:rPr lang="en-US" altLang="ko-KR"/>
              <a:t> </a:t>
            </a:r>
            <a:r>
              <a:rPr lang="ko-KR" altLang="en-US"/>
              <a:t>프로필을</a:t>
            </a:r>
            <a:r>
              <a:rPr lang="en-US" altLang="ko-KR"/>
              <a:t> </a:t>
            </a:r>
            <a:r>
              <a:rPr lang="ko-KR" altLang="en-US"/>
              <a:t>확인할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있습니다</a:t>
            </a:r>
            <a:r>
              <a:rPr lang="en-US"/>
              <a:t>.</a:t>
            </a:r>
            <a:endParaRPr/>
          </a:p>
          <a:p>
            <a:endParaRPr lang="en-US" altLang="ko-KR"/>
          </a:p>
          <a:p>
            <a:r>
              <a:rPr lang="ko-KR" altLang="en-US"/>
              <a:t>개인정보</a:t>
            </a:r>
            <a:r>
              <a:rPr lang="en-US" altLang="ko-KR"/>
              <a:t> </a:t>
            </a:r>
            <a:r>
              <a:rPr lang="en-US" altLang="ko-KR" err="1"/>
              <a:t>보호를</a:t>
            </a:r>
            <a:r>
              <a:rPr lang="en-US" altLang="ko-KR"/>
              <a:t> </a:t>
            </a:r>
            <a:r>
              <a:rPr lang="en-US" altLang="ko-KR" err="1"/>
              <a:t>위해</a:t>
            </a:r>
            <a:r>
              <a:rPr lang="en-US" altLang="ko-KR"/>
              <a:t> QR</a:t>
            </a:r>
            <a:r>
              <a:rPr lang="ko-KR"/>
              <a:t> 코드 자체에는 전화번호 같은 개인정보를 넣지 않았습니다.</a:t>
            </a:r>
            <a:endParaRPr lang="en-US"/>
          </a:p>
          <a:p>
            <a:r>
              <a:rPr lang="ko-KR" altLang="en-US"/>
              <a:t>대신</a:t>
            </a:r>
            <a:r>
              <a:rPr lang="en-US"/>
              <a:t>, QR</a:t>
            </a:r>
            <a:r>
              <a:rPr lang="ko-KR" altLang="en-US"/>
              <a:t>에는</a:t>
            </a:r>
            <a:r>
              <a:rPr lang="en-US" altLang="ko-KR"/>
              <a:t> </a:t>
            </a:r>
            <a:r>
              <a:rPr lang="ko-KR" altLang="en-US"/>
              <a:t>공개</a:t>
            </a:r>
            <a:r>
              <a:rPr lang="en-US" altLang="ko-KR"/>
              <a:t> </a:t>
            </a:r>
            <a:r>
              <a:rPr lang="ko-KR" altLang="en-US"/>
              <a:t>토큰이</a:t>
            </a:r>
            <a:r>
              <a:rPr lang="en-US" altLang="ko-KR"/>
              <a:t> </a:t>
            </a:r>
            <a:r>
              <a:rPr lang="ko-KR" altLang="en-US"/>
              <a:t>포함된</a:t>
            </a:r>
            <a:r>
              <a:rPr lang="en-US"/>
              <a:t> URL</a:t>
            </a:r>
            <a:r>
              <a:rPr lang="ko-KR" altLang="en-US"/>
              <a:t>만</a:t>
            </a:r>
            <a:r>
              <a:rPr lang="en-US" altLang="ko-KR"/>
              <a:t> </a:t>
            </a:r>
            <a:r>
              <a:rPr lang="ko-KR" altLang="en-US"/>
              <a:t>들어가고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실제</a:t>
            </a:r>
            <a:r>
              <a:rPr lang="en-US" altLang="ko-KR"/>
              <a:t> </a:t>
            </a:r>
            <a:r>
              <a:rPr lang="ko-KR" altLang="en-US"/>
              <a:t>정보는</a:t>
            </a:r>
            <a:r>
              <a:rPr lang="en-US" altLang="ko-KR"/>
              <a:t> </a:t>
            </a:r>
            <a:r>
              <a:rPr lang="ko-KR" altLang="en-US"/>
              <a:t>해당</a:t>
            </a:r>
            <a:r>
              <a:rPr lang="en-US"/>
              <a:t> URL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/>
              <a:t>서버에</a:t>
            </a:r>
            <a:r>
              <a:rPr lang="en-US" altLang="ko-KR"/>
              <a:t> </a:t>
            </a:r>
            <a:r>
              <a:rPr lang="ko-KR" altLang="en-US"/>
              <a:t>요청했을</a:t>
            </a:r>
            <a:r>
              <a:rPr lang="en-US" altLang="ko-KR"/>
              <a:t> </a:t>
            </a:r>
            <a:r>
              <a:rPr lang="ko-KR" altLang="en-US"/>
              <a:t>때</a:t>
            </a:r>
            <a:r>
              <a:rPr lang="en-US" altLang="ko-KR"/>
              <a:t> </a:t>
            </a:r>
            <a:r>
              <a:rPr lang="ko-KR" altLang="en-US"/>
              <a:t>조회하도록</a:t>
            </a:r>
            <a:r>
              <a:rPr lang="en-US" altLang="ko-KR"/>
              <a:t> </a:t>
            </a:r>
            <a:r>
              <a:rPr lang="en-US" altLang="ko-KR" err="1"/>
              <a:t>설계했습니다</a:t>
            </a:r>
            <a:r>
              <a:rPr lang="en-US" altLang="ko-KR"/>
              <a:t>. </a:t>
            </a:r>
            <a:endParaRPr/>
          </a:p>
          <a:p>
            <a:endParaRPr lang="en-US" altLang="ko-KR"/>
          </a:p>
          <a:p>
            <a:r>
              <a:rPr lang="ko-KR" altLang="en-US"/>
              <a:t>또한 보호자는</a:t>
            </a:r>
            <a:r>
              <a:rPr lang="en-US" altLang="ko-KR"/>
              <a:t> </a:t>
            </a:r>
            <a:r>
              <a:rPr lang="ko-KR" altLang="en-US"/>
              <a:t>이름,</a:t>
            </a:r>
            <a:r>
              <a:rPr lang="en-US" altLang="ko-KR"/>
              <a:t> </a:t>
            </a:r>
            <a:r>
              <a:rPr lang="ko-KR" altLang="en-US"/>
              <a:t>연락처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반려동물</a:t>
            </a:r>
            <a:r>
              <a:rPr lang="en-US" altLang="ko-KR"/>
              <a:t> </a:t>
            </a:r>
            <a:r>
              <a:rPr lang="ko-KR" altLang="en-US"/>
              <a:t>정보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병력이나</a:t>
            </a:r>
            <a:r>
              <a:rPr lang="en-US" altLang="ko-KR"/>
              <a:t> </a:t>
            </a:r>
            <a:r>
              <a:rPr lang="ko-KR" altLang="en-US"/>
              <a:t>특이사항</a:t>
            </a:r>
            <a:r>
              <a:rPr lang="en-US" altLang="ko-KR"/>
              <a:t> </a:t>
            </a:r>
            <a:r>
              <a:rPr lang="ko-KR" altLang="en-US"/>
              <a:t>중</a:t>
            </a:r>
            <a:r>
              <a:rPr lang="en-US" altLang="ko-KR"/>
              <a:t> </a:t>
            </a:r>
            <a:r>
              <a:rPr lang="ko-KR" altLang="en-US"/>
              <a:t>어떤</a:t>
            </a:r>
            <a:r>
              <a:rPr lang="en-US" altLang="ko-KR"/>
              <a:t> </a:t>
            </a:r>
            <a:r>
              <a:rPr lang="ko-KR" altLang="en-US"/>
              <a:t>내용을</a:t>
            </a:r>
            <a:r>
              <a:rPr lang="en-US" altLang="ko-KR"/>
              <a:t> </a:t>
            </a:r>
            <a:r>
              <a:rPr lang="ko-KR" altLang="en-US"/>
              <a:t>공개할지</a:t>
            </a:r>
            <a:r>
              <a:rPr lang="en-US" altLang="ko-KR"/>
              <a:t> </a:t>
            </a:r>
            <a:r>
              <a:rPr lang="ko-KR" altLang="en-US"/>
              <a:t>직접</a:t>
            </a:r>
            <a:r>
              <a:rPr lang="en-US" altLang="ko-KR"/>
              <a:t> </a:t>
            </a:r>
            <a:r>
              <a:rPr lang="ko-KR" altLang="en-US"/>
              <a:t>선택할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있습니다</a:t>
            </a:r>
            <a:r>
              <a:rPr lang="en-US"/>
              <a:t>.</a:t>
            </a:r>
          </a:p>
          <a:p>
            <a:r>
              <a:rPr lang="ko-KR" altLang="en-US"/>
              <a:t>만약, 공개를</a:t>
            </a:r>
            <a:r>
              <a:rPr lang="en-US" altLang="ko-KR"/>
              <a:t> </a:t>
            </a:r>
            <a:r>
              <a:rPr lang="ko-KR" altLang="en-US"/>
              <a:t>중지하거나</a:t>
            </a:r>
            <a:r>
              <a:rPr lang="en-US"/>
              <a:t> QR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삭제하면</a:t>
            </a:r>
            <a:r>
              <a:rPr lang="en-US" altLang="ko-KR"/>
              <a:t> </a:t>
            </a:r>
            <a:r>
              <a:rPr lang="ko-KR" altLang="en-US"/>
              <a:t>기존</a:t>
            </a:r>
            <a:r>
              <a:rPr lang="en-US"/>
              <a:t> QR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다시</a:t>
            </a:r>
            <a:r>
              <a:rPr lang="en-US" altLang="ko-KR"/>
              <a:t> </a:t>
            </a:r>
            <a:r>
              <a:rPr lang="ko-KR" altLang="en-US"/>
              <a:t>스캔하더라도</a:t>
            </a:r>
            <a:r>
              <a:rPr lang="en-US" altLang="ko-KR"/>
              <a:t> </a:t>
            </a:r>
            <a:r>
              <a:rPr lang="ko-KR" altLang="en-US"/>
              <a:t>더</a:t>
            </a:r>
            <a:r>
              <a:rPr lang="en-US" altLang="ko-KR"/>
              <a:t> </a:t>
            </a:r>
            <a:r>
              <a:rPr lang="ko-KR" altLang="en-US"/>
              <a:t>이상</a:t>
            </a:r>
            <a:r>
              <a:rPr lang="en-US" altLang="ko-KR"/>
              <a:t> </a:t>
            </a:r>
            <a:r>
              <a:rPr lang="ko-KR" altLang="en-US"/>
              <a:t>해당</a:t>
            </a:r>
            <a:r>
              <a:rPr lang="en-US" altLang="ko-KR"/>
              <a:t> </a:t>
            </a:r>
            <a:r>
              <a:rPr lang="ko-KR" altLang="en-US"/>
              <a:t>정보를</a:t>
            </a:r>
            <a:r>
              <a:rPr lang="en-US" altLang="ko-KR"/>
              <a:t> </a:t>
            </a:r>
            <a:r>
              <a:rPr lang="ko-KR" altLang="en-US"/>
              <a:t>확인할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없게</a:t>
            </a:r>
            <a:r>
              <a:rPr lang="en-US" altLang="ko-KR"/>
              <a:t> </a:t>
            </a:r>
            <a:r>
              <a:rPr lang="ko-KR" altLang="en-US"/>
              <a:t>처리했습니다</a:t>
            </a:r>
            <a:r>
              <a:rPr lang="en-US"/>
              <a:t>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다음은</a:t>
            </a:r>
            <a:r>
              <a:rPr lang="en-US" altLang="ko-KR"/>
              <a:t> AI</a:t>
            </a:r>
            <a:r>
              <a:rPr lang="ko-KR" altLang="en-US"/>
              <a:t> 예측</a:t>
            </a:r>
            <a:r>
              <a:rPr lang="en-US" altLang="ko-KR"/>
              <a:t> </a:t>
            </a:r>
            <a:r>
              <a:rPr lang="ko-KR" altLang="en-US"/>
              <a:t>결과가</a:t>
            </a:r>
            <a:r>
              <a:rPr lang="en-US" altLang="ko-KR"/>
              <a:t> </a:t>
            </a:r>
            <a:r>
              <a:rPr lang="ko-KR" altLang="en-US"/>
              <a:t>사용자에게</a:t>
            </a:r>
            <a:r>
              <a:rPr lang="en-US" altLang="ko-KR"/>
              <a:t> </a:t>
            </a:r>
            <a:r>
              <a:rPr lang="ko-KR" altLang="en-US"/>
              <a:t>전달되는</a:t>
            </a:r>
            <a:r>
              <a:rPr lang="en-US" altLang="ko-KR"/>
              <a:t> </a:t>
            </a:r>
            <a:r>
              <a:rPr lang="ko-KR" altLang="en-US"/>
              <a:t>과정입니다</a:t>
            </a:r>
            <a:r>
              <a:rPr lang="en-US"/>
              <a:t>.</a:t>
            </a:r>
            <a:endParaRPr lang="ko-KR" altLang="en-US"/>
          </a:p>
          <a:p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사용자가</a:t>
            </a:r>
            <a:r>
              <a:rPr lang="en-US" altLang="ko-KR"/>
              <a:t> </a:t>
            </a:r>
            <a:r>
              <a:rPr lang="ko-KR" altLang="en-US"/>
              <a:t>입력한</a:t>
            </a:r>
            <a:r>
              <a:rPr lang="en-US" altLang="ko-KR"/>
              <a:t> </a:t>
            </a:r>
            <a:r>
              <a:rPr lang="ko-KR" altLang="en-US"/>
              <a:t>문진</a:t>
            </a:r>
            <a:r>
              <a:rPr lang="en-US" altLang="ko-KR"/>
              <a:t> </a:t>
            </a:r>
            <a:r>
              <a:rPr lang="ko-KR" altLang="en-US"/>
              <a:t>데이터가</a:t>
            </a:r>
            <a:r>
              <a:rPr lang="en-US" altLang="ko-KR"/>
              <a:t> </a:t>
            </a:r>
            <a:r>
              <a:rPr lang="ko-KR" altLang="en-US" err="1"/>
              <a:t>머신러닝</a:t>
            </a:r>
            <a:r>
              <a:rPr lang="en-US" altLang="ko-KR"/>
              <a:t> </a:t>
            </a:r>
            <a:r>
              <a:rPr lang="ko-KR" altLang="en-US"/>
              <a:t>모델로</a:t>
            </a:r>
            <a:r>
              <a:rPr lang="en-US" altLang="ko-KR"/>
              <a:t> </a:t>
            </a:r>
            <a:r>
              <a:rPr lang="ko-KR" altLang="en-US"/>
              <a:t>들어가고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모델에서는</a:t>
            </a:r>
            <a:r>
              <a:rPr lang="en-US" altLang="ko-KR"/>
              <a:t> </a:t>
            </a:r>
            <a:r>
              <a:rPr lang="ko-KR" altLang="en-US"/>
              <a:t>건강</a:t>
            </a:r>
            <a:r>
              <a:rPr lang="en-US" altLang="ko-KR"/>
              <a:t> </a:t>
            </a:r>
            <a:r>
              <a:rPr lang="ko-KR" altLang="en-US"/>
              <a:t>위험</a:t>
            </a:r>
            <a:r>
              <a:rPr lang="en-US" altLang="ko-KR"/>
              <a:t> </a:t>
            </a:r>
            <a:r>
              <a:rPr lang="ko-KR" altLang="en-US"/>
              <a:t>확률과</a:t>
            </a:r>
            <a:r>
              <a:rPr lang="en-US" altLang="ko-KR"/>
              <a:t> </a:t>
            </a:r>
            <a:r>
              <a:rPr lang="ko-KR" altLang="en-US"/>
              <a:t>등급을</a:t>
            </a:r>
            <a:r>
              <a:rPr lang="en-US" altLang="ko-KR"/>
              <a:t> </a:t>
            </a:r>
            <a:r>
              <a:rPr lang="ko-KR" altLang="en-US"/>
              <a:t>계산합니다</a:t>
            </a:r>
            <a:r>
              <a:rPr lang="en-US"/>
              <a:t>.</a:t>
            </a:r>
            <a:endParaRPr lang="ko-KR"/>
          </a:p>
          <a:p>
            <a:endParaRPr lang="en-US" altLang="ko-KR"/>
          </a:p>
          <a:p>
            <a:r>
              <a:rPr lang="ko-KR" altLang="en-US"/>
              <a:t>확률만</a:t>
            </a:r>
            <a:r>
              <a:rPr lang="en-US" altLang="ko-KR"/>
              <a:t> </a:t>
            </a:r>
            <a:r>
              <a:rPr lang="ko-KR" altLang="en-US"/>
              <a:t>보여주면</a:t>
            </a:r>
            <a:r>
              <a:rPr lang="en-US" altLang="ko-KR"/>
              <a:t> </a:t>
            </a:r>
            <a:r>
              <a:rPr lang="ko-KR" altLang="en-US"/>
              <a:t>사용자가</a:t>
            </a:r>
            <a:r>
              <a:rPr lang="en-US" altLang="ko-KR"/>
              <a:t> </a:t>
            </a:r>
            <a:r>
              <a:rPr lang="ko-KR" altLang="en-US"/>
              <a:t>왜</a:t>
            </a:r>
            <a:r>
              <a:rPr lang="en-US" altLang="ko-KR"/>
              <a:t> </a:t>
            </a:r>
            <a:r>
              <a:rPr lang="ko-KR" altLang="en-US"/>
              <a:t>이런</a:t>
            </a:r>
            <a:r>
              <a:rPr lang="en-US" altLang="ko-KR"/>
              <a:t> </a:t>
            </a:r>
            <a:r>
              <a:rPr lang="ko-KR" altLang="en-US"/>
              <a:t>결과가</a:t>
            </a:r>
            <a:r>
              <a:rPr lang="en-US" altLang="ko-KR"/>
              <a:t> </a:t>
            </a:r>
            <a:r>
              <a:rPr lang="ko-KR" altLang="en-US"/>
              <a:t>나왔는지</a:t>
            </a:r>
            <a:r>
              <a:rPr lang="en-US" altLang="ko-KR"/>
              <a:t> </a:t>
            </a:r>
            <a:r>
              <a:rPr lang="ko-KR" altLang="en-US"/>
              <a:t>이해하기</a:t>
            </a:r>
            <a:r>
              <a:rPr lang="en-US" altLang="ko-KR"/>
              <a:t> </a:t>
            </a:r>
            <a:r>
              <a:rPr lang="ko-KR" altLang="en-US"/>
              <a:t>어렵기</a:t>
            </a:r>
            <a:r>
              <a:rPr lang="en-US" altLang="ko-KR"/>
              <a:t> </a:t>
            </a:r>
            <a:r>
              <a:rPr lang="ko-KR" altLang="en-US"/>
              <a:t>때문에</a:t>
            </a:r>
            <a:r>
              <a:rPr lang="en-US"/>
              <a:t> SHAP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이용해서</a:t>
            </a:r>
            <a:r>
              <a:rPr lang="en-US" altLang="ko-KR"/>
              <a:t> </a:t>
            </a:r>
            <a:r>
              <a:rPr lang="ko-KR" altLang="en-US"/>
              <a:t>예측에</a:t>
            </a:r>
            <a:r>
              <a:rPr lang="en-US" altLang="ko-KR"/>
              <a:t> </a:t>
            </a:r>
            <a:r>
              <a:rPr lang="ko-KR" altLang="en-US"/>
              <a:t>영향을</a:t>
            </a:r>
            <a:r>
              <a:rPr lang="en-US" altLang="ko-KR"/>
              <a:t> </a:t>
            </a:r>
            <a:r>
              <a:rPr lang="ko-KR" altLang="en-US"/>
              <a:t>많이</a:t>
            </a:r>
            <a:r>
              <a:rPr lang="en-US" altLang="ko-KR"/>
              <a:t> </a:t>
            </a:r>
            <a:r>
              <a:rPr lang="ko-KR" altLang="en-US"/>
              <a:t>준</a:t>
            </a:r>
            <a:r>
              <a:rPr lang="en-US" altLang="ko-KR"/>
              <a:t> </a:t>
            </a:r>
            <a:r>
              <a:rPr lang="ko-KR" altLang="en-US" err="1"/>
              <a:t>입력값을</a:t>
            </a:r>
            <a:r>
              <a:rPr lang="en-US" altLang="ko-KR"/>
              <a:t> </a:t>
            </a:r>
            <a:r>
              <a:rPr lang="ko-KR" altLang="en-US"/>
              <a:t>추출했습니다</a:t>
            </a:r>
            <a:r>
              <a:rPr lang="en-US"/>
              <a:t>.</a:t>
            </a:r>
            <a:endParaRPr lang="ko-KR"/>
          </a:p>
          <a:p>
            <a:endParaRPr lang="ko-KR" altLang="en-US"/>
          </a:p>
          <a:p>
            <a:r>
              <a:rPr lang="ko-KR" altLang="en-US"/>
              <a:t>그 다음 해당</a:t>
            </a:r>
            <a:r>
              <a:rPr lang="en-US" altLang="ko-KR"/>
              <a:t> </a:t>
            </a:r>
            <a:r>
              <a:rPr lang="ko-KR" altLang="en-US"/>
              <a:t>위험</a:t>
            </a:r>
            <a:r>
              <a:rPr lang="en-US" altLang="ko-KR"/>
              <a:t> </a:t>
            </a:r>
            <a:r>
              <a:rPr lang="ko-KR" altLang="en-US"/>
              <a:t>요인과</a:t>
            </a:r>
            <a:r>
              <a:rPr lang="en-US" altLang="ko-KR"/>
              <a:t> </a:t>
            </a:r>
            <a:r>
              <a:rPr lang="ko-KR" altLang="en-US"/>
              <a:t>관련된</a:t>
            </a:r>
            <a:r>
              <a:rPr lang="en-US" altLang="ko-KR"/>
              <a:t> </a:t>
            </a:r>
            <a:r>
              <a:rPr lang="ko-KR" altLang="en-US"/>
              <a:t>반려동물</a:t>
            </a:r>
            <a:r>
              <a:rPr lang="en-US" altLang="ko-KR"/>
              <a:t> </a:t>
            </a:r>
            <a:r>
              <a:rPr lang="ko-KR" altLang="en-US"/>
              <a:t>건강</a:t>
            </a:r>
            <a:r>
              <a:rPr lang="en-US" altLang="ko-KR"/>
              <a:t> </a:t>
            </a:r>
            <a:r>
              <a:rPr lang="ko-KR" altLang="en-US"/>
              <a:t>문서를</a:t>
            </a:r>
            <a:r>
              <a:rPr lang="en-US"/>
              <a:t> RAG</a:t>
            </a:r>
            <a:r>
              <a:rPr lang="en-US" altLang="ko-KR"/>
              <a:t> </a:t>
            </a:r>
            <a:r>
              <a:rPr lang="ko-KR" altLang="en-US"/>
              <a:t>방식으로</a:t>
            </a:r>
            <a:r>
              <a:rPr lang="en-US" altLang="ko-KR"/>
              <a:t> </a:t>
            </a:r>
            <a:r>
              <a:rPr lang="ko-KR" altLang="en-US"/>
              <a:t>검색합니다</a:t>
            </a:r>
            <a:r>
              <a:rPr lang="en-US"/>
              <a:t>.</a:t>
            </a:r>
            <a:endParaRPr lang="ko-KR"/>
          </a:p>
          <a:p>
            <a:endParaRPr lang="en-US" altLang="ko-KR"/>
          </a:p>
          <a:p>
            <a:r>
              <a:rPr lang="ko-KR" altLang="en-US"/>
              <a:t>마지막으로</a:t>
            </a:r>
            <a:r>
              <a:rPr lang="en-US" altLang="ko-KR"/>
              <a:t> </a:t>
            </a:r>
            <a:r>
              <a:rPr lang="ko-KR" altLang="en-US"/>
              <a:t>검색된</a:t>
            </a:r>
            <a:r>
              <a:rPr lang="en-US" altLang="ko-KR"/>
              <a:t> </a:t>
            </a:r>
            <a:r>
              <a:rPr lang="ko-KR" altLang="en-US"/>
              <a:t>근거와</a:t>
            </a:r>
            <a:r>
              <a:rPr lang="en-US" altLang="ko-KR"/>
              <a:t> </a:t>
            </a:r>
            <a:r>
              <a:rPr lang="ko-KR" altLang="en-US"/>
              <a:t>모델</a:t>
            </a:r>
            <a:r>
              <a:rPr lang="en-US" altLang="ko-KR"/>
              <a:t> </a:t>
            </a:r>
            <a:r>
              <a:rPr lang="ko-KR" altLang="en-US"/>
              <a:t>결과를</a:t>
            </a:r>
            <a:r>
              <a:rPr lang="en-US"/>
              <a:t> Gemini</a:t>
            </a:r>
            <a:r>
              <a:rPr lang="ko-KR" altLang="en-US" err="1"/>
              <a:t>에</a:t>
            </a:r>
            <a:r>
              <a:rPr lang="en-US" altLang="ko-KR"/>
              <a:t> </a:t>
            </a:r>
            <a:r>
              <a:rPr lang="ko-KR" altLang="en-US"/>
              <a:t>전달해서</a:t>
            </a:r>
            <a:r>
              <a:rPr lang="en-US" altLang="ko-KR"/>
              <a:t> </a:t>
            </a:r>
            <a:r>
              <a:rPr lang="ko-KR" altLang="en-US"/>
              <a:t>보호자가</a:t>
            </a:r>
            <a:r>
              <a:rPr lang="en-US" altLang="ko-KR"/>
              <a:t> </a:t>
            </a:r>
            <a:r>
              <a:rPr lang="ko-KR" altLang="en-US"/>
              <a:t>이해하기</a:t>
            </a:r>
            <a:r>
              <a:rPr lang="en-US" altLang="ko-KR"/>
              <a:t> </a:t>
            </a:r>
            <a:r>
              <a:rPr lang="ko-KR" altLang="en-US"/>
              <a:t>쉬운</a:t>
            </a:r>
            <a:r>
              <a:rPr lang="en-US" altLang="ko-KR"/>
              <a:t> </a:t>
            </a:r>
            <a:r>
              <a:rPr lang="ko-KR" altLang="en-US"/>
              <a:t>자연어</a:t>
            </a:r>
            <a:r>
              <a:rPr lang="en-US" altLang="ko-KR"/>
              <a:t> </a:t>
            </a:r>
            <a:r>
              <a:rPr lang="ko-KR" altLang="en-US"/>
              <a:t>설명으로</a:t>
            </a:r>
            <a:r>
              <a:rPr lang="en-US" altLang="ko-KR"/>
              <a:t> </a:t>
            </a:r>
            <a:r>
              <a:rPr lang="ko-KR" altLang="en-US"/>
              <a:t>변환합니다.</a:t>
            </a:r>
            <a:endParaRPr lang="en-US" altLang="ko-KR"/>
          </a:p>
          <a:p>
            <a:endParaRPr lang="ko-KR" altLang="en-US"/>
          </a:p>
          <a:p>
            <a:r>
              <a:rPr lang="ko-KR" altLang="en-US"/>
              <a:t>즉, 위험도와</a:t>
            </a:r>
            <a:r>
              <a:rPr lang="en-US" altLang="ko-KR"/>
              <a:t> </a:t>
            </a:r>
            <a:r>
              <a:rPr lang="en-US" err="1"/>
              <a:t>등급</a:t>
            </a:r>
            <a:r>
              <a:rPr lang="en-US"/>
              <a:t> </a:t>
            </a:r>
            <a:r>
              <a:rPr lang="en-US" err="1"/>
              <a:t>계산은</a:t>
            </a:r>
            <a:r>
              <a:rPr lang="en-US"/>
              <a:t> </a:t>
            </a:r>
            <a:r>
              <a:rPr lang="ko-KR" altLang="en-US"/>
              <a:t>코드와</a:t>
            </a:r>
            <a:r>
              <a:rPr lang="en-US" altLang="ko-KR"/>
              <a:t> </a:t>
            </a:r>
            <a:r>
              <a:rPr lang="ko-KR" altLang="en-US"/>
              <a:t>모델이</a:t>
            </a:r>
            <a:r>
              <a:rPr lang="en-US" altLang="ko-KR"/>
              <a:t> </a:t>
            </a:r>
            <a:r>
              <a:rPr lang="en-US" err="1"/>
              <a:t>담당하고</a:t>
            </a:r>
            <a:r>
              <a:rPr lang="en-US"/>
              <a:t>, </a:t>
            </a:r>
            <a:r>
              <a:rPr lang="en-US" err="1"/>
              <a:t>Gemini는</a:t>
            </a:r>
            <a:r>
              <a:rPr lang="en-US"/>
              <a:t> </a:t>
            </a:r>
            <a:r>
              <a:rPr lang="ko-KR" altLang="en-US"/>
              <a:t>그</a:t>
            </a:r>
            <a:r>
              <a:rPr lang="en-US" altLang="ko-KR"/>
              <a:t> </a:t>
            </a:r>
            <a:r>
              <a:rPr lang="en-US" err="1"/>
              <a:t>결과를</a:t>
            </a:r>
            <a:r>
              <a:rPr lang="en-US"/>
              <a:t> </a:t>
            </a:r>
            <a:r>
              <a:rPr lang="ko-KR" altLang="en-US"/>
              <a:t>자연스럽게</a:t>
            </a:r>
            <a:r>
              <a:rPr lang="en-US" altLang="ko-KR"/>
              <a:t> </a:t>
            </a:r>
            <a:r>
              <a:rPr lang="ko-KR" altLang="en-US"/>
              <a:t>설명하는</a:t>
            </a:r>
            <a:r>
              <a:rPr lang="en-US" altLang="ko-KR"/>
              <a:t> </a:t>
            </a:r>
            <a:r>
              <a:rPr lang="ko-KR" altLang="en-US"/>
              <a:t>역할만</a:t>
            </a:r>
            <a:r>
              <a:rPr lang="en-US" altLang="ko-KR"/>
              <a:t> </a:t>
            </a:r>
            <a:r>
              <a:rPr lang="ko-KR" altLang="en-US"/>
              <a:t>담당하도록</a:t>
            </a:r>
            <a:r>
              <a:rPr lang="en-US" altLang="ko-KR"/>
              <a:t> </a:t>
            </a:r>
            <a:r>
              <a:rPr lang="ko-KR" altLang="en-US"/>
              <a:t>분리했습니다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ko-KR" altLang="en-US"/>
              <a:t>만약, 생성형</a:t>
            </a:r>
            <a:r>
              <a:rPr lang="en-US" altLang="ko-KR"/>
              <a:t> </a:t>
            </a:r>
            <a:r>
              <a:rPr lang="en-US"/>
              <a:t>AI</a:t>
            </a:r>
            <a:r>
              <a:rPr lang="ko-KR" altLang="en-US"/>
              <a:t>가</a:t>
            </a:r>
            <a:r>
              <a:rPr lang="en-US" altLang="ko-KR"/>
              <a:t> </a:t>
            </a:r>
            <a:r>
              <a:rPr lang="ko-KR" altLang="en-US"/>
              <a:t>실패할</a:t>
            </a:r>
            <a:r>
              <a:rPr lang="en-US" altLang="ko-KR"/>
              <a:t> </a:t>
            </a:r>
            <a:r>
              <a:rPr lang="ko-KR" altLang="en-US"/>
              <a:t>경우에도</a:t>
            </a:r>
            <a:r>
              <a:rPr lang="en-US" altLang="ko-KR"/>
              <a:t> </a:t>
            </a:r>
            <a:r>
              <a:rPr lang="ko-KR" altLang="en-US"/>
              <a:t>기본</a:t>
            </a:r>
            <a:r>
              <a:rPr lang="en-US" altLang="ko-KR"/>
              <a:t> </a:t>
            </a:r>
            <a:r>
              <a:rPr lang="ko-KR" altLang="en-US"/>
              <a:t>결과를</a:t>
            </a:r>
            <a:r>
              <a:rPr lang="en-US" altLang="ko-KR"/>
              <a:t> </a:t>
            </a:r>
            <a:r>
              <a:rPr lang="ko-KR" altLang="en-US"/>
              <a:t>보여줄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있도록</a:t>
            </a:r>
            <a:r>
              <a:rPr lang="en-US" altLang="ko-KR"/>
              <a:t> </a:t>
            </a:r>
            <a:r>
              <a:rPr lang="ko-KR" altLang="en-US"/>
              <a:t>별도의</a:t>
            </a:r>
            <a:r>
              <a:rPr lang="en-US" altLang="ko-KR"/>
              <a:t> </a:t>
            </a:r>
            <a:r>
              <a:rPr lang="ko-KR" altLang="en-US"/>
              <a:t>대체</a:t>
            </a:r>
            <a:r>
              <a:rPr lang="en-US" altLang="ko-KR"/>
              <a:t> </a:t>
            </a:r>
            <a:r>
              <a:rPr lang="ko-KR" altLang="en-US"/>
              <a:t>응답도</a:t>
            </a:r>
            <a:r>
              <a:rPr lang="en-US" altLang="ko-KR"/>
              <a:t> </a:t>
            </a:r>
            <a:r>
              <a:rPr lang="ko-KR" altLang="en-US"/>
              <a:t>구성했습니다</a:t>
            </a:r>
            <a:r>
              <a:rPr lang="en-US"/>
              <a:t>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C6CE-01A0-8AB5-E101-2752F849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52583-4BAD-A16D-2A8C-23B57A9B6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70CD3-7B7B-8BBF-1AEE-47BB0BF8F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 </a:t>
            </a:r>
            <a:r>
              <a:rPr lang="ko-KR" altLang="en-US"/>
              <a:t>모델을 선정하기 위해 총</a:t>
            </a:r>
            <a:r>
              <a:rPr lang="en-US"/>
              <a:t> </a:t>
            </a:r>
            <a:r>
              <a:rPr lang="ko-KR" altLang="en-US"/>
              <a:t>네</a:t>
            </a:r>
            <a:r>
              <a:rPr lang="en-US"/>
              <a:t> </a:t>
            </a:r>
            <a:r>
              <a:rPr lang="ko-KR" altLang="en-US"/>
              <a:t>가지</a:t>
            </a:r>
            <a:r>
              <a:rPr lang="en-US"/>
              <a:t> </a:t>
            </a:r>
            <a:r>
              <a:rPr lang="ko-KR" altLang="en-US"/>
              <a:t>모델을</a:t>
            </a:r>
            <a:r>
              <a:rPr lang="en-US"/>
              <a:t> </a:t>
            </a:r>
            <a:r>
              <a:rPr lang="ko-KR" altLang="en-US"/>
              <a:t>비교했습니다.</a:t>
            </a:r>
          </a:p>
          <a:p>
            <a:r>
              <a:rPr lang="ko-KR" altLang="en-US"/>
              <a:t>학습에는</a:t>
            </a:r>
            <a:r>
              <a:rPr lang="en-US"/>
              <a:t> </a:t>
            </a:r>
            <a:r>
              <a:rPr lang="ko-KR" altLang="en-US"/>
              <a:t>약</a:t>
            </a:r>
            <a:r>
              <a:rPr lang="en-US"/>
              <a:t> 1</a:t>
            </a:r>
            <a:r>
              <a:rPr lang="ko-KR" altLang="en-US"/>
              <a:t>만</a:t>
            </a:r>
            <a:r>
              <a:rPr lang="en-US"/>
              <a:t> </a:t>
            </a:r>
            <a:r>
              <a:rPr lang="ko-KR" altLang="en-US"/>
              <a:t>건의</a:t>
            </a:r>
            <a:r>
              <a:rPr lang="en-US"/>
              <a:t> </a:t>
            </a:r>
            <a:r>
              <a:rPr lang="ko-KR" altLang="en-US"/>
              <a:t>합성</a:t>
            </a:r>
            <a:r>
              <a:rPr lang="en-US"/>
              <a:t> </a:t>
            </a:r>
            <a:r>
              <a:rPr lang="ko-KR" altLang="en-US"/>
              <a:t>데이터를</a:t>
            </a:r>
            <a:r>
              <a:rPr lang="en-US"/>
              <a:t> </a:t>
            </a:r>
            <a:r>
              <a:rPr lang="ko-KR" altLang="en-US"/>
              <a:t>사용했고</a:t>
            </a:r>
            <a:r>
              <a:rPr lang="en-US"/>
              <a:t>, </a:t>
            </a:r>
            <a:r>
              <a:rPr lang="ko-KR" altLang="en-US"/>
              <a:t>같은</a:t>
            </a:r>
            <a:r>
              <a:rPr lang="en-US"/>
              <a:t> </a:t>
            </a:r>
            <a:r>
              <a:rPr lang="ko-KR" altLang="en-US"/>
              <a:t>데이터</a:t>
            </a:r>
            <a:r>
              <a:rPr lang="en-US"/>
              <a:t> </a:t>
            </a:r>
            <a:r>
              <a:rPr lang="ko-KR" altLang="en-US"/>
              <a:t>조건에서</a:t>
            </a:r>
            <a:r>
              <a:rPr lang="en-US"/>
              <a:t> </a:t>
            </a:r>
            <a:r>
              <a:rPr lang="ko-KR" err="1"/>
              <a:t>Logistic</a:t>
            </a:r>
            <a:r>
              <a:rPr lang="ko-KR"/>
              <a:t> </a:t>
            </a:r>
            <a:r>
              <a:rPr lang="ko-KR" err="1"/>
              <a:t>Regression</a:t>
            </a:r>
            <a:r>
              <a:rPr lang="ko-KR"/>
              <a:t>, </a:t>
            </a:r>
            <a:r>
              <a:rPr lang="ko-KR" err="1"/>
              <a:t>Random</a:t>
            </a:r>
            <a:r>
              <a:rPr lang="ko-KR"/>
              <a:t> </a:t>
            </a:r>
            <a:r>
              <a:rPr lang="ko-KR" err="1"/>
              <a:t>Forest</a:t>
            </a:r>
            <a:r>
              <a:rPr lang="ko-KR"/>
              <a:t>, </a:t>
            </a:r>
            <a:r>
              <a:rPr lang="ko-KR" err="1"/>
              <a:t>XGBoost</a:t>
            </a:r>
            <a:r>
              <a:rPr lang="ko-KR"/>
              <a:t>, </a:t>
            </a:r>
            <a:r>
              <a:rPr lang="ko-KR" err="1"/>
              <a:t>LightGBM</a:t>
            </a:r>
            <a:r>
              <a:rPr lang="ko-KR"/>
              <a:t> </a:t>
            </a:r>
            <a:r>
              <a:rPr lang="ko-KR" altLang="en-US"/>
              <a:t>각</a:t>
            </a:r>
            <a:r>
              <a:rPr lang="en-US"/>
              <a:t> </a:t>
            </a:r>
            <a:r>
              <a:rPr lang="ko-KR" altLang="en-US"/>
              <a:t>모델의</a:t>
            </a:r>
            <a:r>
              <a:rPr lang="en-US"/>
              <a:t> </a:t>
            </a:r>
            <a:r>
              <a:rPr lang="ko-KR" altLang="en-US"/>
              <a:t>성능을</a:t>
            </a:r>
            <a:r>
              <a:rPr lang="en-US"/>
              <a:t> </a:t>
            </a:r>
            <a:r>
              <a:rPr lang="ko-KR" altLang="en-US"/>
              <a:t>비교했습니다</a:t>
            </a:r>
            <a:r>
              <a:rPr lang="en-US"/>
              <a:t>.</a:t>
            </a:r>
          </a:p>
          <a:p>
            <a:endParaRPr lang="en-US"/>
          </a:p>
          <a:p>
            <a:r>
              <a:rPr lang="ko-KR" altLang="en-US"/>
              <a:t>평가 기준은</a:t>
            </a:r>
            <a:r>
              <a:rPr lang="en-US"/>
              <a:t> Macro F1</a:t>
            </a:r>
            <a:r>
              <a:rPr lang="ko-KR" altLang="en-US"/>
              <a:t>을</a:t>
            </a:r>
            <a:r>
              <a:rPr lang="en-US"/>
              <a:t> </a:t>
            </a:r>
            <a:r>
              <a:rPr lang="ko-KR" altLang="en-US"/>
              <a:t>기준으로</a:t>
            </a:r>
            <a:r>
              <a:rPr lang="en-US"/>
              <a:t> </a:t>
            </a:r>
            <a:r>
              <a:rPr lang="ko-KR" altLang="en-US"/>
              <a:t>비교했고</a:t>
            </a:r>
            <a:r>
              <a:rPr lang="en-US"/>
              <a:t>, </a:t>
            </a:r>
            <a:r>
              <a:rPr lang="ko-KR" altLang="en-US"/>
              <a:t>그중</a:t>
            </a:r>
            <a:r>
              <a:rPr lang="en-US"/>
              <a:t> </a:t>
            </a:r>
            <a:r>
              <a:rPr lang="ko-KR" altLang="en-US"/>
              <a:t>성능이</a:t>
            </a:r>
            <a:r>
              <a:rPr lang="en-US"/>
              <a:t> </a:t>
            </a:r>
            <a:r>
              <a:rPr lang="ko-KR" altLang="en-US"/>
              <a:t>가장</a:t>
            </a:r>
            <a:r>
              <a:rPr lang="en-US"/>
              <a:t> </a:t>
            </a:r>
            <a:r>
              <a:rPr lang="ko-KR" altLang="en-US"/>
              <a:t>안정적이었던</a:t>
            </a:r>
            <a:r>
              <a:rPr lang="en-US"/>
              <a:t> </a:t>
            </a:r>
            <a:r>
              <a:rPr lang="en-US" err="1"/>
              <a:t>LightGBM</a:t>
            </a:r>
            <a:r>
              <a:rPr lang="ko-KR" altLang="en-US"/>
              <a:t>을</a:t>
            </a:r>
            <a:r>
              <a:rPr lang="en-US"/>
              <a:t> </a:t>
            </a:r>
            <a:r>
              <a:rPr lang="ko-KR" altLang="en-US"/>
              <a:t>최종</a:t>
            </a:r>
            <a:r>
              <a:rPr lang="en-US"/>
              <a:t> </a:t>
            </a:r>
            <a:r>
              <a:rPr lang="ko-KR" altLang="en-US"/>
              <a:t>모델로</a:t>
            </a:r>
            <a:r>
              <a:rPr lang="en-US"/>
              <a:t> </a:t>
            </a:r>
            <a:r>
              <a:rPr lang="ko-KR" altLang="en-US"/>
              <a:t>선택했습니다</a:t>
            </a:r>
            <a:r>
              <a:rPr lang="en-US"/>
              <a:t>.</a:t>
            </a:r>
            <a:endParaRPr/>
          </a:p>
          <a:p>
            <a:endParaRPr lang="ko-KR" altLang="en-US"/>
          </a:p>
          <a:p>
            <a:r>
              <a:rPr lang="ko-KR" altLang="en-US"/>
              <a:t>이 외에도 강아지와</a:t>
            </a:r>
            <a:r>
              <a:rPr lang="en-US"/>
              <a:t> </a:t>
            </a:r>
            <a:r>
              <a:rPr lang="ko-KR" altLang="en-US"/>
              <a:t>고양이는 </a:t>
            </a:r>
            <a:r>
              <a:rPr lang="ko-KR"/>
              <a:t>정상 체온과 심박수 기준이 다르기 </a:t>
            </a:r>
            <a:r>
              <a:rPr lang="ko-KR" altLang="en-US"/>
              <a:t>때문에 정확한 예측을 위해 동일한</a:t>
            </a:r>
            <a:r>
              <a:rPr lang="en-US"/>
              <a:t> </a:t>
            </a:r>
            <a:r>
              <a:rPr lang="ko-KR" altLang="en-US" err="1"/>
              <a:t>임계값을</a:t>
            </a:r>
            <a:r>
              <a:rPr lang="en-US"/>
              <a:t> </a:t>
            </a:r>
            <a:r>
              <a:rPr lang="ko-KR" altLang="en-US"/>
              <a:t>적용하지</a:t>
            </a:r>
            <a:r>
              <a:rPr lang="en-US"/>
              <a:t> </a:t>
            </a:r>
            <a:r>
              <a:rPr lang="ko-KR" altLang="en-US"/>
              <a:t>않고</a:t>
            </a:r>
            <a:r>
              <a:rPr lang="en-US"/>
              <a:t> </a:t>
            </a:r>
            <a:r>
              <a:rPr lang="ko-KR" altLang="en-US"/>
              <a:t>강아지</a:t>
            </a:r>
            <a:r>
              <a:rPr lang="en-US"/>
              <a:t>, </a:t>
            </a:r>
            <a:r>
              <a:rPr lang="ko-KR" altLang="en-US"/>
              <a:t>고양이를</a:t>
            </a:r>
            <a:r>
              <a:rPr lang="en-US"/>
              <a:t> </a:t>
            </a:r>
            <a:r>
              <a:rPr lang="ko-KR" altLang="en-US"/>
              <a:t>구분한 뒤 기준을</a:t>
            </a:r>
            <a:r>
              <a:rPr lang="en-US"/>
              <a:t> </a:t>
            </a:r>
            <a:r>
              <a:rPr lang="ko-KR" altLang="en-US"/>
              <a:t>따로</a:t>
            </a:r>
            <a:r>
              <a:rPr lang="en-US" altLang="ko-KR"/>
              <a:t> </a:t>
            </a:r>
            <a:r>
              <a:rPr lang="ko-KR" altLang="en-US"/>
              <a:t>적용했습니다</a:t>
            </a:r>
            <a:r>
              <a:rPr lang="en-US"/>
              <a:t>.</a:t>
            </a:r>
          </a:p>
          <a:p>
            <a:r>
              <a:rPr lang="ko-KR" altLang="en-US"/>
              <a:t>이를 통해 같은 수치라도, 반려동물의</a:t>
            </a:r>
            <a:r>
              <a:rPr lang="en-US"/>
              <a:t> </a:t>
            </a:r>
            <a:r>
              <a:rPr lang="ko-KR" altLang="en-US"/>
              <a:t>종에</a:t>
            </a:r>
            <a:r>
              <a:rPr lang="en-US"/>
              <a:t> </a:t>
            </a:r>
            <a:r>
              <a:rPr lang="ko-KR" altLang="en-US"/>
              <a:t>따라</a:t>
            </a:r>
            <a:r>
              <a:rPr lang="en-US"/>
              <a:t> </a:t>
            </a:r>
            <a:r>
              <a:rPr lang="ko-KR" altLang="en-US"/>
              <a:t>더욱</a:t>
            </a:r>
            <a:r>
              <a:rPr lang="en-US"/>
              <a:t> </a:t>
            </a:r>
            <a:r>
              <a:rPr lang="ko-KR" altLang="en-US"/>
              <a:t>적절한</a:t>
            </a:r>
            <a:r>
              <a:rPr lang="en-US"/>
              <a:t> </a:t>
            </a:r>
            <a:r>
              <a:rPr lang="ko-KR" altLang="en-US"/>
              <a:t>결과를</a:t>
            </a:r>
            <a:r>
              <a:rPr lang="en-US"/>
              <a:t> </a:t>
            </a:r>
            <a:r>
              <a:rPr lang="ko-KR" altLang="en-US"/>
              <a:t>얻을</a:t>
            </a:r>
            <a:r>
              <a:rPr lang="en-US"/>
              <a:t> </a:t>
            </a:r>
            <a:r>
              <a:rPr lang="ko-KR" altLang="en-US"/>
              <a:t>수</a:t>
            </a:r>
            <a:r>
              <a:rPr lang="en-US"/>
              <a:t> </a:t>
            </a:r>
            <a:r>
              <a:rPr lang="ko-KR" altLang="en-US"/>
              <a:t>있습니다</a:t>
            </a:r>
            <a:r>
              <a:rPr lang="en-US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FF62F-D1DA-84A3-416A-D40EEE8080A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3321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C6DA5-67FD-7B8D-1E06-D65BF56D7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4F1ED-B765-84AB-98F6-D437012EB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B8A5B-AAC3-10A0-E10E-66112B714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다음은</a:t>
            </a:r>
            <a:r>
              <a:rPr lang="en-US"/>
              <a:t> RAG</a:t>
            </a:r>
            <a:r>
              <a:rPr lang="ko-KR" altLang="en-US"/>
              <a:t>와</a:t>
            </a:r>
            <a:r>
              <a:rPr lang="en-US"/>
              <a:t> AI</a:t>
            </a:r>
            <a:r>
              <a:rPr lang="en-US" altLang="ko-KR"/>
              <a:t> </a:t>
            </a:r>
            <a:r>
              <a:rPr lang="ko-KR" altLang="en-US"/>
              <a:t>응답</a:t>
            </a:r>
            <a:r>
              <a:rPr lang="en-US" altLang="ko-KR"/>
              <a:t> </a:t>
            </a:r>
            <a:r>
              <a:rPr lang="ko-KR" altLang="en-US"/>
              <a:t>안정성</a:t>
            </a:r>
            <a:r>
              <a:rPr lang="en-US" altLang="ko-KR"/>
              <a:t> </a:t>
            </a:r>
            <a:r>
              <a:rPr lang="ko-KR" altLang="en-US"/>
              <a:t>부분입니다</a:t>
            </a:r>
            <a:r>
              <a:rPr lang="en-US"/>
              <a:t>.</a:t>
            </a:r>
            <a:endParaRPr lang="ko-KR" altLang="en-US"/>
          </a:p>
          <a:p>
            <a:endParaRPr lang="en-US"/>
          </a:p>
          <a:p>
            <a:r>
              <a:rPr lang="ko-KR"/>
              <a:t>생성형 </a:t>
            </a:r>
            <a:r>
              <a:rPr lang="en-US" altLang="ko-KR" err="1"/>
              <a:t>AI</a:t>
            </a:r>
            <a:r>
              <a:rPr lang="ko-KR" err="1"/>
              <a:t>만</a:t>
            </a:r>
            <a:r>
              <a:rPr lang="ko-KR"/>
              <a:t> 사용하면 응답 품질과 안정성이 외부 </a:t>
            </a:r>
            <a:r>
              <a:rPr lang="en-US" altLang="ko-KR"/>
              <a:t>API</a:t>
            </a:r>
            <a:r>
              <a:rPr lang="ko-KR"/>
              <a:t> 상태에 크게 영향을 받을 수 있습니다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r>
              <a:rPr lang="ko-KR"/>
              <a:t>그래서 반려동물 건강 관련 </a:t>
            </a:r>
            <a:r>
              <a:rPr lang="en-US" altLang="ko-KR"/>
              <a:t>44</a:t>
            </a:r>
            <a:r>
              <a:rPr lang="ko-KR"/>
              <a:t>개 지식 문서를 별도 코퍼스로 구성하고</a:t>
            </a:r>
            <a:r>
              <a:rPr lang="en-US" altLang="ko-KR"/>
              <a:t>,</a:t>
            </a:r>
            <a:r>
              <a:rPr lang="ko-KR"/>
              <a:t> 체온</a:t>
            </a:r>
            <a:r>
              <a:rPr lang="en-US" altLang="ko-KR"/>
              <a:t>,</a:t>
            </a:r>
            <a:r>
              <a:rPr lang="ko-KR"/>
              <a:t> 소화기</a:t>
            </a:r>
            <a:r>
              <a:rPr lang="en-US" altLang="ko-KR"/>
              <a:t>,</a:t>
            </a:r>
            <a:r>
              <a:rPr lang="ko-KR"/>
              <a:t> 피부</a:t>
            </a:r>
            <a:r>
              <a:rPr lang="en-US" altLang="ko-KR"/>
              <a:t>,</a:t>
            </a:r>
            <a:r>
              <a:rPr lang="ko-KR"/>
              <a:t> 호흡 등 증상별 기준으로 정리했습니다</a:t>
            </a:r>
            <a:r>
              <a:rPr lang="en-US" altLang="ko-KR"/>
              <a:t>.</a:t>
            </a:r>
            <a:endParaRPr lang="ko-KR" altLang="en-US">
              <a:solidFill>
                <a:srgbClr val="444444"/>
              </a:solidFill>
            </a:endParaRPr>
          </a:p>
          <a:p>
            <a:endParaRPr lang="en-US" altLang="ko-KR"/>
          </a:p>
          <a:p>
            <a:r>
              <a:rPr lang="ko-KR" altLang="en-US"/>
              <a:t>이</a:t>
            </a:r>
            <a:r>
              <a:rPr lang="en-US" altLang="ko-KR"/>
              <a:t> </a:t>
            </a:r>
            <a:r>
              <a:rPr lang="ko-KR" altLang="en-US"/>
              <a:t>문서들을</a:t>
            </a:r>
            <a:r>
              <a:rPr lang="en-US" altLang="ko-KR"/>
              <a:t> </a:t>
            </a:r>
            <a:r>
              <a:rPr lang="ko-KR" altLang="en-US" err="1"/>
              <a:t>임베딩해서</a:t>
            </a:r>
            <a:r>
              <a:rPr lang="en-US" altLang="ko-KR"/>
              <a:t> </a:t>
            </a:r>
            <a:r>
              <a:rPr lang="en-US" err="1"/>
              <a:t>ChromaDB</a:t>
            </a:r>
            <a:r>
              <a:rPr lang="ko-KR" altLang="en-US" err="1"/>
              <a:t>에</a:t>
            </a:r>
            <a:r>
              <a:rPr lang="en-US" altLang="ko-KR"/>
              <a:t> </a:t>
            </a:r>
            <a:r>
              <a:rPr lang="ko-KR" altLang="en-US"/>
              <a:t>저장하고</a:t>
            </a:r>
            <a:r>
              <a:rPr lang="en-US"/>
              <a:t>, </a:t>
            </a:r>
            <a:r>
              <a:rPr lang="ko-KR" altLang="en-US"/>
              <a:t>현재</a:t>
            </a:r>
            <a:r>
              <a:rPr lang="en-US" altLang="ko-KR"/>
              <a:t> </a:t>
            </a:r>
            <a:r>
              <a:rPr lang="ko-KR" altLang="en-US"/>
              <a:t>문진과</a:t>
            </a:r>
            <a:r>
              <a:rPr lang="en-US" altLang="ko-KR"/>
              <a:t> </a:t>
            </a:r>
            <a:r>
              <a:rPr lang="ko-KR" altLang="en-US"/>
              <a:t>관련도가</a:t>
            </a:r>
            <a:r>
              <a:rPr lang="en-US" altLang="ko-KR"/>
              <a:t> </a:t>
            </a:r>
            <a:r>
              <a:rPr lang="ko-KR" altLang="en-US"/>
              <a:t>높은</a:t>
            </a:r>
            <a:r>
              <a:rPr lang="en-US" altLang="ko-KR"/>
              <a:t> </a:t>
            </a:r>
            <a:r>
              <a:rPr lang="ko-KR" altLang="en-US"/>
              <a:t>상위</a:t>
            </a:r>
            <a:r>
              <a:rPr lang="en-US" altLang="ko-KR"/>
              <a:t> </a:t>
            </a:r>
            <a:r>
              <a:rPr lang="ko-KR" altLang="en-US"/>
              <a:t>문서를</a:t>
            </a:r>
            <a:r>
              <a:rPr lang="en-US" altLang="ko-KR"/>
              <a:t> </a:t>
            </a:r>
            <a:r>
              <a:rPr lang="ko-KR" altLang="en-US"/>
              <a:t>검색한</a:t>
            </a:r>
            <a:r>
              <a:rPr lang="en-US" altLang="ko-KR"/>
              <a:t> </a:t>
            </a:r>
            <a:r>
              <a:rPr lang="ko-KR" altLang="en-US"/>
              <a:t>뒤</a:t>
            </a:r>
            <a:r>
              <a:rPr lang="en-US" altLang="ko-KR"/>
              <a:t> </a:t>
            </a:r>
            <a:r>
              <a:rPr lang="en-US"/>
              <a:t>Gemini</a:t>
            </a:r>
            <a:r>
              <a:rPr lang="ko-KR" altLang="en-US" err="1"/>
              <a:t>에</a:t>
            </a:r>
            <a:r>
              <a:rPr lang="en-US" altLang="ko-KR"/>
              <a:t> </a:t>
            </a:r>
            <a:r>
              <a:rPr lang="ko-KR" altLang="en-US"/>
              <a:t>함께</a:t>
            </a:r>
            <a:r>
              <a:rPr lang="en-US" altLang="ko-KR"/>
              <a:t> </a:t>
            </a:r>
            <a:r>
              <a:rPr lang="ko-KR" altLang="en-US"/>
              <a:t>전달합니다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ko-KR" altLang="en-US"/>
              <a:t>그리고</a:t>
            </a:r>
            <a:r>
              <a:rPr lang="en-US" altLang="ko-KR"/>
              <a:t> </a:t>
            </a:r>
            <a:r>
              <a:rPr lang="ko-KR" altLang="en-US"/>
              <a:t>외부</a:t>
            </a:r>
            <a:r>
              <a:rPr lang="en-US"/>
              <a:t> AI</a:t>
            </a:r>
            <a:r>
              <a:rPr lang="ko-KR" altLang="en-US"/>
              <a:t>가 오류가 발생할 경우를 대비해</a:t>
            </a:r>
            <a:r>
              <a:rPr lang="en-US" altLang="ko-KR"/>
              <a:t> </a:t>
            </a:r>
            <a:r>
              <a:rPr lang="ko-KR" altLang="en-US"/>
              <a:t>응답을</a:t>
            </a:r>
            <a:r>
              <a:rPr lang="en-US" altLang="ko-KR"/>
              <a:t> </a:t>
            </a:r>
            <a:r>
              <a:rPr lang="ko-KR" altLang="en-US"/>
              <a:t>세</a:t>
            </a:r>
            <a:r>
              <a:rPr lang="en-US" altLang="ko-KR"/>
              <a:t> </a:t>
            </a:r>
            <a:r>
              <a:rPr lang="ko-KR" altLang="en-US"/>
              <a:t>단계로</a:t>
            </a:r>
            <a:r>
              <a:rPr lang="en-US" altLang="ko-KR"/>
              <a:t> </a:t>
            </a:r>
            <a:r>
              <a:rPr lang="ko-KR" altLang="en-US"/>
              <a:t>나눴습니다</a:t>
            </a:r>
            <a:r>
              <a:rPr lang="en-US"/>
              <a:t>.</a:t>
            </a:r>
            <a:endParaRPr/>
          </a:p>
          <a:p>
            <a:r>
              <a:rPr lang="ko-KR" altLang="en-US"/>
              <a:t>정상적으로</a:t>
            </a:r>
            <a:r>
              <a:rPr lang="en-US"/>
              <a:t> Gemini</a:t>
            </a:r>
            <a:r>
              <a:rPr lang="ko-KR" altLang="en-US"/>
              <a:t>가</a:t>
            </a:r>
            <a:r>
              <a:rPr lang="en-US" altLang="ko-KR"/>
              <a:t> </a:t>
            </a:r>
            <a:r>
              <a:rPr lang="ko-KR" altLang="en-US"/>
              <a:t>동작하면</a:t>
            </a:r>
            <a:r>
              <a:rPr lang="en-US"/>
              <a:t> RAG</a:t>
            </a:r>
            <a:r>
              <a:rPr lang="en-US" altLang="ko-KR"/>
              <a:t> </a:t>
            </a:r>
            <a:r>
              <a:rPr lang="ko-KR" altLang="en-US"/>
              <a:t>문서를</a:t>
            </a:r>
            <a:r>
              <a:rPr lang="en-US" altLang="ko-KR"/>
              <a:t> </a:t>
            </a:r>
            <a:r>
              <a:rPr lang="ko-KR" altLang="en-US"/>
              <a:t>포함한</a:t>
            </a:r>
            <a:r>
              <a:rPr lang="en-US" altLang="ko-KR"/>
              <a:t> </a:t>
            </a:r>
            <a:r>
              <a:rPr lang="ko-KR" altLang="en-US"/>
              <a:t>자연어</a:t>
            </a:r>
            <a:r>
              <a:rPr lang="en-US" altLang="ko-KR"/>
              <a:t> </a:t>
            </a:r>
            <a:r>
              <a:rPr lang="ko-KR" altLang="en-US"/>
              <a:t>설명을</a:t>
            </a:r>
            <a:r>
              <a:rPr lang="en-US" altLang="ko-KR"/>
              <a:t> </a:t>
            </a:r>
            <a:r>
              <a:rPr lang="ko-KR" altLang="en-US"/>
              <a:t>제공하고</a:t>
            </a:r>
            <a:r>
              <a:rPr lang="en-US"/>
              <a:t>, Gemini</a:t>
            </a:r>
            <a:r>
              <a:rPr lang="en-US" altLang="ko-KR"/>
              <a:t> </a:t>
            </a:r>
            <a:r>
              <a:rPr lang="ko-KR" altLang="en-US"/>
              <a:t>호출에</a:t>
            </a:r>
            <a:r>
              <a:rPr lang="en-US" altLang="ko-KR"/>
              <a:t> </a:t>
            </a:r>
            <a:r>
              <a:rPr lang="ko-KR" altLang="en-US"/>
              <a:t>실패하면</a:t>
            </a:r>
            <a:r>
              <a:rPr lang="en-US" altLang="ko-KR"/>
              <a:t> </a:t>
            </a:r>
            <a:r>
              <a:rPr lang="ko-KR" altLang="en-US"/>
              <a:t>미리</a:t>
            </a:r>
            <a:r>
              <a:rPr lang="en-US" altLang="ko-KR"/>
              <a:t> </a:t>
            </a:r>
            <a:r>
              <a:rPr lang="ko-KR" altLang="en-US"/>
              <a:t>구성한</a:t>
            </a:r>
            <a:r>
              <a:rPr lang="en-US" altLang="ko-KR"/>
              <a:t> </a:t>
            </a:r>
            <a:r>
              <a:rPr lang="ko-KR" altLang="en-US"/>
              <a:t>지식베이스에서</a:t>
            </a:r>
            <a:r>
              <a:rPr lang="en-US" altLang="ko-KR"/>
              <a:t> </a:t>
            </a:r>
            <a:r>
              <a:rPr lang="ko-KR" altLang="en-US"/>
              <a:t>관련</a:t>
            </a:r>
            <a:r>
              <a:rPr lang="en-US" altLang="ko-KR"/>
              <a:t> </a:t>
            </a:r>
            <a:r>
              <a:rPr lang="ko-KR" altLang="en-US"/>
              <a:t>내용을</a:t>
            </a:r>
            <a:r>
              <a:rPr lang="en-US" altLang="ko-KR"/>
              <a:t> </a:t>
            </a:r>
            <a:r>
              <a:rPr lang="ko-KR" altLang="en-US"/>
              <a:t>가져옵니다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ko-KR" altLang="en-US"/>
              <a:t>그마저 </a:t>
            </a:r>
            <a:r>
              <a:rPr lang="en-US" altLang="ko-KR" err="1"/>
              <a:t>오류가</a:t>
            </a:r>
            <a:r>
              <a:rPr lang="en-US" altLang="ko-KR"/>
              <a:t> </a:t>
            </a:r>
            <a:r>
              <a:rPr lang="en-US" altLang="ko-KR" err="1"/>
              <a:t>발생했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경우에는</a:t>
            </a:r>
            <a:r>
              <a:rPr lang="en-US" altLang="ko-KR"/>
              <a:t> </a:t>
            </a:r>
            <a:r>
              <a:rPr lang="ko-KR" altLang="en-US"/>
              <a:t>기본</a:t>
            </a:r>
            <a:r>
              <a:rPr lang="en-US" altLang="ko-KR"/>
              <a:t> </a:t>
            </a:r>
            <a:r>
              <a:rPr lang="ko-KR" altLang="en-US"/>
              <a:t>템플릿을</a:t>
            </a:r>
            <a:r>
              <a:rPr lang="en-US" altLang="ko-KR"/>
              <a:t> </a:t>
            </a:r>
            <a:r>
              <a:rPr lang="ko-KR" altLang="en-US"/>
              <a:t>이용해서</a:t>
            </a:r>
            <a:r>
              <a:rPr lang="en-US" altLang="ko-KR"/>
              <a:t> </a:t>
            </a:r>
            <a:r>
              <a:rPr lang="ko-KR" altLang="en-US"/>
              <a:t>최소한의</a:t>
            </a:r>
            <a:r>
              <a:rPr lang="en-US" altLang="ko-KR"/>
              <a:t> </a:t>
            </a:r>
            <a:r>
              <a:rPr lang="ko-KR" altLang="en-US"/>
              <a:t>관찰</a:t>
            </a:r>
            <a:r>
              <a:rPr lang="en-US" altLang="ko-KR"/>
              <a:t> </a:t>
            </a:r>
            <a:r>
              <a:rPr lang="ko-KR" altLang="en-US"/>
              <a:t>가이드를</a:t>
            </a:r>
            <a:r>
              <a:rPr lang="en-US" altLang="ko-KR"/>
              <a:t> </a:t>
            </a:r>
            <a:r>
              <a:rPr lang="ko-KR" altLang="en-US"/>
              <a:t>제공하도록</a:t>
            </a:r>
            <a:r>
              <a:rPr lang="en-US" altLang="ko-KR"/>
              <a:t> </a:t>
            </a:r>
            <a:r>
              <a:rPr lang="ko-KR" altLang="en-US"/>
              <a:t>했습니다</a:t>
            </a:r>
            <a:r>
              <a:rPr lang="en-US"/>
              <a:t>.</a:t>
            </a:r>
          </a:p>
          <a:p>
            <a:endParaRPr lang="en-US"/>
          </a:p>
          <a:p>
            <a:r>
              <a:rPr lang="ko-KR" altLang="en-US"/>
              <a:t>단계별 </a:t>
            </a:r>
            <a:r>
              <a:rPr lang="ko-KR"/>
              <a:t>오류 대비를 </a:t>
            </a:r>
            <a:r>
              <a:rPr lang="ko-KR" altLang="en-US"/>
              <a:t>통해</a:t>
            </a:r>
            <a:r>
              <a:rPr lang="ko-KR"/>
              <a:t> 사용자가 불편을 느끼지 않도록 안정성을 확보했습니다.</a:t>
            </a:r>
          </a:p>
          <a:p>
            <a:endParaRPr lang="ko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3998F-3283-3D35-ECD3-E5ED5D420FB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5099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다음은 사료</a:t>
            </a:r>
            <a:r>
              <a:rPr lang="en-US"/>
              <a:t> </a:t>
            </a:r>
            <a:r>
              <a:rPr lang="ko-KR" altLang="en-US"/>
              <a:t>추천</a:t>
            </a:r>
            <a:r>
              <a:rPr lang="en-US"/>
              <a:t> </a:t>
            </a:r>
            <a:r>
              <a:rPr lang="ko-KR" altLang="en-US"/>
              <a:t>기능입니다. </a:t>
            </a:r>
            <a:endParaRPr lang="ko-KR"/>
          </a:p>
          <a:p>
            <a:r>
              <a:rPr lang="ko-KR" altLang="en-US"/>
              <a:t>해당 기능은 특정</a:t>
            </a:r>
            <a:r>
              <a:rPr lang="en-US"/>
              <a:t> </a:t>
            </a:r>
            <a:r>
              <a:rPr lang="en-US" err="1"/>
              <a:t>사료</a:t>
            </a:r>
            <a:r>
              <a:rPr lang="en-US"/>
              <a:t> </a:t>
            </a:r>
            <a:r>
              <a:rPr lang="ko-KR" altLang="en-US"/>
              <a:t>제품을</a:t>
            </a:r>
            <a:r>
              <a:rPr lang="en-US"/>
              <a:t> </a:t>
            </a:r>
            <a:r>
              <a:rPr lang="ko-KR" altLang="en-US"/>
              <a:t>직접</a:t>
            </a:r>
            <a:r>
              <a:rPr lang="en-US"/>
              <a:t> </a:t>
            </a:r>
            <a:r>
              <a:rPr lang="ko-KR" altLang="en-US"/>
              <a:t>추천하는 방식이 아닌 성분을 추천하는 방식으로 진행했습니다. </a:t>
            </a:r>
          </a:p>
          <a:p>
            <a:endParaRPr lang="en-US" altLang="ko-KR"/>
          </a:p>
          <a:p>
            <a:r>
              <a:rPr lang="ko-KR"/>
              <a:t>이전 질병을</a:t>
            </a:r>
            <a:r>
              <a:rPr lang="en-US"/>
              <a:t> </a:t>
            </a:r>
            <a:r>
              <a:rPr lang="ko-KR"/>
              <a:t>진단함에 있어 의학 정보를 대체하지 </a:t>
            </a:r>
            <a:r>
              <a:rPr lang="ko-KR" altLang="en-US"/>
              <a:t>않았듯</a:t>
            </a:r>
            <a:r>
              <a:rPr lang="en-US" altLang="ko-KR"/>
              <a:t>,</a:t>
            </a:r>
            <a:r>
              <a:rPr lang="en-US"/>
              <a:t> </a:t>
            </a:r>
            <a:r>
              <a:rPr lang="ko-KR" altLang="en-US"/>
              <a:t>보호자가</a:t>
            </a:r>
            <a:r>
              <a:rPr lang="en-US"/>
              <a:t> </a:t>
            </a:r>
            <a:r>
              <a:rPr lang="ko-KR"/>
              <a:t>사료</a:t>
            </a:r>
            <a:r>
              <a:rPr lang="en-US"/>
              <a:t> </a:t>
            </a:r>
            <a:r>
              <a:rPr lang="ko-KR"/>
              <a:t>성분표를</a:t>
            </a:r>
            <a:r>
              <a:rPr lang="en-US"/>
              <a:t> </a:t>
            </a:r>
            <a:r>
              <a:rPr lang="ko-KR"/>
              <a:t>볼</a:t>
            </a:r>
            <a:r>
              <a:rPr lang="en-US"/>
              <a:t> </a:t>
            </a:r>
            <a:r>
              <a:rPr lang="ko-KR"/>
              <a:t>때</a:t>
            </a:r>
            <a:r>
              <a:rPr lang="en-US"/>
              <a:t> </a:t>
            </a:r>
            <a:r>
              <a:rPr lang="ko-KR"/>
              <a:t>참고할</a:t>
            </a:r>
            <a:r>
              <a:rPr lang="en-US"/>
              <a:t> </a:t>
            </a:r>
            <a:r>
              <a:rPr lang="ko-KR"/>
              <a:t>수</a:t>
            </a:r>
            <a:r>
              <a:rPr lang="en-US"/>
              <a:t> </a:t>
            </a:r>
            <a:r>
              <a:rPr lang="ko-KR"/>
              <a:t>있는</a:t>
            </a:r>
            <a:r>
              <a:rPr lang="en-US"/>
              <a:t> </a:t>
            </a:r>
            <a:r>
              <a:rPr lang="ko-KR"/>
              <a:t>방향을</a:t>
            </a:r>
            <a:r>
              <a:rPr lang="en-US"/>
              <a:t> </a:t>
            </a:r>
            <a:r>
              <a:rPr lang="ko-KR"/>
              <a:t>제공하는</a:t>
            </a:r>
            <a:r>
              <a:rPr lang="en-US"/>
              <a:t> </a:t>
            </a:r>
            <a:r>
              <a:rPr lang="ko-KR"/>
              <a:t>것을</a:t>
            </a:r>
            <a:r>
              <a:rPr lang="en-US"/>
              <a:t> </a:t>
            </a:r>
            <a:r>
              <a:rPr lang="ko-KR"/>
              <a:t>목표로</a:t>
            </a:r>
            <a:r>
              <a:rPr lang="en-US"/>
              <a:t> </a:t>
            </a:r>
            <a:r>
              <a:rPr lang="ko-KR"/>
              <a:t>했습니다</a:t>
            </a:r>
            <a:r>
              <a:rPr lang="en-US"/>
              <a:t>.</a:t>
            </a:r>
          </a:p>
          <a:p>
            <a:endParaRPr lang="en-US" altLang="ko-KR"/>
          </a:p>
          <a:p>
            <a:r>
              <a:rPr lang="en-US" altLang="ko-KR" err="1"/>
              <a:t>그렇기에</a:t>
            </a:r>
            <a:r>
              <a:rPr lang="en-US" altLang="ko-KR"/>
              <a:t>  </a:t>
            </a:r>
            <a:r>
              <a:rPr lang="ko-KR" altLang="en-US"/>
              <a:t>반려동물을 위해 입력한</a:t>
            </a:r>
            <a:r>
              <a:rPr lang="en-US"/>
              <a:t> </a:t>
            </a:r>
            <a:r>
              <a:rPr lang="ko-KR" altLang="en-US"/>
              <a:t>특이사항</a:t>
            </a:r>
            <a:r>
              <a:rPr lang="en-US" altLang="ko-KR"/>
              <a:t>, </a:t>
            </a:r>
            <a:r>
              <a:rPr lang="en-US" err="1"/>
              <a:t>알레르기</a:t>
            </a:r>
            <a:r>
              <a:rPr lang="en-US"/>
              <a:t> </a:t>
            </a:r>
            <a:r>
              <a:rPr lang="ko-KR" altLang="en-US"/>
              <a:t>정보</a:t>
            </a:r>
            <a:r>
              <a:rPr lang="en-US"/>
              <a:t>, </a:t>
            </a:r>
            <a:r>
              <a:rPr lang="ko-KR" altLang="en-US"/>
              <a:t>현재</a:t>
            </a:r>
            <a:r>
              <a:rPr lang="en-US"/>
              <a:t> </a:t>
            </a:r>
            <a:r>
              <a:rPr lang="ko-KR" altLang="en-US"/>
              <a:t>먹이고</a:t>
            </a:r>
            <a:r>
              <a:rPr lang="en-US"/>
              <a:t> </a:t>
            </a:r>
            <a:r>
              <a:rPr lang="ko-KR" altLang="en-US"/>
              <a:t>있는</a:t>
            </a:r>
            <a:r>
              <a:rPr lang="en-US"/>
              <a:t> </a:t>
            </a:r>
            <a:r>
              <a:rPr lang="ko-KR" altLang="en-US"/>
              <a:t>사료</a:t>
            </a:r>
            <a:r>
              <a:rPr lang="en-US"/>
              <a:t> </a:t>
            </a:r>
            <a:r>
              <a:rPr lang="ko-KR" altLang="en-US"/>
              <a:t>형태</a:t>
            </a:r>
            <a:r>
              <a:rPr lang="en-US"/>
              <a:t> </a:t>
            </a:r>
            <a:r>
              <a:rPr lang="ko-KR" altLang="en-US"/>
              <a:t>등을</a:t>
            </a:r>
            <a:r>
              <a:rPr lang="en-US"/>
              <a:t> </a:t>
            </a:r>
            <a:r>
              <a:rPr lang="en-US" err="1"/>
              <a:t>바탕으로</a:t>
            </a:r>
            <a:r>
              <a:rPr lang="en-US"/>
              <a:t> </a:t>
            </a:r>
            <a:r>
              <a:rPr lang="ko-KR" altLang="en-US"/>
              <a:t>어떤</a:t>
            </a:r>
            <a:r>
              <a:rPr lang="en-US"/>
              <a:t> </a:t>
            </a:r>
            <a:r>
              <a:rPr lang="ko-KR" altLang="en-US"/>
              <a:t>성분이</a:t>
            </a:r>
            <a:r>
              <a:rPr lang="en-US"/>
              <a:t> </a:t>
            </a:r>
            <a:r>
              <a:rPr lang="ko-KR" altLang="en-US"/>
              <a:t>도움이</a:t>
            </a:r>
            <a:r>
              <a:rPr lang="en-US"/>
              <a:t> </a:t>
            </a:r>
            <a:r>
              <a:rPr lang="ko-KR" altLang="en-US"/>
              <a:t>될</a:t>
            </a:r>
            <a:r>
              <a:rPr lang="en-US"/>
              <a:t> </a:t>
            </a:r>
            <a:r>
              <a:rPr lang="ko-KR" altLang="en-US"/>
              <a:t>수</a:t>
            </a:r>
            <a:r>
              <a:rPr lang="en-US"/>
              <a:t> </a:t>
            </a:r>
            <a:r>
              <a:rPr lang="ko-KR" altLang="en-US"/>
              <a:t>있는지</a:t>
            </a:r>
            <a:r>
              <a:rPr lang="en-US"/>
              <a:t>, </a:t>
            </a:r>
            <a:r>
              <a:rPr lang="ko-KR" altLang="en-US"/>
              <a:t>반대로</a:t>
            </a:r>
            <a:r>
              <a:rPr lang="en-US"/>
              <a:t> </a:t>
            </a:r>
            <a:r>
              <a:rPr lang="ko-KR" altLang="en-US"/>
              <a:t>어떤</a:t>
            </a:r>
            <a:r>
              <a:rPr lang="en-US"/>
              <a:t> </a:t>
            </a:r>
            <a:r>
              <a:rPr lang="ko-KR" altLang="en-US"/>
              <a:t>원료는</a:t>
            </a:r>
            <a:r>
              <a:rPr lang="en-US"/>
              <a:t> </a:t>
            </a:r>
            <a:r>
              <a:rPr lang="ko-KR" altLang="en-US"/>
              <a:t>주의해서</a:t>
            </a:r>
            <a:r>
              <a:rPr lang="en-US"/>
              <a:t> </a:t>
            </a:r>
            <a:r>
              <a:rPr lang="ko-KR" altLang="en-US"/>
              <a:t>확인하면</a:t>
            </a:r>
            <a:r>
              <a:rPr lang="en-US"/>
              <a:t> </a:t>
            </a:r>
            <a:r>
              <a:rPr lang="ko-KR" altLang="en-US"/>
              <a:t>좋은지를</a:t>
            </a:r>
            <a:r>
              <a:rPr lang="en-US"/>
              <a:t> </a:t>
            </a:r>
            <a:r>
              <a:rPr lang="ko-KR" altLang="en-US"/>
              <a:t>안내합니다</a:t>
            </a:r>
            <a:r>
              <a:rPr lang="en-US" altLang="ko-KR"/>
              <a:t>.</a:t>
            </a:r>
            <a:endParaRPr lang="en-US"/>
          </a:p>
          <a:p>
            <a:endParaRPr lang="en-US" altLang="ko-KR"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마지막으로 프로젝트에서 중점적으로 고려한 엔지니어링 설계입니다</a:t>
            </a:r>
            <a:r>
              <a:rPr lang="en-US" altLang="ko-KR"/>
              <a:t>.</a:t>
            </a:r>
            <a:endParaRPr lang="en-US"/>
          </a:p>
          <a:p>
            <a:endParaRPr lang="en-US"/>
          </a:p>
          <a:p>
            <a:r>
              <a:rPr lang="ko-KR" altLang="en-US"/>
              <a:t>첫 번째는 </a:t>
            </a:r>
            <a:r>
              <a:rPr lang="en-US" altLang="ko-KR" err="1"/>
              <a:t>Spring</a:t>
            </a:r>
            <a:r>
              <a:rPr lang="ko-KR" altLang="en-US"/>
              <a:t> 단일 관문입니다</a:t>
            </a:r>
            <a:r>
              <a:rPr lang="en-US" altLang="ko-KR"/>
              <a:t>.</a:t>
            </a:r>
            <a:r>
              <a:rPr lang="ko-KR" altLang="en-US"/>
              <a:t> 브라우저는 </a:t>
            </a:r>
            <a:r>
              <a:rPr lang="en-US" altLang="ko-KR" err="1"/>
              <a:t>Spring</a:t>
            </a:r>
            <a:r>
              <a:rPr lang="ko-KR" altLang="en-US"/>
              <a:t> </a:t>
            </a:r>
            <a:r>
              <a:rPr lang="en-US" altLang="ko-KR" err="1"/>
              <a:t>API</a:t>
            </a:r>
            <a:r>
              <a:rPr lang="ko-KR" altLang="en-US" err="1"/>
              <a:t>만</a:t>
            </a:r>
            <a:r>
              <a:rPr lang="ko-KR" altLang="en-US"/>
              <a:t> 호출하고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JWT</a:t>
            </a:r>
            <a:r>
              <a:rPr lang="ko-KR" altLang="en-US"/>
              <a:t> 인증과 소유권 검증도 </a:t>
            </a:r>
            <a:r>
              <a:rPr lang="en-US" altLang="ko-KR" err="1"/>
              <a:t>Spring</a:t>
            </a:r>
            <a:r>
              <a:rPr lang="ko-KR" altLang="en-US" err="1"/>
              <a:t>에서</a:t>
            </a:r>
            <a:r>
              <a:rPr lang="ko-KR" altLang="en-US"/>
              <a:t> 처리하도록 했습니다</a:t>
            </a:r>
            <a:r>
              <a:rPr lang="en-US" altLang="ko-KR"/>
              <a:t>.</a:t>
            </a:r>
            <a:endParaRPr lang="en-US">
              <a:solidFill>
                <a:srgbClr val="444444"/>
              </a:solidFill>
            </a:endParaRPr>
          </a:p>
          <a:p>
            <a:endParaRPr lang="en-US" altLang="ko-KR"/>
          </a:p>
          <a:p>
            <a:r>
              <a:rPr lang="en-US" altLang="ko-KR" err="1"/>
              <a:t>FastAPI</a:t>
            </a:r>
            <a:r>
              <a:rPr lang="ko-KR" altLang="en-US" err="1"/>
              <a:t>는</a:t>
            </a:r>
            <a:r>
              <a:rPr lang="ko-KR" altLang="en-US"/>
              <a:t> 외부에 직접 노출하지 않고 내부 </a:t>
            </a:r>
            <a:r>
              <a:rPr lang="en-US" altLang="ko-KR"/>
              <a:t>AI</a:t>
            </a:r>
            <a:r>
              <a:rPr lang="ko-KR" altLang="en-US"/>
              <a:t> 서비스로 분리했습니다</a:t>
            </a:r>
            <a:r>
              <a:rPr lang="en-US" altLang="ko-KR"/>
              <a:t>.</a:t>
            </a:r>
            <a:endParaRPr lang="en-US" altLang="ko-KR">
              <a:solidFill>
                <a:srgbClr val="444444"/>
              </a:solidFill>
            </a:endParaRPr>
          </a:p>
          <a:p>
            <a:endParaRPr lang="en-US" altLang="ko-KR"/>
          </a:p>
          <a:p>
            <a:r>
              <a:rPr lang="ko-KR" altLang="en-US"/>
              <a:t>두 번째는 문진과 예측의 생명주기 분리입니다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en-US" altLang="ko-KR">
              <a:solidFill>
                <a:srgbClr val="444444"/>
              </a:solidFill>
            </a:endParaRPr>
          </a:p>
          <a:p>
            <a:r>
              <a:rPr lang="ko-KR" altLang="en-US"/>
              <a:t>문진은 항상 저장하고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 결과는 선택적으로 연결해 </a:t>
            </a:r>
            <a:r>
              <a:rPr lang="ko-KR" altLang="en-US" err="1"/>
              <a:t>미분석</a:t>
            </a:r>
            <a:r>
              <a:rPr lang="ko-KR" altLang="en-US"/>
              <a:t> 기록도 재사용할 수 있게 했습니다</a:t>
            </a:r>
            <a:r>
              <a:rPr lang="en-US" altLang="ko-KR"/>
              <a:t>.</a:t>
            </a:r>
            <a:endParaRPr lang="en-US" altLang="ko-KR">
              <a:solidFill>
                <a:srgbClr val="444444"/>
              </a:solidFill>
            </a:endParaRPr>
          </a:p>
          <a:p>
            <a:endParaRPr lang="en-US" altLang="ko-KR"/>
          </a:p>
          <a:p>
            <a:r>
              <a:rPr lang="ko-KR" altLang="en-US"/>
              <a:t>세 번째는 </a:t>
            </a:r>
            <a:r>
              <a:rPr lang="en-US" altLang="ko-KR"/>
              <a:t>DB</a:t>
            </a:r>
            <a:r>
              <a:rPr lang="ko-KR" altLang="en-US"/>
              <a:t> 변경 이력 관리입니다</a:t>
            </a:r>
            <a:r>
              <a:rPr lang="en-US" altLang="ko-KR"/>
              <a:t>.</a:t>
            </a:r>
            <a:r>
              <a:rPr lang="ko-KR" altLang="en-US"/>
              <a:t> 주소</a:t>
            </a:r>
            <a:r>
              <a:rPr lang="en-US" altLang="ko-KR"/>
              <a:t>,</a:t>
            </a:r>
            <a:r>
              <a:rPr lang="ko-KR" altLang="en-US"/>
              <a:t> 프로필 이미지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QR,</a:t>
            </a:r>
            <a:r>
              <a:rPr lang="ko-KR" altLang="en-US"/>
              <a:t> 공개 범위</a:t>
            </a:r>
            <a:r>
              <a:rPr lang="en-US" altLang="ko-KR"/>
              <a:t>,</a:t>
            </a:r>
            <a:r>
              <a:rPr lang="ko-KR" altLang="en-US"/>
              <a:t> 주간 평균 정책처럼 기능 추가에 필요한 스키마 변경을 버전으로 관리했습니다</a:t>
            </a:r>
            <a:r>
              <a:rPr lang="en-US" altLang="ko-KR"/>
              <a:t>.</a:t>
            </a:r>
            <a:endParaRPr lang="en-US" altLang="ko-KR">
              <a:solidFill>
                <a:srgbClr val="444444"/>
              </a:solidFill>
            </a:endParaRPr>
          </a:p>
          <a:p>
            <a:endParaRPr lang="en-US" altLang="ko-KR"/>
          </a:p>
          <a:p>
            <a:r>
              <a:rPr lang="ko-KR" altLang="en-US"/>
              <a:t>마지막으로 </a:t>
            </a:r>
            <a:r>
              <a:rPr lang="en-US" altLang="ko-KR"/>
              <a:t>DB</a:t>
            </a:r>
            <a:r>
              <a:rPr lang="ko-KR" altLang="en-US"/>
              <a:t> 접속 정보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 키</a:t>
            </a:r>
            <a:r>
              <a:rPr lang="en-US" altLang="ko-KR"/>
              <a:t>,</a:t>
            </a:r>
            <a:r>
              <a:rPr lang="ko-KR" altLang="en-US"/>
              <a:t> 공공 </a:t>
            </a:r>
            <a:r>
              <a:rPr lang="en-US" altLang="ko-KR"/>
              <a:t>API</a:t>
            </a:r>
            <a:r>
              <a:rPr lang="ko-KR" altLang="en-US"/>
              <a:t> 키 같은 민감 정보는 환경변수로 분리하고 </a:t>
            </a:r>
            <a:r>
              <a:rPr lang="en-US" altLang="ko-KR" err="1"/>
              <a:t>Git</a:t>
            </a:r>
            <a:r>
              <a:rPr lang="ko-KR" altLang="en-US" err="1"/>
              <a:t>에는</a:t>
            </a:r>
            <a:r>
              <a:rPr lang="ko-KR" altLang="en-US"/>
              <a:t> 포함하지 않았습니다</a:t>
            </a:r>
            <a:r>
              <a:rPr lang="en-US" altLang="ko-KR"/>
              <a:t>.</a:t>
            </a:r>
            <a:endParaRPr lang="en-US" altLang="ko-KR">
              <a:solidFill>
                <a:srgbClr val="444444"/>
              </a:solidFill>
            </a:endParaRPr>
          </a:p>
          <a:p>
            <a:endParaRPr lang="en-US" altLang="ko-KR"/>
          </a:p>
          <a:p>
            <a:r>
              <a:rPr lang="ko-KR" altLang="en-US"/>
              <a:t>이런 구조를 통해 팀 프로젝트에서 충돌을 줄이고</a:t>
            </a:r>
            <a:r>
              <a:rPr lang="en-US" altLang="ko-KR"/>
              <a:t>,</a:t>
            </a:r>
            <a:r>
              <a:rPr lang="ko-KR" altLang="en-US"/>
              <a:t> 기능이 추가되어도 데이터 흐름이 끊기지 않게 관리했습니다</a:t>
            </a:r>
            <a:r>
              <a:rPr lang="en-US" altLang="ko-KR"/>
              <a:t>.</a:t>
            </a:r>
            <a:endParaRPr lang="en-US">
              <a:solidFill>
                <a:srgbClr val="444444"/>
              </a:solidFill>
            </a:endParaRPr>
          </a:p>
          <a:p>
            <a:endParaRPr lang="en-US"/>
          </a:p>
          <a:p>
            <a:r>
              <a:rPr lang="en-US"/>
              <a:t>Q. DB </a:t>
            </a:r>
            <a:r>
              <a:rPr lang="ko-KR" altLang="en-US"/>
              <a:t>이력관리는</a:t>
            </a:r>
            <a:r>
              <a:rPr lang="en-US"/>
              <a:t> </a:t>
            </a:r>
            <a:r>
              <a:rPr lang="ko-KR" altLang="en-US"/>
              <a:t>어떻게</a:t>
            </a:r>
            <a:r>
              <a:rPr lang="en-US"/>
              <a:t> </a:t>
            </a:r>
            <a:r>
              <a:rPr lang="ko-KR" altLang="en-US" err="1"/>
              <a:t>진행</a:t>
            </a:r>
            <a:r>
              <a:rPr lang="en-US" altLang="ko-KR"/>
              <a:t>?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Flyway : Flyway</a:t>
            </a:r>
            <a:r>
              <a:rPr lang="ko-KR" altLang="en-US"/>
              <a:t>는</a:t>
            </a:r>
            <a:r>
              <a:rPr lang="en-US"/>
              <a:t> </a:t>
            </a:r>
            <a:r>
              <a:rPr lang="ko-KR" altLang="en-US"/>
              <a:t>데이터베이스</a:t>
            </a:r>
            <a:r>
              <a:rPr lang="en-US"/>
              <a:t> </a:t>
            </a:r>
            <a:r>
              <a:rPr lang="ko-KR" altLang="en-US"/>
              <a:t>구조</a:t>
            </a:r>
            <a:r>
              <a:rPr lang="en-US"/>
              <a:t> </a:t>
            </a:r>
            <a:r>
              <a:rPr lang="ko-KR" altLang="en-US"/>
              <a:t>변경을</a:t>
            </a:r>
            <a:r>
              <a:rPr lang="en-US"/>
              <a:t> </a:t>
            </a:r>
            <a:r>
              <a:rPr lang="ko-KR" altLang="en-US"/>
              <a:t>버전별로</a:t>
            </a:r>
            <a:r>
              <a:rPr lang="en-US" altLang="ko-KR"/>
              <a:t> </a:t>
            </a:r>
            <a:r>
              <a:rPr lang="ko-KR" altLang="en-US"/>
              <a:t>관리하는</a:t>
            </a:r>
            <a:r>
              <a:rPr lang="en-US" altLang="ko-KR"/>
              <a:t> </a:t>
            </a:r>
            <a:r>
              <a:rPr lang="ko-KR" altLang="en-US"/>
              <a:t>마이그레이션</a:t>
            </a:r>
            <a:r>
              <a:rPr lang="en-US" altLang="ko-KR"/>
              <a:t> </a:t>
            </a:r>
            <a:r>
              <a:rPr lang="ko-KR" altLang="en-US"/>
              <a:t>도구이고</a:t>
            </a:r>
            <a:r>
              <a:rPr lang="en-US"/>
              <a:t>, </a:t>
            </a:r>
            <a:r>
              <a:rPr lang="ko-KR" altLang="en-US"/>
              <a:t>저희</a:t>
            </a:r>
            <a:r>
              <a:rPr lang="en-US" altLang="ko-KR"/>
              <a:t> </a:t>
            </a:r>
            <a:r>
              <a:rPr lang="ko-KR" altLang="en-US"/>
              <a:t>프로젝트에서는</a:t>
            </a:r>
            <a:r>
              <a:rPr lang="en-US" altLang="ko-KR"/>
              <a:t> Spring Boot </a:t>
            </a:r>
            <a:r>
              <a:rPr lang="ko-KR" altLang="en-US"/>
              <a:t>의존성으로</a:t>
            </a:r>
            <a:r>
              <a:rPr lang="en-US" altLang="ko-KR"/>
              <a:t> </a:t>
            </a:r>
            <a:r>
              <a:rPr lang="ko-KR" altLang="en-US"/>
              <a:t>추가해</a:t>
            </a:r>
            <a:r>
              <a:rPr lang="en-US" altLang="ko-KR"/>
              <a:t> </a:t>
            </a:r>
            <a:r>
              <a:rPr lang="ko-KR" altLang="en-US"/>
              <a:t>서버</a:t>
            </a:r>
            <a:r>
              <a:rPr lang="en-US"/>
              <a:t> </a:t>
            </a:r>
            <a:r>
              <a:rPr lang="ko-KR" altLang="en-US"/>
              <a:t>시작</a:t>
            </a:r>
            <a:r>
              <a:rPr lang="en-US"/>
              <a:t> </a:t>
            </a:r>
            <a:r>
              <a:rPr lang="ko-KR" altLang="en-US"/>
              <a:t>시</a:t>
            </a:r>
            <a:r>
              <a:rPr lang="en-US" altLang="ko-KR"/>
              <a:t> DB</a:t>
            </a:r>
            <a:r>
              <a:rPr lang="en-US"/>
              <a:t> </a:t>
            </a:r>
            <a:r>
              <a:rPr lang="ko-KR" altLang="en-US"/>
              <a:t>변경</a:t>
            </a:r>
            <a:r>
              <a:rPr lang="en-US"/>
              <a:t> </a:t>
            </a:r>
            <a:r>
              <a:rPr lang="ko-KR" altLang="en-US"/>
              <a:t>사항을</a:t>
            </a:r>
            <a:r>
              <a:rPr lang="en-US"/>
              <a:t> </a:t>
            </a:r>
            <a:r>
              <a:rPr lang="ko-KR" altLang="en-US"/>
              <a:t>자동</a:t>
            </a:r>
            <a:r>
              <a:rPr lang="en-US" altLang="ko-KR"/>
              <a:t> </a:t>
            </a:r>
            <a:r>
              <a:rPr lang="ko-KR" altLang="en-US"/>
              <a:t>적용하도록</a:t>
            </a:r>
            <a:r>
              <a:rPr lang="en-US" altLang="ko-KR"/>
              <a:t> </a:t>
            </a:r>
            <a:r>
              <a:rPr lang="ko-KR" altLang="en-US"/>
              <a:t>사용했습니다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ko-KR" altLang="en-US"/>
              <a:t>마이그레이션</a:t>
            </a:r>
            <a:r>
              <a:rPr lang="en-US" altLang="ko-KR"/>
              <a:t> </a:t>
            </a:r>
            <a:r>
              <a:rPr lang="ko-KR" altLang="en-US"/>
              <a:t>도구는</a:t>
            </a:r>
            <a:r>
              <a:rPr lang="en-US" altLang="ko-KR"/>
              <a:t> </a:t>
            </a:r>
            <a:r>
              <a:rPr lang="ko-KR" altLang="en-US" b="1"/>
              <a:t>데이터베이스의</a:t>
            </a:r>
            <a:r>
              <a:rPr lang="en-US" altLang="ko-KR" b="1"/>
              <a:t> </a:t>
            </a:r>
            <a:r>
              <a:rPr lang="ko-KR" altLang="en-US" b="1"/>
              <a:t>구조</a:t>
            </a:r>
            <a:r>
              <a:rPr lang="en-US" altLang="ko-KR" b="1"/>
              <a:t> </a:t>
            </a:r>
            <a:r>
              <a:rPr lang="ko-KR" altLang="en-US" b="1"/>
              <a:t>변경을</a:t>
            </a:r>
            <a:r>
              <a:rPr lang="en-US" altLang="ko-KR" b="1"/>
              <a:t> </a:t>
            </a:r>
            <a:r>
              <a:rPr lang="ko-KR" altLang="en-US" b="1"/>
              <a:t>안전하게</a:t>
            </a:r>
            <a:r>
              <a:rPr lang="en-US" altLang="ko-KR" b="1"/>
              <a:t> </a:t>
            </a:r>
            <a:r>
              <a:rPr lang="ko-KR" altLang="en-US" b="1"/>
              <a:t>옮기고</a:t>
            </a:r>
            <a:r>
              <a:rPr lang="en-US" altLang="ko-KR" b="1"/>
              <a:t> </a:t>
            </a:r>
            <a:r>
              <a:rPr lang="ko-KR" altLang="en-US" b="1"/>
              <a:t>기록하는</a:t>
            </a:r>
            <a:r>
              <a:rPr lang="en-US" altLang="ko-KR" b="1"/>
              <a:t> </a:t>
            </a:r>
            <a:r>
              <a:rPr lang="ko-KR" altLang="en-US" b="1"/>
              <a:t>도구</a:t>
            </a:r>
            <a:r>
              <a:rPr lang="ko-KR" altLang="en-US"/>
              <a:t>입니다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지금까지</a:t>
            </a:r>
            <a:r>
              <a:rPr lang="en-US" altLang="ko-KR"/>
              <a:t> </a:t>
            </a:r>
            <a:r>
              <a:rPr lang="ko-KR" altLang="en-US"/>
              <a:t>프로젝트의</a:t>
            </a:r>
            <a:r>
              <a:rPr lang="en-US" altLang="ko-KR"/>
              <a:t> </a:t>
            </a:r>
            <a:r>
              <a:rPr lang="en-US" err="1"/>
              <a:t>주요</a:t>
            </a:r>
            <a:r>
              <a:rPr lang="en-US" altLang="ko-KR"/>
              <a:t> </a:t>
            </a:r>
            <a:r>
              <a:rPr lang="en-US" err="1"/>
              <a:t>기능과</a:t>
            </a:r>
            <a:r>
              <a:rPr lang="en-US"/>
              <a:t> </a:t>
            </a:r>
            <a:r>
              <a:rPr lang="en-US" err="1"/>
              <a:t>구조를</a:t>
            </a:r>
            <a:r>
              <a:rPr lang="en-US"/>
              <a:t> </a:t>
            </a:r>
            <a:r>
              <a:rPr lang="ko-KR" altLang="en-US"/>
              <a:t>말씀드렸습니다</a:t>
            </a:r>
            <a:r>
              <a:rPr lang="en-US"/>
              <a:t>.</a:t>
            </a:r>
            <a:endParaRPr lang="ko-KR"/>
          </a:p>
          <a:p>
            <a:endParaRPr lang="ko-KR" altLang="en-US"/>
          </a:p>
          <a:p>
            <a:r>
              <a:rPr lang="ko-KR" altLang="en-US"/>
              <a:t>이제</a:t>
            </a:r>
            <a:r>
              <a:rPr lang="en-US" altLang="ko-KR"/>
              <a:t> </a:t>
            </a:r>
            <a:r>
              <a:rPr lang="en-US" altLang="ko-KR" err="1"/>
              <a:t>시연을</a:t>
            </a:r>
            <a:r>
              <a:rPr lang="en-US" altLang="ko-KR"/>
              <a:t> </a:t>
            </a:r>
            <a:r>
              <a:rPr lang="en-US" altLang="ko-KR" err="1"/>
              <a:t>통해</a:t>
            </a:r>
            <a:r>
              <a:rPr lang="en-US" altLang="ko-KR"/>
              <a:t> </a:t>
            </a:r>
            <a:r>
              <a:rPr lang="ko-KR" altLang="en-US"/>
              <a:t>구현된</a:t>
            </a:r>
            <a:r>
              <a:rPr lang="en-US"/>
              <a:t> </a:t>
            </a:r>
            <a:r>
              <a:rPr lang="ko-KR" altLang="en-US"/>
              <a:t>서비스를</a:t>
            </a:r>
            <a:r>
              <a:rPr lang="en-US"/>
              <a:t> </a:t>
            </a:r>
            <a:r>
              <a:rPr lang="ko-KR" altLang="en-US"/>
              <a:t>보여드리고 발표 마치겠습니다.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atpet.duckdns.org/lost-pet/1L_hQpcWAwlN6vVV0_1JIREr344-Rg9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9CADFD-915D-4A7A-AB26-6A5B522F81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E3A8BB-ADD0-4712-AF3E-0651C48F190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EFE8D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EFE8D6"/>
                </a:solidFill>
                <a:latin typeface="Arial Rounded MT Bold"/>
                <a:ea typeface="Arial Rounded MT Bold"/>
                <a:cs typeface="Arial Rounded MT Bold"/>
              </a:rPr>
              <a:t>PATPET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F2663222-CADD-4411-B986-D45F93FF70DF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39052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반려동물의</a:t>
            </a:r>
          </a:p>
          <a:p>
            <a:pPr algn="l">
              <a:lnSpc>
                <a:spcPct val="90000"/>
              </a:lnSpc>
              <a:buNone/>
              <a:def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일상 기록을</a:t>
            </a:r>
          </a:p>
          <a:p>
            <a:pPr algn="l">
              <a:lnSpc>
                <a:spcPct val="90000"/>
              </a:lnSpc>
              <a:buNone/>
              <a:def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건강 신호로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405DEE-B1DA-481A-BD30-C8FD9356A2FF}"/>
              </a:ext>
            </a:extLst>
          </p:cNvPr>
          <p:cNvSpPr>
            <a:spLocks noGrp="1"/>
          </p:cNvSpPr>
          <p:nvPr/>
        </p:nvSpPr>
        <p:spPr>
          <a:xfrm>
            <a:off x="628650" y="4429125"/>
            <a:ext cx="3714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353"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보호자의 관찰에서 시작해</a:t>
            </a:r>
          </a:p>
          <a:p>
            <a:pPr algn="l">
              <a:lnSpc>
                <a:spcPct val="118000"/>
              </a:lnSpc>
              <a:buNone/>
              <a:defRPr sz="1800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AI 분석·생활 관리·실종 대응까지 연결합니다.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F83445-7C4D-41FE-8F59-D5F1B91A404D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3381375" cy="361950"/>
          </a:xfrm>
          <a:prstGeom prst="roundRect">
            <a:avLst>
              <a:gd name="adj" fmla="val 50000"/>
            </a:avLst>
          </a:prstGeom>
          <a:solidFill>
            <a:srgbClr val="56613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D48B7-4455-42B9-97A6-34EEED42C41B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3190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박준하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 · 신민수</a:t>
            </a: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 · </a:t>
            </a: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정재혁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EFB2D7-2B44-4416-9ACE-CEB8D734D459}"/>
              </a:ext>
            </a:extLst>
          </p:cNvPr>
          <p:cNvSpPr>
            <a:spLocks noGrp="1"/>
          </p:cNvSpPr>
          <p:nvPr/>
        </p:nvSpPr>
        <p:spPr>
          <a:xfrm>
            <a:off x="5334000" y="447675"/>
            <a:ext cx="6334125" cy="5962650"/>
          </a:xfrm>
          <a:prstGeom prst="roundRect">
            <a:avLst>
              <a:gd name="adj" fmla="val 3834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11908" r="11908"/>
          <a:stretch>
            <a:fillRect/>
          </a:stretch>
        </p:blipFill>
        <p:spPr>
          <a:xfrm>
            <a:off x="5381625" y="495300"/>
            <a:ext cx="6238875" cy="5867400"/>
          </a:xfrm>
          <a:prstGeom prst="roundRect">
            <a:avLst>
              <a:gd name="adj" fmla="val 3896"/>
            </a:avLst>
          </a:prstGeom>
        </p:spPr>
      </p:pic>
    </p:spTree>
    <p:extLst>
      <p:ext uri="{BB962C8B-B14F-4D97-AF65-F5344CB8AC3E}">
        <p14:creationId xmlns:p14="http://schemas.microsoft.com/office/powerpoint/2010/main" val="2055446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8817D813-9727-4B24-BC89-E4F7376C51DF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01 · PROBLEM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14E4DA2-CDE1-4E8D-B308-FDDC6E3B0EB8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ct val="108000"/>
              </a:lnSpc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보호자는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변화를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느낄 수</a:t>
            </a:r>
            <a:r>
              <a:rPr lang="ko-KR" altLang="en-US"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있지만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기록은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서로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흩어집니다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4F753F83-9101-43D2-A113-AECDAA3F3340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하루의 작은 변화가 진료 전까지 이어지지 않거나, 필요한 순간 다시 찾기 어렵다는 문제에서 출발했습니다.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0D46CD8-50C5-498D-9482-201A7945AC23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86460D-471B-472F-A068-47456C56FA8D}"/>
              </a:ext>
            </a:extLst>
          </p:cNvPr>
          <p:cNvSpPr>
            <a:spLocks noGrp="1"/>
          </p:cNvSpPr>
          <p:nvPr/>
        </p:nvSpPr>
        <p:spPr>
          <a:xfrm>
            <a:off x="5095875" y="2228850"/>
            <a:ext cx="419100" cy="419100"/>
          </a:xfrm>
          <a:prstGeom prst="ellipse">
            <a:avLst/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40FCDC-5997-4DCD-BA28-4F2660CBDC5A}"/>
              </a:ext>
            </a:extLst>
          </p:cNvPr>
          <p:cNvSpPr>
            <a:spLocks noGrp="1"/>
          </p:cNvSpPr>
          <p:nvPr/>
        </p:nvSpPr>
        <p:spPr>
          <a:xfrm>
            <a:off x="5095875" y="223837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99AB7C-9214-44EA-B511-8E581FC8DBE2}"/>
              </a:ext>
            </a:extLst>
          </p:cNvPr>
          <p:cNvSpPr>
            <a:spLocks noGrp="1"/>
          </p:cNvSpPr>
          <p:nvPr/>
        </p:nvSpPr>
        <p:spPr>
          <a:xfrm>
            <a:off x="5695950" y="2209800"/>
            <a:ext cx="547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관찰은 매일, 기록은 가끔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AF14CF-C86F-4DCE-A833-1C65B9ADADD8}"/>
              </a:ext>
            </a:extLst>
          </p:cNvPr>
          <p:cNvSpPr>
            <a:spLocks noGrp="1"/>
          </p:cNvSpPr>
          <p:nvPr/>
        </p:nvSpPr>
        <p:spPr>
          <a:xfrm>
            <a:off x="5695950" y="2638425"/>
            <a:ext cx="5476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식욕·활동량·증상을 기억에만 의존하면 변화의 흐름을 놓치기 쉽습니다.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AA7A92-A203-4F45-B153-1340B46F86B7}"/>
              </a:ext>
            </a:extLst>
          </p:cNvPr>
          <p:cNvSpPr>
            <a:spLocks noGrp="1"/>
          </p:cNvSpPr>
          <p:nvPr/>
        </p:nvSpPr>
        <p:spPr>
          <a:xfrm>
            <a:off x="5095875" y="3514725"/>
            <a:ext cx="419100" cy="419100"/>
          </a:xfrm>
          <a:prstGeom prst="ellipse">
            <a:avLst/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19541-9780-4740-8B7D-5763CF6BE36E}"/>
              </a:ext>
            </a:extLst>
          </p:cNvPr>
          <p:cNvSpPr>
            <a:spLocks noGrp="1"/>
          </p:cNvSpPr>
          <p:nvPr/>
        </p:nvSpPr>
        <p:spPr>
          <a:xfrm>
            <a:off x="5095875" y="35242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EB2C2-4321-4505-AEE7-A3FA981F26BA}"/>
              </a:ext>
            </a:extLst>
          </p:cNvPr>
          <p:cNvSpPr>
            <a:spLocks noGrp="1"/>
          </p:cNvSpPr>
          <p:nvPr/>
        </p:nvSpPr>
        <p:spPr>
          <a:xfrm>
            <a:off x="5695950" y="3495675"/>
            <a:ext cx="547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분석과 생활 관리가 분리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5ACFC9-B0C1-4E99-AE2E-A1F0EA87D7F3}"/>
              </a:ext>
            </a:extLst>
          </p:cNvPr>
          <p:cNvSpPr>
            <a:spLocks noGrp="1"/>
          </p:cNvSpPr>
          <p:nvPr/>
        </p:nvSpPr>
        <p:spPr>
          <a:xfrm>
            <a:off x="5695950" y="3924300"/>
            <a:ext cx="5476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8000"/>
              </a:lnSpc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00" b="0">
                <a:solidFill>
                  <a:srgbClr val="68705F"/>
                </a:solidFill>
                <a:ea typeface="+mn-lt"/>
                <a:cs typeface="+mn-lt"/>
              </a:rPr>
              <a:t>건강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상태를 기록해도 분석 결과와 일상 관리 정보가 서로</a:t>
            </a:r>
            <a:r>
              <a:rPr lang="ko-KR" sz="1600">
                <a:solidFill>
                  <a:srgbClr val="68705F"/>
                </a:solidFill>
                <a:ea typeface="+mn-lt"/>
                <a:cs typeface="+mn-lt"/>
              </a:rPr>
              <a:t> 나뉘어 있어 변화의 흐름을 한 번에 확인하기 어렵습니다.</a:t>
            </a:r>
            <a:endParaRPr lang="ko-KR">
              <a:ea typeface="+mn-lt"/>
              <a:cs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B25CF0-210C-4D66-9692-2403A4418ED5}"/>
              </a:ext>
            </a:extLst>
          </p:cNvPr>
          <p:cNvSpPr>
            <a:spLocks noGrp="1"/>
          </p:cNvSpPr>
          <p:nvPr/>
        </p:nvSpPr>
        <p:spPr>
          <a:xfrm>
            <a:off x="5095875" y="481012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41273E-F045-41CF-A296-A1382B3CD946}"/>
              </a:ext>
            </a:extLst>
          </p:cNvPr>
          <p:cNvSpPr>
            <a:spLocks noGrp="1"/>
          </p:cNvSpPr>
          <p:nvPr/>
        </p:nvSpPr>
        <p:spPr>
          <a:xfrm>
            <a:off x="5695950" y="4781550"/>
            <a:ext cx="547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실종 시 연락 정보가 없음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204014-6CFE-43B1-8AF8-D1298208E21E}"/>
              </a:ext>
            </a:extLst>
          </p:cNvPr>
          <p:cNvSpPr>
            <a:spLocks noGrp="1"/>
          </p:cNvSpPr>
          <p:nvPr/>
        </p:nvSpPr>
        <p:spPr>
          <a:xfrm>
            <a:off x="5695950" y="5210175"/>
            <a:ext cx="5476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8000"/>
              </a:lnSpc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반려동물을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발견하더라도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보호자의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연락처나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필요한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건강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정보를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즉시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확인하기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어렵습니다</a:t>
            </a:r>
            <a:r>
              <a:rPr lang="en-US" sz="1600" b="0">
                <a:solidFill>
                  <a:srgbClr val="68705F"/>
                </a:solidFill>
                <a:ea typeface="+mn-lt"/>
                <a:cs typeface="+mn-lt"/>
              </a:rPr>
              <a:t>.</a:t>
            </a:r>
            <a:endParaRPr lang="ko-KR" altLang="en-US">
              <a:ea typeface="+mn-lt"/>
              <a:cs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9B74CD-357C-45AD-9971-7313BA21F66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EF0BDB-2785-43EB-9991-1225A92617CA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64FB82-95E5-A0F2-F6B9-64B5E4923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61" y="2135362"/>
            <a:ext cx="4069264" cy="3912949"/>
          </a:xfrm>
          <a:prstGeom prst="roundRect">
            <a:avLst>
              <a:gd name="adj" fmla="val 11111"/>
            </a:avLst>
          </a:prstGeom>
          <a:ln w="190500" cap="rnd">
            <a:solidFill>
              <a:srgbClr val="FFFFFF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5" name="Oval 10">
            <a:extLst>
              <a:ext uri="{FF2B5EF4-FFF2-40B4-BE49-F238E27FC236}">
                <a16:creationId xmlns:a16="http://schemas.microsoft.com/office/drawing/2014/main" id="{B7B8C6D2-2652-3A7F-1467-68964D637CAD}"/>
              </a:ext>
            </a:extLst>
          </p:cNvPr>
          <p:cNvSpPr>
            <a:spLocks noGrp="1"/>
          </p:cNvSpPr>
          <p:nvPr/>
        </p:nvSpPr>
        <p:spPr>
          <a:xfrm>
            <a:off x="5095875" y="4794132"/>
            <a:ext cx="419100" cy="419100"/>
          </a:xfrm>
          <a:prstGeom prst="ellipse">
            <a:avLst/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45589B0-F028-5B19-0057-580350D7700A}"/>
              </a:ext>
            </a:extLst>
          </p:cNvPr>
          <p:cNvSpPr>
            <a:spLocks noGrp="1"/>
          </p:cNvSpPr>
          <p:nvPr/>
        </p:nvSpPr>
        <p:spPr>
          <a:xfrm>
            <a:off x="5114690" y="4813065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sz="1200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6754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E754F142-2E5A-4399-84F4-A23A363B269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02 · SOLUTION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744FE58-001C-4ADD-80B5-E9E2EF38EC61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기록에서 행동까지, 하나의 흐름으로 연결합니다.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DCADC45D-AA02-4B08-B83A-D4B8829E01CD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반려동물별로 데이터를 쌓고, AI 결과와 생활 정보를 보호자가 이해하기 쉬운 화면으로 연결했습니다.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D021856-659A-4CB0-B5A8-10C1EC01A553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C4262B3-0715-4010-9522-BC18D2AD209D}"/>
              </a:ext>
            </a:extLst>
          </p:cNvPr>
          <p:cNvSpPr>
            <a:spLocks noGrp="1"/>
          </p:cNvSpPr>
          <p:nvPr/>
        </p:nvSpPr>
        <p:spPr>
          <a:xfrm>
            <a:off x="1619250" y="3924300"/>
            <a:ext cx="8953500" cy="0"/>
          </a:xfrm>
          <a:prstGeom prst="line">
            <a:avLst/>
          </a:prstGeom>
          <a:noFill/>
          <a:ln w="47625">
            <a:solidFill>
              <a:srgbClr val="D7C9A5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2D21BA-44C2-46E7-835C-AEAF63B8B560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2190750" cy="2857500"/>
          </a:xfrm>
          <a:prstGeom prst="roundRect">
            <a:avLst>
              <a:gd name="adj" fmla="val 10435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3F4489-C0FB-486D-9C4B-60126B1DC679}"/>
              </a:ext>
            </a:extLst>
          </p:cNvPr>
          <p:cNvSpPr>
            <a:spLocks noGrp="1"/>
          </p:cNvSpPr>
          <p:nvPr/>
        </p:nvSpPr>
        <p:spPr>
          <a:xfrm>
            <a:off x="1047750" y="2838450"/>
            <a:ext cx="514350" cy="514350"/>
          </a:xfrm>
          <a:prstGeom prst="ellipse">
            <a:avLst/>
          </a:prstGeom>
          <a:solidFill>
            <a:srgbClr val="E7E8DA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78100E-E0B1-4D26-8834-56A352F7F4F1}"/>
              </a:ext>
            </a:extLst>
          </p:cNvPr>
          <p:cNvSpPr>
            <a:spLocks noGrp="1"/>
          </p:cNvSpPr>
          <p:nvPr/>
        </p:nvSpPr>
        <p:spPr>
          <a:xfrm>
            <a:off x="1047750" y="284797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✎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311477-E5E0-4F64-976B-A113C49F4665}"/>
              </a:ext>
            </a:extLst>
          </p:cNvPr>
          <p:cNvSpPr>
            <a:spLocks noGrp="1"/>
          </p:cNvSpPr>
          <p:nvPr/>
        </p:nvSpPr>
        <p:spPr>
          <a:xfrm>
            <a:off x="1066800" y="3638550"/>
            <a:ext cx="1790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건강 기록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41A021-4929-4485-8BE6-9EEC7D4D47B1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1790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07"/>
          </a:bodyPr>
          <a:lstStyle/>
          <a:p>
            <a:pPr>
              <a:lnSpc>
                <a:spcPct val="122000"/>
              </a:lnSpc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1400">
                <a:solidFill>
                  <a:srgbClr val="68705F"/>
                </a:solidFill>
                <a:ea typeface="+mn-lt"/>
                <a:cs typeface="+mn-lt"/>
              </a:rPr>
              <a:t>건강 문진 </a:t>
            </a:r>
            <a:r>
              <a:rPr lang="en-US" altLang="ko-KR" sz="1400" b="0">
                <a:solidFill>
                  <a:srgbClr val="68705F"/>
                </a:solidFill>
                <a:ea typeface="+mn-lt"/>
                <a:cs typeface="+mn-lt"/>
              </a:rPr>
              <a:t>·</a:t>
            </a: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 생체정보 </a:t>
            </a:r>
            <a:r>
              <a:rPr lang="en-US" altLang="ko-KR" sz="1400">
                <a:solidFill>
                  <a:srgbClr val="68705F"/>
                </a:solidFill>
                <a:ea typeface="+mn-lt"/>
                <a:cs typeface="+mn-lt"/>
              </a:rPr>
              <a:t>·</a:t>
            </a:r>
            <a:r>
              <a:rPr lang="ko-KR" sz="14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일상 다이어리를 반려동물별로 기록</a:t>
            </a:r>
            <a:endParaRPr lang="ko-KR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7839C9-3E34-42CF-A1DC-5390853B4EF4}"/>
              </a:ext>
            </a:extLst>
          </p:cNvPr>
          <p:cNvSpPr>
            <a:spLocks noGrp="1"/>
          </p:cNvSpPr>
          <p:nvPr/>
        </p:nvSpPr>
        <p:spPr>
          <a:xfrm>
            <a:off x="3619500" y="2628900"/>
            <a:ext cx="2190750" cy="2857500"/>
          </a:xfrm>
          <a:prstGeom prst="roundRect">
            <a:avLst>
              <a:gd name="adj" fmla="val 10435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DEF10F-6147-4C48-A7CF-27AB8D878A97}"/>
              </a:ext>
            </a:extLst>
          </p:cNvPr>
          <p:cNvSpPr>
            <a:spLocks noGrp="1"/>
          </p:cNvSpPr>
          <p:nvPr/>
        </p:nvSpPr>
        <p:spPr>
          <a:xfrm>
            <a:off x="3810000" y="2838450"/>
            <a:ext cx="514350" cy="514350"/>
          </a:xfrm>
          <a:prstGeom prst="ellipse">
            <a:avLst/>
          </a:prstGeom>
          <a:solidFill>
            <a:srgbClr val="DCE8E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059981-E57E-44FC-B0D6-DFE9C3DAAFA3}"/>
              </a:ext>
            </a:extLst>
          </p:cNvPr>
          <p:cNvSpPr>
            <a:spLocks noGrp="1"/>
          </p:cNvSpPr>
          <p:nvPr/>
        </p:nvSpPr>
        <p:spPr>
          <a:xfrm>
            <a:off x="3810000" y="284797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094BE-3FA9-4B61-8A6A-DA734055C42A}"/>
              </a:ext>
            </a:extLst>
          </p:cNvPr>
          <p:cNvSpPr>
            <a:spLocks noGrp="1"/>
          </p:cNvSpPr>
          <p:nvPr/>
        </p:nvSpPr>
        <p:spPr>
          <a:xfrm>
            <a:off x="3829050" y="3638550"/>
            <a:ext cx="1790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AI 해석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3096BA-8C6D-4188-9AA1-08235660ADC1}"/>
              </a:ext>
            </a:extLst>
          </p:cNvPr>
          <p:cNvSpPr>
            <a:spLocks noGrp="1"/>
          </p:cNvSpPr>
          <p:nvPr/>
        </p:nvSpPr>
        <p:spPr>
          <a:xfrm>
            <a:off x="3829050" y="4210050"/>
            <a:ext cx="1790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>
              <a:lnSpc>
                <a:spcPct val="122000"/>
              </a:lnSpc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건강 </a:t>
            </a:r>
            <a:r>
              <a:rPr lang="ko-KR" altLang="en-US" sz="1400" b="0">
                <a:solidFill>
                  <a:srgbClr val="68705F"/>
                </a:solidFill>
                <a:ea typeface="+mn-lt"/>
                <a:cs typeface="+mn-lt"/>
              </a:rPr>
              <a:t>위험도</a:t>
            </a:r>
            <a:r>
              <a:rPr lang="en-US" altLang="ko-KR" sz="1400" b="0">
                <a:solidFill>
                  <a:srgbClr val="68705F"/>
                </a:solidFill>
                <a:ea typeface="+mn-lt"/>
                <a:cs typeface="+mn-lt"/>
              </a:rPr>
              <a:t>·</a:t>
            </a:r>
            <a:r>
              <a:rPr lang="ko-KR" altLang="en-US" sz="1400" b="0">
                <a:solidFill>
                  <a:srgbClr val="68705F"/>
                </a:solidFill>
                <a:ea typeface="+mn-lt"/>
                <a:cs typeface="+mn-lt"/>
              </a:rPr>
              <a:t>주요 요인</a:t>
            </a: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 분석과</a:t>
            </a:r>
            <a:b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</a:b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맞춤형 </a:t>
            </a:r>
            <a:r>
              <a:rPr lang="ko-KR" altLang="en-US" sz="1400" b="0">
                <a:solidFill>
                  <a:srgbClr val="68705F"/>
                </a:solidFill>
                <a:ea typeface="+mn-lt"/>
                <a:cs typeface="+mn-lt"/>
              </a:rPr>
              <a:t>사료 성분 </a:t>
            </a: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가이드</a:t>
            </a:r>
            <a:endParaRPr lang="ko-KR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7AB828-92FF-480A-8A0F-E7F32C1D5352}"/>
              </a:ext>
            </a:extLst>
          </p:cNvPr>
          <p:cNvSpPr>
            <a:spLocks noGrp="1"/>
          </p:cNvSpPr>
          <p:nvPr/>
        </p:nvSpPr>
        <p:spPr>
          <a:xfrm>
            <a:off x="6381750" y="2628900"/>
            <a:ext cx="2190750" cy="2857500"/>
          </a:xfrm>
          <a:prstGeom prst="roundRect">
            <a:avLst>
              <a:gd name="adj" fmla="val 10435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1A6467-8A69-42CD-8CAD-D7CB1E865338}"/>
              </a:ext>
            </a:extLst>
          </p:cNvPr>
          <p:cNvSpPr>
            <a:spLocks noGrp="1"/>
          </p:cNvSpPr>
          <p:nvPr/>
        </p:nvSpPr>
        <p:spPr>
          <a:xfrm>
            <a:off x="6572250" y="2838450"/>
            <a:ext cx="514350" cy="514350"/>
          </a:xfrm>
          <a:prstGeom prst="ellipse">
            <a:avLst/>
          </a:prstGeom>
          <a:solidFill>
            <a:srgbClr val="EFE8D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985948-91A4-498E-B4DC-3D863F2904C3}"/>
              </a:ext>
            </a:extLst>
          </p:cNvPr>
          <p:cNvSpPr>
            <a:spLocks noGrp="1"/>
          </p:cNvSpPr>
          <p:nvPr/>
        </p:nvSpPr>
        <p:spPr>
          <a:xfrm>
            <a:off x="6572250" y="284797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598550-7083-4E83-89C2-325338E17ED4}"/>
              </a:ext>
            </a:extLst>
          </p:cNvPr>
          <p:cNvSpPr>
            <a:spLocks noGrp="1"/>
          </p:cNvSpPr>
          <p:nvPr/>
        </p:nvSpPr>
        <p:spPr>
          <a:xfrm>
            <a:off x="6591300" y="3638550"/>
            <a:ext cx="1790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생활 도우미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CCAE3B-0518-442D-A4BF-752592BB97D2}"/>
              </a:ext>
            </a:extLst>
          </p:cNvPr>
          <p:cNvSpPr>
            <a:spLocks noGrp="1"/>
          </p:cNvSpPr>
          <p:nvPr/>
        </p:nvSpPr>
        <p:spPr>
          <a:xfrm>
            <a:off x="6591300" y="4210050"/>
            <a:ext cx="1790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07"/>
          </a:bodyPr>
          <a:lstStyle/>
          <a:p>
            <a:pPr algn="l">
              <a:lnSpc>
                <a:spcPct val="122000"/>
              </a:lnSpc>
              <a:buNone/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날씨·대기질을</a:t>
            </a: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반영한</a:t>
            </a:r>
            <a:endParaRPr lang="ko-KR" sz="1400" b="0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2000"/>
              </a:lnSpc>
              <a:buNone/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산책</a:t>
            </a: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적합도</a:t>
            </a:r>
            <a:endParaRPr sz="1400" b="0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670245-DDE1-4A8B-821C-265EB1D5614D}"/>
              </a:ext>
            </a:extLst>
          </p:cNvPr>
          <p:cNvSpPr>
            <a:spLocks noGrp="1"/>
          </p:cNvSpPr>
          <p:nvPr/>
        </p:nvSpPr>
        <p:spPr>
          <a:xfrm>
            <a:off x="9144000" y="2628900"/>
            <a:ext cx="2190750" cy="2857500"/>
          </a:xfrm>
          <a:prstGeom prst="roundRect">
            <a:avLst>
              <a:gd name="adj" fmla="val 10435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0A2BC8F-FC5C-4736-AAA9-D8AF369BF03A}"/>
              </a:ext>
            </a:extLst>
          </p:cNvPr>
          <p:cNvSpPr>
            <a:spLocks noGrp="1"/>
          </p:cNvSpPr>
          <p:nvPr/>
        </p:nvSpPr>
        <p:spPr>
          <a:xfrm>
            <a:off x="9334500" y="2838450"/>
            <a:ext cx="514350" cy="514350"/>
          </a:xfrm>
          <a:prstGeom prst="ellipse">
            <a:avLst/>
          </a:prstGeom>
          <a:solidFill>
            <a:srgbClr val="F0DCD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1C453D-A427-4EC4-ABF5-EEB700004045}"/>
              </a:ext>
            </a:extLst>
          </p:cNvPr>
          <p:cNvSpPr>
            <a:spLocks noGrp="1"/>
          </p:cNvSpPr>
          <p:nvPr/>
        </p:nvSpPr>
        <p:spPr>
          <a:xfrm>
            <a:off x="9334500" y="284797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A957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A95743"/>
                </a:solidFill>
                <a:latin typeface="Malgun Gothic"/>
                <a:ea typeface="Malgun Gothic"/>
                <a:cs typeface="Malgun Gothic"/>
              </a:rPr>
              <a:t>QR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ADA4AB-995D-48E0-86A5-437D7BC6DD4D}"/>
              </a:ext>
            </a:extLst>
          </p:cNvPr>
          <p:cNvSpPr>
            <a:spLocks noGrp="1"/>
          </p:cNvSpPr>
          <p:nvPr/>
        </p:nvSpPr>
        <p:spPr>
          <a:xfrm>
            <a:off x="9353550" y="3638550"/>
            <a:ext cx="1790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실종 대응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3DE8A0-8783-46A0-82F1-CF7EEC34C4DE}"/>
              </a:ext>
            </a:extLst>
          </p:cNvPr>
          <p:cNvSpPr>
            <a:spLocks noGrp="1"/>
          </p:cNvSpPr>
          <p:nvPr/>
        </p:nvSpPr>
        <p:spPr>
          <a:xfrm>
            <a:off x="9353550" y="4210050"/>
            <a:ext cx="1790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22000"/>
              </a:lnSpc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400" b="0">
                <a:solidFill>
                  <a:srgbClr val="68705F"/>
                </a:solidFill>
                <a:ea typeface="+mn-lt"/>
                <a:cs typeface="+mn-lt"/>
              </a:rPr>
              <a:t>공개 범위를 선택한</a:t>
            </a: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 보호자 연락처</a:t>
            </a:r>
            <a:r>
              <a:rPr lang="en-US" altLang="ko-KR" sz="1400" b="0">
                <a:solidFill>
                  <a:srgbClr val="68705F"/>
                </a:solidFill>
                <a:ea typeface="+mn-lt"/>
                <a:cs typeface="+mn-lt"/>
              </a:rPr>
              <a:t>·</a:t>
            </a: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반려동물</a:t>
            </a:r>
            <a:r>
              <a:rPr lang="ko-KR" altLang="en-US" sz="1400" b="0">
                <a:solidFill>
                  <a:srgbClr val="68705F"/>
                </a:solidFill>
                <a:ea typeface="+mn-lt"/>
                <a:cs typeface="+mn-lt"/>
              </a:rPr>
              <a:t> 정보</a:t>
            </a:r>
            <a:endParaRPr lang="ko-KR" altLang="en-US">
              <a:ea typeface="+mn-lt"/>
              <a:cs typeface="+mn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CC8A1A-000F-4554-8D3C-79BA16263DD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8F5C68-A0B6-4AE8-AB8E-E3B4C536EA4C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3537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5332475A-19B8-4C11-A306-CCE693B8C7CD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03 · USER FLOW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736E252-5D3F-4907-B8DE-434190CFE1F1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사용자는 다섯 단계로 서비스를 경험합니다.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44D94EF3-FB16-4214-A708-F392C4CAFD62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0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반려동물 등록, 상태 기록, AI 분석, 변화 확인 및 생활관련 서비스를 통해 편의성을 제공합니다.</a:t>
            </a:r>
            <a:endParaRPr lang="ko-KR" altLang="en-US" sz="1600" b="0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789D3B-CB6B-4F99-B33D-A2BC0BDC449C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AE7B04F-A616-4296-B551-306F589FA397}"/>
              </a:ext>
            </a:extLst>
          </p:cNvPr>
          <p:cNvSpPr>
            <a:spLocks noGrp="1"/>
          </p:cNvSpPr>
          <p:nvPr/>
        </p:nvSpPr>
        <p:spPr>
          <a:xfrm>
            <a:off x="2400300" y="3429000"/>
            <a:ext cx="666750" cy="22860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C636B2-1FDB-4B77-A857-FEE893FB5D27}"/>
              </a:ext>
            </a:extLst>
          </p:cNvPr>
          <p:cNvSpPr>
            <a:spLocks noGrp="1"/>
          </p:cNvSpPr>
          <p:nvPr/>
        </p:nvSpPr>
        <p:spPr>
          <a:xfrm>
            <a:off x="4638675" y="3429000"/>
            <a:ext cx="666750" cy="22860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AEB439D-2E8E-46C9-B5DE-CC019ACA8DE3}"/>
              </a:ext>
            </a:extLst>
          </p:cNvPr>
          <p:cNvSpPr>
            <a:spLocks noGrp="1"/>
          </p:cNvSpPr>
          <p:nvPr/>
        </p:nvSpPr>
        <p:spPr>
          <a:xfrm>
            <a:off x="6877050" y="3429000"/>
            <a:ext cx="666750" cy="22860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89794C2-F822-4365-9E29-F514B9E874A5}"/>
              </a:ext>
            </a:extLst>
          </p:cNvPr>
          <p:cNvSpPr>
            <a:spLocks noGrp="1"/>
          </p:cNvSpPr>
          <p:nvPr/>
        </p:nvSpPr>
        <p:spPr>
          <a:xfrm>
            <a:off x="9115425" y="3429000"/>
            <a:ext cx="666750" cy="22860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CE61C2-5FE4-4CBE-82C2-C4A06239E8D2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1857375" cy="2476500"/>
          </a:xfrm>
          <a:prstGeom prst="roundRect">
            <a:avLst>
              <a:gd name="adj" fmla="val 12308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A7EFBC-A18E-451D-83F5-3F7FFC675420}"/>
              </a:ext>
            </a:extLst>
          </p:cNvPr>
          <p:cNvSpPr>
            <a:spLocks noGrp="1"/>
          </p:cNvSpPr>
          <p:nvPr/>
        </p:nvSpPr>
        <p:spPr>
          <a:xfrm>
            <a:off x="857250" y="28003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9DAF64-A705-46F1-AF9E-5AB5E6868E01}"/>
              </a:ext>
            </a:extLst>
          </p:cNvPr>
          <p:cNvSpPr>
            <a:spLocks noGrp="1"/>
          </p:cNvSpPr>
          <p:nvPr/>
        </p:nvSpPr>
        <p:spPr>
          <a:xfrm>
            <a:off x="857250" y="3324225"/>
            <a:ext cx="1476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아이 등록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6F5C1B-D36A-41F4-8FFD-04C89ED36B27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1476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프로필·품종·사진</a:t>
            </a:r>
          </a:p>
          <a:p>
            <a:pPr algn="l">
              <a:lnSpc>
                <a:spcPct val="122000"/>
              </a:lnSpc>
              <a:buNone/>
              <a:def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기본 정보 설정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43B2BA-8E78-4021-A330-9274C597DC1A}"/>
              </a:ext>
            </a:extLst>
          </p:cNvPr>
          <p:cNvSpPr>
            <a:spLocks noGrp="1"/>
          </p:cNvSpPr>
          <p:nvPr/>
        </p:nvSpPr>
        <p:spPr>
          <a:xfrm>
            <a:off x="2905125" y="2571750"/>
            <a:ext cx="1857375" cy="2476500"/>
          </a:xfrm>
          <a:prstGeom prst="roundRect">
            <a:avLst>
              <a:gd name="adj" fmla="val 12308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B72CB2-2262-4A53-9639-905B2F464E2C}"/>
              </a:ext>
            </a:extLst>
          </p:cNvPr>
          <p:cNvSpPr>
            <a:spLocks noGrp="1"/>
          </p:cNvSpPr>
          <p:nvPr/>
        </p:nvSpPr>
        <p:spPr>
          <a:xfrm>
            <a:off x="3095625" y="28003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1BB47A-7DA2-4628-B64B-81AFEDF7E8D2}"/>
              </a:ext>
            </a:extLst>
          </p:cNvPr>
          <p:cNvSpPr>
            <a:spLocks noGrp="1"/>
          </p:cNvSpPr>
          <p:nvPr/>
        </p:nvSpPr>
        <p:spPr>
          <a:xfrm>
            <a:off x="3095625" y="3324225"/>
            <a:ext cx="1476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상태 기록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DF9E0D-589F-472A-84D7-3322266308F1}"/>
              </a:ext>
            </a:extLst>
          </p:cNvPr>
          <p:cNvSpPr>
            <a:spLocks noGrp="1"/>
          </p:cNvSpPr>
          <p:nvPr/>
        </p:nvSpPr>
        <p:spPr>
          <a:xfrm>
            <a:off x="3095625" y="3943350"/>
            <a:ext cx="1476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22000"/>
              </a:lnSpc>
              <a:def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00" b="0" err="1">
                <a:solidFill>
                  <a:srgbClr val="68705F"/>
                </a:solidFill>
                <a:ea typeface="+mn-lt"/>
                <a:cs typeface="+mn-lt"/>
              </a:rPr>
              <a:t>문진</a:t>
            </a:r>
            <a:r>
              <a:rPr lang="en-US" sz="1500">
                <a:solidFill>
                  <a:srgbClr val="68705F"/>
                </a:solidFill>
                <a:ea typeface="+mn-lt"/>
                <a:cs typeface="+mn-lt"/>
              </a:rPr>
              <a:t>·</a:t>
            </a:r>
            <a:r>
              <a:rPr lang="ko-KR" altLang="en-US" sz="1500">
                <a:solidFill>
                  <a:srgbClr val="68705F"/>
                </a:solidFill>
                <a:ea typeface="+mn-lt"/>
                <a:cs typeface="+mn-lt"/>
              </a:rPr>
              <a:t>생체정보와</a:t>
            </a:r>
            <a:br>
              <a:rPr lang="en-US" altLang="ko-KR" sz="1500">
                <a:solidFill>
                  <a:srgbClr val="68705F"/>
                </a:solidFill>
                <a:ea typeface="+mn-lt"/>
                <a:cs typeface="+mn-lt"/>
              </a:rPr>
            </a:br>
            <a:r>
              <a:rPr lang="en-US" sz="1500" b="0" err="1">
                <a:solidFill>
                  <a:srgbClr val="68705F"/>
                </a:solidFill>
                <a:ea typeface="+mn-lt"/>
                <a:cs typeface="+mn-lt"/>
              </a:rPr>
              <a:t>하루</a:t>
            </a:r>
            <a:r>
              <a:rPr lang="en-US" sz="1500" b="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500" b="0" err="1">
                <a:solidFill>
                  <a:srgbClr val="68705F"/>
                </a:solidFill>
                <a:ea typeface="+mn-lt"/>
                <a:cs typeface="+mn-lt"/>
              </a:rPr>
              <a:t>관찰</a:t>
            </a:r>
            <a:r>
              <a:rPr lang="en-US" sz="1500" b="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68705F"/>
                </a:solidFill>
                <a:ea typeface="+mn-lt"/>
                <a:cs typeface="+mn-lt"/>
              </a:rPr>
              <a:t>기록</a:t>
            </a:r>
            <a:endParaRPr lang="ko-KR" alt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62771E-291E-4ABE-B8AF-F0B43C98CA74}"/>
              </a:ext>
            </a:extLst>
          </p:cNvPr>
          <p:cNvSpPr>
            <a:spLocks noGrp="1"/>
          </p:cNvSpPr>
          <p:nvPr/>
        </p:nvSpPr>
        <p:spPr>
          <a:xfrm>
            <a:off x="5143500" y="2571750"/>
            <a:ext cx="1857375" cy="2476500"/>
          </a:xfrm>
          <a:prstGeom prst="roundRect">
            <a:avLst>
              <a:gd name="adj" fmla="val 12308"/>
            </a:avLst>
          </a:prstGeom>
          <a:solidFill>
            <a:srgbClr val="3F4930"/>
          </a:solidFill>
          <a:ln w="9525">
            <a:solidFill>
              <a:srgbClr val="3F493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153EF-AD22-4911-9DF3-B93A14CDB91D}"/>
              </a:ext>
            </a:extLst>
          </p:cNvPr>
          <p:cNvSpPr>
            <a:spLocks noGrp="1"/>
          </p:cNvSpPr>
          <p:nvPr/>
        </p:nvSpPr>
        <p:spPr>
          <a:xfrm>
            <a:off x="5334000" y="28003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B95862-F9F6-47E2-9141-78AD5E1DDF48}"/>
              </a:ext>
            </a:extLst>
          </p:cNvPr>
          <p:cNvSpPr>
            <a:spLocks noGrp="1"/>
          </p:cNvSpPr>
          <p:nvPr/>
        </p:nvSpPr>
        <p:spPr>
          <a:xfrm>
            <a:off x="5334000" y="3324225"/>
            <a:ext cx="1476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분석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3FF5B0-6DAE-464C-9B0A-F126B02E6F63}"/>
              </a:ext>
            </a:extLst>
          </p:cNvPr>
          <p:cNvSpPr>
            <a:spLocks noGrp="1"/>
          </p:cNvSpPr>
          <p:nvPr/>
        </p:nvSpPr>
        <p:spPr>
          <a:xfrm>
            <a:off x="5334000" y="3943350"/>
            <a:ext cx="1476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500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위험 등급과</a:t>
            </a:r>
          </a:p>
          <a:p>
            <a:pPr algn="l">
              <a:lnSpc>
                <a:spcPct val="122000"/>
              </a:lnSpc>
              <a:buNone/>
              <a:defRPr sz="1500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주요 요인 확인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605114-D03E-43E6-8076-FBF11F67A150}"/>
              </a:ext>
            </a:extLst>
          </p:cNvPr>
          <p:cNvSpPr>
            <a:spLocks noGrp="1"/>
          </p:cNvSpPr>
          <p:nvPr/>
        </p:nvSpPr>
        <p:spPr>
          <a:xfrm>
            <a:off x="7381875" y="2571750"/>
            <a:ext cx="1857375" cy="2476500"/>
          </a:xfrm>
          <a:prstGeom prst="roundRect">
            <a:avLst>
              <a:gd name="adj" fmla="val 12308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55EB2D-EFBF-4FB8-8F52-35FEB8575D85}"/>
              </a:ext>
            </a:extLst>
          </p:cNvPr>
          <p:cNvSpPr>
            <a:spLocks noGrp="1"/>
          </p:cNvSpPr>
          <p:nvPr/>
        </p:nvSpPr>
        <p:spPr>
          <a:xfrm>
            <a:off x="7572375" y="28003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F1B31A-FED3-4807-960D-F2752AA6CE7F}"/>
              </a:ext>
            </a:extLst>
          </p:cNvPr>
          <p:cNvSpPr>
            <a:spLocks noGrp="1"/>
          </p:cNvSpPr>
          <p:nvPr/>
        </p:nvSpPr>
        <p:spPr>
          <a:xfrm>
            <a:off x="7572375" y="3324225"/>
            <a:ext cx="1476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변화 확인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4D4DA9-53BA-416E-823E-7C84F7F8FF03}"/>
              </a:ext>
            </a:extLst>
          </p:cNvPr>
          <p:cNvSpPr>
            <a:spLocks noGrp="1"/>
          </p:cNvSpPr>
          <p:nvPr/>
        </p:nvSpPr>
        <p:spPr>
          <a:xfrm>
            <a:off x="7572375" y="3943350"/>
            <a:ext cx="1476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lnSpc>
                <a:spcPct val="122000"/>
              </a:lnSpc>
              <a:buNone/>
              <a:def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00" b="0">
                <a:solidFill>
                  <a:srgbClr val="68705F"/>
                </a:solidFill>
                <a:ea typeface="+mn-lt"/>
                <a:cs typeface="+mn-lt"/>
              </a:rPr>
              <a:t>기록·리포트·알림으로</a:t>
            </a:r>
            <a:r>
              <a:rPr lang="en-US" altLang="ko-KR" sz="15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68705F"/>
                </a:solidFill>
                <a:ea typeface="+mn-lt"/>
                <a:cs typeface="+mn-lt"/>
              </a:rPr>
              <a:t>건강</a:t>
            </a:r>
            <a:r>
              <a:rPr lang="en-US" altLang="ko-KR" sz="15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68705F"/>
                </a:solidFill>
                <a:ea typeface="+mn-lt"/>
                <a:cs typeface="+mn-lt"/>
              </a:rPr>
              <a:t>변화</a:t>
            </a:r>
            <a:r>
              <a:rPr lang="en-US" altLang="ko-KR" sz="15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68705F"/>
                </a:solidFill>
                <a:ea typeface="+mn-lt"/>
                <a:cs typeface="+mn-lt"/>
              </a:rPr>
              <a:t>확인</a:t>
            </a:r>
            <a:endParaRPr lang="ko-KR" alt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C397FC0-2CC9-47CF-AD7C-3334EFEC96BF}"/>
              </a:ext>
            </a:extLst>
          </p:cNvPr>
          <p:cNvSpPr>
            <a:spLocks noGrp="1"/>
          </p:cNvSpPr>
          <p:nvPr/>
        </p:nvSpPr>
        <p:spPr>
          <a:xfrm>
            <a:off x="9620250" y="2571750"/>
            <a:ext cx="1857375" cy="2476500"/>
          </a:xfrm>
          <a:prstGeom prst="roundRect">
            <a:avLst>
              <a:gd name="adj" fmla="val 12308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9CF087-01FF-4554-B372-05639D43788D}"/>
              </a:ext>
            </a:extLst>
          </p:cNvPr>
          <p:cNvSpPr>
            <a:spLocks noGrp="1"/>
          </p:cNvSpPr>
          <p:nvPr/>
        </p:nvSpPr>
        <p:spPr>
          <a:xfrm>
            <a:off x="9810750" y="28003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2A642F-2CD8-4C17-B0A7-0DDB09CAA4CE}"/>
              </a:ext>
            </a:extLst>
          </p:cNvPr>
          <p:cNvSpPr>
            <a:spLocks noGrp="1"/>
          </p:cNvSpPr>
          <p:nvPr/>
        </p:nvSpPr>
        <p:spPr>
          <a:xfrm>
            <a:off x="9810750" y="3324225"/>
            <a:ext cx="1476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생활 관리</a:t>
            </a:r>
            <a:endParaRPr lang="ko-KR" sz="2100" b="1">
              <a:solidFill>
                <a:srgbClr val="3F493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902BAB-512E-4604-8110-CBE534C320C2}"/>
              </a:ext>
            </a:extLst>
          </p:cNvPr>
          <p:cNvSpPr>
            <a:spLocks noGrp="1"/>
          </p:cNvSpPr>
          <p:nvPr/>
        </p:nvSpPr>
        <p:spPr>
          <a:xfrm>
            <a:off x="9810750" y="3943350"/>
            <a:ext cx="14763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22000"/>
              </a:lnSpc>
              <a:def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00" b="0" err="1">
                <a:solidFill>
                  <a:srgbClr val="68705F"/>
                </a:solidFill>
                <a:ea typeface="+mn-lt"/>
                <a:cs typeface="+mn-lt"/>
              </a:rPr>
              <a:t>산책</a:t>
            </a:r>
            <a:r>
              <a:rPr lang="en-US" sz="1500" b="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68705F"/>
                </a:solidFill>
                <a:ea typeface="+mn-lt"/>
                <a:cs typeface="+mn-lt"/>
              </a:rPr>
              <a:t>정보와</a:t>
            </a:r>
            <a:br>
              <a:rPr lang="en-US" altLang="ko-KR" sz="1500">
                <a:solidFill>
                  <a:srgbClr val="68705F"/>
                </a:solidFill>
                <a:ea typeface="+mn-lt"/>
                <a:cs typeface="+mn-lt"/>
              </a:rPr>
            </a:br>
            <a:r>
              <a:rPr lang="ko-KR" altLang="en-US" sz="1500">
                <a:solidFill>
                  <a:srgbClr val="68705F"/>
                </a:solidFill>
                <a:ea typeface="+mn-lt"/>
                <a:cs typeface="+mn-lt"/>
              </a:rPr>
              <a:t>실종</a:t>
            </a:r>
            <a:r>
              <a:rPr lang="en-US" altLang="ko-KR" sz="15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500" b="0">
                <a:solidFill>
                  <a:srgbClr val="68705F"/>
                </a:solidFill>
                <a:ea typeface="+mn-lt"/>
                <a:cs typeface="+mn-lt"/>
              </a:rPr>
              <a:t>QR </a:t>
            </a:r>
            <a:r>
              <a:rPr lang="en-US" sz="1500" b="0" err="1">
                <a:solidFill>
                  <a:srgbClr val="68705F"/>
                </a:solidFill>
                <a:ea typeface="+mn-lt"/>
                <a:cs typeface="+mn-lt"/>
              </a:rPr>
              <a:t>관리</a:t>
            </a:r>
            <a:endParaRPr lang="en-US" altLang="ko-KR" err="1">
              <a:ea typeface="+mn-lt"/>
              <a:cs typeface="+mn-lt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46619C-C780-4017-B820-D46B1BB4BACA}"/>
              </a:ext>
            </a:extLst>
          </p:cNvPr>
          <p:cNvSpPr>
            <a:spLocks noGrp="1"/>
          </p:cNvSpPr>
          <p:nvPr/>
        </p:nvSpPr>
        <p:spPr>
          <a:xfrm>
            <a:off x="3886200" y="5572125"/>
            <a:ext cx="4429125" cy="381000"/>
          </a:xfrm>
          <a:prstGeom prst="roundRect">
            <a:avLst>
              <a:gd name="adj" fmla="val 50000"/>
            </a:avLst>
          </a:prstGeom>
          <a:solidFill>
            <a:srgbClr val="E7E8DA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C0A605-5FAF-44A3-94F2-FD6B3B659085}"/>
              </a:ext>
            </a:extLst>
          </p:cNvPr>
          <p:cNvSpPr>
            <a:spLocks noGrp="1"/>
          </p:cNvSpPr>
          <p:nvPr/>
        </p:nvSpPr>
        <p:spPr>
          <a:xfrm>
            <a:off x="3981450" y="5610225"/>
            <a:ext cx="423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로그인하지 않아도 빠른 예측·사료 추천은 체험 가능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46ABB5-F8EA-49F8-BAD8-0E58AC601FC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656B2C-B057-4B2B-9D0D-DF6B7FDAF29B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5938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yebrow">
            <a:extLst>
              <a:ext uri="{FF2B5EF4-FFF2-40B4-BE49-F238E27FC236}">
                <a16:creationId xmlns:a16="http://schemas.microsoft.com/office/drawing/2014/main" id="{25010970-6BCE-4C94-86AF-F37C8134B69E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04 · ARCHITECTURE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52F39B7-F9F6-421F-BFB6-AD000B9AF40F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브라우저는 Spring만, AI는 내부에서 연결합니다.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168E4EA0-9671-4908-BDE0-D655A6455BFD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인증·도메인 권한·DB 저장은 Spring이 담당하고, FastAPI는 예측·설명·추천에 집중하도록 분리했습니다.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993A4F2-9706-44DA-8075-F7F553B97712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31021F3-84CB-46F7-91DE-143F344D5759}"/>
              </a:ext>
            </a:extLst>
          </p:cNvPr>
          <p:cNvSpPr>
            <a:spLocks noGrp="1"/>
          </p:cNvSpPr>
          <p:nvPr/>
        </p:nvSpPr>
        <p:spPr>
          <a:xfrm>
            <a:off x="2381250" y="3562350"/>
            <a:ext cx="857250" cy="24765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3E19C29-C3CD-4CC5-A864-5547C5F82A47}"/>
              </a:ext>
            </a:extLst>
          </p:cNvPr>
          <p:cNvSpPr>
            <a:spLocks noGrp="1"/>
          </p:cNvSpPr>
          <p:nvPr/>
        </p:nvSpPr>
        <p:spPr>
          <a:xfrm>
            <a:off x="5429250" y="3581400"/>
            <a:ext cx="4476750" cy="22860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86D6197-7835-437F-8E24-ECFA8B8D95FB}"/>
              </a:ext>
            </a:extLst>
          </p:cNvPr>
          <p:cNvSpPr>
            <a:spLocks noGrp="1"/>
          </p:cNvSpPr>
          <p:nvPr/>
        </p:nvSpPr>
        <p:spPr>
          <a:xfrm flipV="1">
            <a:off x="5429250" y="2781300"/>
            <a:ext cx="1238250" cy="666750"/>
          </a:xfrm>
          <a:prstGeom prst="line">
            <a:avLst/>
          </a:prstGeom>
          <a:noFill/>
          <a:ln w="47625">
            <a:solidFill>
              <a:srgbClr val="D7C9A5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C1080253-7911-4B85-985F-43DF4A1AC820}"/>
              </a:ext>
            </a:extLst>
          </p:cNvPr>
          <p:cNvSpPr>
            <a:spLocks noGrp="1"/>
          </p:cNvSpPr>
          <p:nvPr/>
        </p:nvSpPr>
        <p:spPr>
          <a:xfrm>
            <a:off x="5429250" y="3981450"/>
            <a:ext cx="1238250" cy="971550"/>
          </a:xfrm>
          <a:prstGeom prst="line">
            <a:avLst/>
          </a:prstGeom>
          <a:noFill/>
          <a:ln w="47625">
            <a:solidFill>
              <a:srgbClr val="D7C9A5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32BD08-9098-41F6-A761-81285B8214AC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714500" cy="1714500"/>
          </a:xfrm>
          <a:prstGeom prst="roundRect">
            <a:avLst>
              <a:gd name="adj" fmla="val 13333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F3CFA1-0C23-4792-9FC0-93C20D87A23B}"/>
              </a:ext>
            </a:extLst>
          </p:cNvPr>
          <p:cNvSpPr>
            <a:spLocks noGrp="1"/>
          </p:cNvSpPr>
          <p:nvPr/>
        </p:nvSpPr>
        <p:spPr>
          <a:xfrm>
            <a:off x="876300" y="3076575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WEB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F1E93C-2C7F-4B6D-808A-C46FFF428115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1295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272"/>
          </a:bodyPr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React</a:t>
            </a:r>
          </a:p>
          <a:p>
            <a:pPr algn="ctr">
              <a:lnSpc>
                <a:spcPct val="108000"/>
              </a:lnSpc>
              <a:buNone/>
              <a:defRPr sz="20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+ TypeScript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FD7009-7D5A-458A-A63D-E2DA3B1538D2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Vite · SPA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812D17-4257-466E-82DC-995CB6AF1049}"/>
              </a:ext>
            </a:extLst>
          </p:cNvPr>
          <p:cNvSpPr>
            <a:spLocks noGrp="1"/>
          </p:cNvSpPr>
          <p:nvPr/>
        </p:nvSpPr>
        <p:spPr>
          <a:xfrm>
            <a:off x="3238500" y="2571750"/>
            <a:ext cx="2190750" cy="2190750"/>
          </a:xfrm>
          <a:prstGeom prst="roundRect">
            <a:avLst>
              <a:gd name="adj" fmla="val 10435"/>
            </a:avLst>
          </a:prstGeom>
          <a:solidFill>
            <a:srgbClr val="3F4930"/>
          </a:solidFill>
          <a:ln w="9525">
            <a:solidFill>
              <a:srgbClr val="3F493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16BC54-D9A0-4D70-9913-0F2531B1B935}"/>
              </a:ext>
            </a:extLst>
          </p:cNvPr>
          <p:cNvSpPr>
            <a:spLocks noGrp="1"/>
          </p:cNvSpPr>
          <p:nvPr/>
        </p:nvSpPr>
        <p:spPr>
          <a:xfrm>
            <a:off x="3524250" y="28384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API GATEWAY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75F89A-CE8D-4D51-A0CF-BECA7816A130}"/>
              </a:ext>
            </a:extLst>
          </p:cNvPr>
          <p:cNvSpPr>
            <a:spLocks noGrp="1"/>
          </p:cNvSpPr>
          <p:nvPr/>
        </p:nvSpPr>
        <p:spPr>
          <a:xfrm>
            <a:off x="3524250" y="33337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62"/>
          </a:bodyPr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Spring Boot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6C7AE6-7443-4D0C-9ADF-4A125F2A11EB}"/>
              </a:ext>
            </a:extLst>
          </p:cNvPr>
          <p:cNvSpPr>
            <a:spLocks noGrp="1"/>
          </p:cNvSpPr>
          <p:nvPr/>
        </p:nvSpPr>
        <p:spPr>
          <a:xfrm>
            <a:off x="3524250" y="394335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0000"/>
              </a:lnSpc>
              <a:buNone/>
              <a:defRPr sz="1425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JWT · 소유권 검증</a:t>
            </a:r>
          </a:p>
          <a:p>
            <a:pPr algn="ctr">
              <a:lnSpc>
                <a:spcPct val="120000"/>
              </a:lnSpc>
              <a:buNone/>
              <a:defRPr sz="1425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도메인 로직 · JPA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F6C45E-1C2D-40EE-B249-EA5DEA7A37BE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2667000" cy="1524000"/>
          </a:xfrm>
          <a:prstGeom prst="roundRect">
            <a:avLst>
              <a:gd name="adj" fmla="val 15000"/>
            </a:avLst>
          </a:prstGeom>
          <a:solidFill>
            <a:srgbClr val="DCE8E8"/>
          </a:solidFill>
          <a:ln w="9525">
            <a:solidFill>
              <a:srgbClr val="B8CDC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EC6A2E-C307-4ACE-9532-4AEFF0E53E92}"/>
              </a:ext>
            </a:extLst>
          </p:cNvPr>
          <p:cNvSpPr>
            <a:spLocks noGrp="1"/>
          </p:cNvSpPr>
          <p:nvPr/>
        </p:nvSpPr>
        <p:spPr>
          <a:xfrm>
            <a:off x="6905625" y="23336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6687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878B"/>
                </a:solidFill>
                <a:latin typeface="Malgun Gothic"/>
                <a:ea typeface="Malgun Gothic"/>
                <a:cs typeface="Malgun Gothic"/>
              </a:rPr>
              <a:t>AI SERVICE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3408BA-48AD-4DC8-B1D5-E4BCE47505DC}"/>
              </a:ext>
            </a:extLst>
          </p:cNvPr>
          <p:cNvSpPr>
            <a:spLocks noGrp="1"/>
          </p:cNvSpPr>
          <p:nvPr/>
        </p:nvSpPr>
        <p:spPr>
          <a:xfrm>
            <a:off x="6905625" y="27146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FastAPI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FCD843-2535-4010-8794-CA9F05EA7CC5}"/>
              </a:ext>
            </a:extLst>
          </p:cNvPr>
          <p:cNvSpPr>
            <a:spLocks noGrp="1"/>
          </p:cNvSpPr>
          <p:nvPr/>
        </p:nvSpPr>
        <p:spPr>
          <a:xfrm>
            <a:off x="6905625" y="32099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ML · SHAP · RAG · Gemini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DA5340E-FEB7-48C4-84F8-C8D86016C87B}"/>
              </a:ext>
            </a:extLst>
          </p:cNvPr>
          <p:cNvSpPr>
            <a:spLocks noGrp="1"/>
          </p:cNvSpPr>
          <p:nvPr/>
        </p:nvSpPr>
        <p:spPr>
          <a:xfrm>
            <a:off x="6667500" y="4286250"/>
            <a:ext cx="2667000" cy="1381125"/>
          </a:xfrm>
          <a:prstGeom prst="roundRect">
            <a:avLst>
              <a:gd name="adj" fmla="val 16552"/>
            </a:avLst>
          </a:prstGeom>
          <a:solidFill>
            <a:srgbClr val="EFE8D6"/>
          </a:solidFill>
          <a:ln w="9525">
            <a:solidFill>
              <a:srgbClr val="D7C9A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712339-1B93-44B7-934F-E0C8D643A16C}"/>
              </a:ext>
            </a:extLst>
          </p:cNvPr>
          <p:cNvSpPr>
            <a:spLocks noGrp="1"/>
          </p:cNvSpPr>
          <p:nvPr/>
        </p:nvSpPr>
        <p:spPr>
          <a:xfrm>
            <a:off x="6905625" y="4514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EXTERNAL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4BB762-3F3E-4200-831B-9E12141B1BD0}"/>
              </a:ext>
            </a:extLst>
          </p:cNvPr>
          <p:cNvSpPr>
            <a:spLocks noGrp="1"/>
          </p:cNvSpPr>
          <p:nvPr/>
        </p:nvSpPr>
        <p:spPr>
          <a:xfrm>
            <a:off x="6905625" y="4905375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71"/>
          </a:bodyPr>
          <a:lstStyle/>
          <a:p>
            <a:pPr algn="ctr">
              <a:lnSpc>
                <a:spcPct val="118000"/>
              </a:lnSpc>
              <a:buNone/>
              <a:defRPr sz="1538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538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기상청 · AirKorea</a:t>
            </a:r>
          </a:p>
          <a:p>
            <a:pPr algn="ctr">
              <a:lnSpc>
                <a:spcPct val="118000"/>
              </a:lnSpc>
              <a:buNone/>
              <a:defRPr sz="1538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538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Kakao 주소 좌표 변환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13B614F-178E-42A7-9F3E-51A09D6436E6}"/>
              </a:ext>
            </a:extLst>
          </p:cNvPr>
          <p:cNvSpPr>
            <a:spLocks noGrp="1"/>
          </p:cNvSpPr>
          <p:nvPr/>
        </p:nvSpPr>
        <p:spPr>
          <a:xfrm>
            <a:off x="9906000" y="2905125"/>
            <a:ext cx="1666875" cy="1714500"/>
          </a:xfrm>
          <a:prstGeom prst="roundRect">
            <a:avLst>
              <a:gd name="adj" fmla="val 13714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D9360A-8371-4E57-972A-2ABFF8C45F7F}"/>
              </a:ext>
            </a:extLst>
          </p:cNvPr>
          <p:cNvSpPr>
            <a:spLocks noGrp="1"/>
          </p:cNvSpPr>
          <p:nvPr/>
        </p:nvSpPr>
        <p:spPr>
          <a:xfrm>
            <a:off x="10096500" y="3133725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DATABASE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139BF2-93EF-43CD-9D32-882BBF7BBB3C}"/>
              </a:ext>
            </a:extLst>
          </p:cNvPr>
          <p:cNvSpPr>
            <a:spLocks noGrp="1"/>
          </p:cNvSpPr>
          <p:nvPr/>
        </p:nvSpPr>
        <p:spPr>
          <a:xfrm>
            <a:off x="10039350" y="3533775"/>
            <a:ext cx="14001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PostgreSQL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BAE813-A035-4F29-A3F7-6D8B72CC20CD}"/>
              </a:ext>
            </a:extLst>
          </p:cNvPr>
          <p:cNvSpPr>
            <a:spLocks noGrp="1"/>
          </p:cNvSpPr>
          <p:nvPr/>
        </p:nvSpPr>
        <p:spPr>
          <a:xfrm>
            <a:off x="10039350" y="4029075"/>
            <a:ext cx="1400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 algn="ctr">
              <a:lnSpc>
                <a:spcPct val="118000"/>
              </a:lnSpc>
              <a:defRPr sz="12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00" b="0">
                <a:solidFill>
                  <a:srgbClr val="68705F"/>
                </a:solidFill>
                <a:ea typeface="+mn-lt"/>
                <a:cs typeface="+mn-lt"/>
              </a:rPr>
              <a:t>사용자 · 반려동물</a:t>
            </a:r>
            <a:br>
              <a:rPr lang="en-US" altLang="ko-KR" sz="1200">
                <a:solidFill>
                  <a:srgbClr val="68705F"/>
                </a:solidFill>
                <a:ea typeface="+mn-lt"/>
                <a:cs typeface="+mn-lt"/>
              </a:rPr>
            </a:br>
            <a:r>
              <a:rPr lang="en-US" altLang="ko-KR" sz="12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200" b="0">
                <a:solidFill>
                  <a:srgbClr val="68705F"/>
                </a:solidFill>
                <a:ea typeface="+mn-lt"/>
                <a:cs typeface="+mn-lt"/>
              </a:rPr>
              <a:t>문진 · </a:t>
            </a:r>
            <a:r>
              <a:rPr lang="ko-KR" altLang="en-US" sz="1200">
                <a:solidFill>
                  <a:srgbClr val="68705F"/>
                </a:solidFill>
                <a:ea typeface="+mn-lt"/>
                <a:cs typeface="+mn-lt"/>
              </a:rPr>
              <a:t>예측</a:t>
            </a:r>
            <a:r>
              <a:rPr lang="en-US" altLang="ko-KR" sz="12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68705F"/>
                </a:solidFill>
                <a:ea typeface="+mn-lt"/>
                <a:cs typeface="+mn-lt"/>
              </a:rPr>
              <a:t>·</a:t>
            </a:r>
            <a:r>
              <a:rPr lang="en-US" altLang="ko-KR" sz="12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68705F"/>
                </a:solidFill>
                <a:ea typeface="+mn-lt"/>
                <a:cs typeface="+mn-lt"/>
              </a:rPr>
              <a:t>리포트</a:t>
            </a:r>
            <a:r>
              <a:rPr lang="en-US" sz="1200" b="0">
                <a:solidFill>
                  <a:srgbClr val="68705F"/>
                </a:solidFill>
                <a:ea typeface="+mn-lt"/>
                <a:cs typeface="+mn-lt"/>
              </a:rPr>
              <a:t> · QR</a:t>
            </a:r>
            <a:endParaRPr lang="en-US" altLang="ko-KR" sz="1200">
              <a:ea typeface="+mn-lt"/>
              <a:cs typeface="+mn-lt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9DFA28F-7F5C-43E8-9622-3DB7728B5768}"/>
              </a:ext>
            </a:extLst>
          </p:cNvPr>
          <p:cNvSpPr>
            <a:spLocks noGrp="1"/>
          </p:cNvSpPr>
          <p:nvPr/>
        </p:nvSpPr>
        <p:spPr>
          <a:xfrm>
            <a:off x="3524250" y="5886450"/>
            <a:ext cx="5191125" cy="361950"/>
          </a:xfrm>
          <a:prstGeom prst="roundRect">
            <a:avLst>
              <a:gd name="adj" fmla="val 50000"/>
            </a:avLst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5CC2FF-E9AA-4AE1-BB48-5C9A98573A4D}"/>
              </a:ext>
            </a:extLst>
          </p:cNvPr>
          <p:cNvSpPr>
            <a:spLocks noGrp="1"/>
          </p:cNvSpPr>
          <p:nvPr/>
        </p:nvSpPr>
        <p:spPr>
          <a:xfrm>
            <a:off x="3619500" y="5924550"/>
            <a:ext cx="500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배포 설계: Nginx → Spring(8080) / FastAPI(8000)는 내부 통신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B83B07-A721-4E12-B2F8-9A193C68E6D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B81E60-C326-4647-AEDE-38B8DFDD53E9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956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">
            <a:extLst>
              <a:ext uri="{FF2B5EF4-FFF2-40B4-BE49-F238E27FC236}">
                <a16:creationId xmlns:a16="http://schemas.microsoft.com/office/drawing/2014/main" id="{C45AAE93-89DE-4353-983A-50D1445AFAB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05 · CORE FEATURE ①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852C4A2-7713-41D5-BA84-3AA88AD2D244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문진 입력을 AI 건강 예측으로 연결했습니다.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98B2C66B-1D59-434C-8987-1F1107B92B5D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ct val="108000"/>
              </a:lnSpc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00" b="0">
                <a:solidFill>
                  <a:srgbClr val="68705F"/>
                </a:solidFill>
                <a:ea typeface="+mn-lt"/>
                <a:cs typeface="+mn-lt"/>
              </a:rPr>
              <a:t>로그인</a:t>
            </a:r>
            <a:r>
              <a:rPr lang="en-US" altLang="ko-KR" sz="1600" b="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 b="0">
                <a:solidFill>
                  <a:srgbClr val="68705F"/>
                </a:solidFill>
                <a:ea typeface="+mn-lt"/>
                <a:cs typeface="+mn-lt"/>
              </a:rPr>
              <a:t>사용자는</a:t>
            </a:r>
            <a:r>
              <a:rPr lang="en-US" altLang="ko-KR" sz="1600" b="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 b="0">
                <a:solidFill>
                  <a:srgbClr val="68705F"/>
                </a:solidFill>
                <a:ea typeface="+mn-lt"/>
                <a:cs typeface="+mn-lt"/>
              </a:rPr>
              <a:t>문진</a:t>
            </a:r>
            <a:r>
              <a:rPr lang="en-US" altLang="ko-KR" sz="1600" b="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기록을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저장하고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기존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기록을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다시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활용할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수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있으며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,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비회원도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빠른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건강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예측을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체험할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수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 b="0">
                <a:solidFill>
                  <a:srgbClr val="68705F"/>
                </a:solidFill>
                <a:ea typeface="+mn-lt"/>
                <a:cs typeface="+mn-lt"/>
              </a:rPr>
              <a:t>있습니다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.</a:t>
            </a:r>
            <a:endParaRPr lang="en-US" altLang="ko-KR" sz="1600">
              <a:ea typeface="+mn-lt"/>
              <a:cs typeface="+mn-lt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6BBCFD6-4E8F-4302-8223-75C817D2C74D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C7E97F-83E1-4522-9234-072C5C16E153}"/>
              </a:ext>
            </a:extLst>
          </p:cNvPr>
          <p:cNvSpPr>
            <a:spLocks noGrp="1"/>
          </p:cNvSpPr>
          <p:nvPr/>
        </p:nvSpPr>
        <p:spPr>
          <a:xfrm>
            <a:off x="504825" y="2047875"/>
            <a:ext cx="6429375" cy="4095750"/>
          </a:xfrm>
          <a:prstGeom prst="roundRect">
            <a:avLst>
              <a:gd name="adj" fmla="val 5581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3403E-BBF6-4B5F-A2B6-C9F3AA0D8999}"/>
              </a:ext>
            </a:extLst>
          </p:cNvPr>
          <p:cNvSpPr>
            <a:spLocks noGrp="1"/>
          </p:cNvSpPr>
          <p:nvPr/>
        </p:nvSpPr>
        <p:spPr>
          <a:xfrm>
            <a:off x="7429500" y="22288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36EEC4-C52D-4059-A229-AB21C6733528}"/>
              </a:ext>
            </a:extLst>
          </p:cNvPr>
          <p:cNvSpPr>
            <a:spLocks noGrp="1"/>
          </p:cNvSpPr>
          <p:nvPr/>
        </p:nvSpPr>
        <p:spPr>
          <a:xfrm>
            <a:off x="7429500" y="257175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688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defRPr>
            </a:pPr>
            <a:r>
              <a:rPr sz="1688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종·나이·체중과 체온·심박수·호흡수, 생활 상태와 관찰 증상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463485-BCB6-4072-A5A6-7CF841AFC1E0}"/>
              </a:ext>
            </a:extLst>
          </p:cNvPr>
          <p:cNvSpPr>
            <a:spLocks noGrp="1"/>
          </p:cNvSpPr>
          <p:nvPr/>
        </p:nvSpPr>
        <p:spPr>
          <a:xfrm>
            <a:off x="7429500" y="36195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63937C-E5CE-44E9-A341-8BE8EF45CDF1}"/>
              </a:ext>
            </a:extLst>
          </p:cNvPr>
          <p:cNvSpPr>
            <a:spLocks noGrp="1"/>
          </p:cNvSpPr>
          <p:nvPr/>
        </p:nvSpPr>
        <p:spPr>
          <a:xfrm>
            <a:off x="7429500" y="3962400"/>
            <a:ext cx="3905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688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defRPr>
            </a:pPr>
            <a:r>
              <a:rPr sz="1688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확률과 등급을 계산하고 SHAP 기반 주요 위험 요인을 함께 제시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23497D-8CB7-41FC-A36D-816300048089}"/>
              </a:ext>
            </a:extLst>
          </p:cNvPr>
          <p:cNvSpPr>
            <a:spLocks noGrp="1"/>
          </p:cNvSpPr>
          <p:nvPr/>
        </p:nvSpPr>
        <p:spPr>
          <a:xfrm>
            <a:off x="7429500" y="4953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D985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855B"/>
                </a:solidFill>
                <a:latin typeface="Malgun Gothic"/>
                <a:ea typeface="Malgun Gothic"/>
                <a:cs typeface="Malgun Gothic"/>
              </a:rPr>
              <a:t>안전 장치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CB0370-3417-4712-AFF6-BD459A81FF29}"/>
              </a:ext>
            </a:extLst>
          </p:cNvPr>
          <p:cNvSpPr>
            <a:spLocks noGrp="1"/>
          </p:cNvSpPr>
          <p:nvPr/>
        </p:nvSpPr>
        <p:spPr>
          <a:xfrm>
            <a:off x="7429500" y="5295900"/>
            <a:ext cx="3905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688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defRPr>
            </a:pPr>
            <a:r>
              <a:rPr sz="1688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의료 진단이 아닌 참고 정보임을 반복 안내하고, 진단·처방 표현을 제한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57B897-C1F6-453D-9954-7B5DE329078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0DDD51-4491-4EB4-BF07-3CC6D69ECA94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0A2F94-6151-CB60-7F3F-698C94157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70" y="2295524"/>
            <a:ext cx="6256100" cy="36865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292544-1FBB-4697-9DB9-A98A0017C9E7}"/>
              </a:ext>
            </a:extLst>
          </p:cNvPr>
          <p:cNvSpPr>
            <a:spLocks noGrp="1"/>
          </p:cNvSpPr>
          <p:nvPr/>
        </p:nvSpPr>
        <p:spPr>
          <a:xfrm>
            <a:off x="790575" y="2152128"/>
            <a:ext cx="1314450" cy="323850"/>
          </a:xfrm>
          <a:prstGeom prst="roundRect">
            <a:avLst>
              <a:gd name="adj" fmla="val 50000"/>
            </a:avLst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B696BB-B8AE-4AA8-9AD2-0CF73D4942AB}"/>
              </a:ext>
            </a:extLst>
          </p:cNvPr>
          <p:cNvSpPr>
            <a:spLocks noGrp="1"/>
          </p:cNvSpPr>
          <p:nvPr/>
        </p:nvSpPr>
        <p:spPr>
          <a:xfrm>
            <a:off x="885825" y="2190228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실제 구현 화면</a:t>
            </a:r>
          </a:p>
        </p:txBody>
      </p:sp>
    </p:spTree>
    <p:extLst>
      <p:ext uri="{BB962C8B-B14F-4D97-AF65-F5344CB8AC3E}">
        <p14:creationId xmlns:p14="http://schemas.microsoft.com/office/powerpoint/2010/main" val="68962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5660712D-CA62-480D-9FF5-FDD331C0276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06 · CORE FEATURE 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0CDD049-3F79-43A2-9FC1-F5A163D52E6D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문진과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결과는</a:t>
            </a:r>
            <a:r>
              <a:rPr lang="ko-KR"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 따로 </a:t>
            </a:r>
            <a:r>
              <a:rPr lang="ko-KR" altLang="en-US"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저장하지만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함께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보여줍니다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D30C71BB-3E6C-437D-96D3-EFEC8541BBA5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분석하지 않은 문진도 사라지지 않으며, 나중에 분석하거나 필요하면 기록을 삭제할 수 있습니다.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690AF89-09D4-418E-A9BE-D211ECBF31F0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B1670AE-5D9D-4AA6-AB86-C5DBFEE35EA6}"/>
              </a:ext>
            </a:extLst>
          </p:cNvPr>
          <p:cNvSpPr>
            <a:spLocks noGrp="1"/>
          </p:cNvSpPr>
          <p:nvPr/>
        </p:nvSpPr>
        <p:spPr>
          <a:xfrm>
            <a:off x="2781300" y="3324225"/>
            <a:ext cx="685800" cy="24765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5B3218F-4AC4-411D-91F7-E8C25B1A17E5}"/>
              </a:ext>
            </a:extLst>
          </p:cNvPr>
          <p:cNvSpPr>
            <a:spLocks noGrp="1"/>
          </p:cNvSpPr>
          <p:nvPr/>
        </p:nvSpPr>
        <p:spPr>
          <a:xfrm>
            <a:off x="5353050" y="3324225"/>
            <a:ext cx="685800" cy="24765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CF5E2A3-371B-4DED-9D03-EFDD176F488C}"/>
              </a:ext>
            </a:extLst>
          </p:cNvPr>
          <p:cNvSpPr>
            <a:spLocks noGrp="1"/>
          </p:cNvSpPr>
          <p:nvPr/>
        </p:nvSpPr>
        <p:spPr>
          <a:xfrm>
            <a:off x="7924800" y="3324225"/>
            <a:ext cx="685800" cy="24765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3404C4-B7DF-4E74-931D-A8D8FF9E1769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2286000" cy="238125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4B3402-E314-49D6-BCBD-6C5D338D33A0}"/>
              </a:ext>
            </a:extLst>
          </p:cNvPr>
          <p:cNvSpPr>
            <a:spLocks noGrp="1"/>
          </p:cNvSpPr>
          <p:nvPr/>
        </p:nvSpPr>
        <p:spPr>
          <a:xfrm>
            <a:off x="857250" y="2733675"/>
            <a:ext cx="419100" cy="419100"/>
          </a:xfrm>
          <a:prstGeom prst="ellipse">
            <a:avLst/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3AAFEE-2E2A-46C2-B4A0-016E023DDCFE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CB308D-5F05-478F-9CE4-38E969D53EFE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문진 저장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71A6C6-DB7C-451C-89F4-C2D39D637A8B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2097911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AI 실행 여부와 무관하게</a:t>
            </a:r>
            <a:endParaRPr lang="ko-KR" altLang="en-US" sz="1400" b="0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2000"/>
              </a:lnSpc>
              <a:buNone/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입력값을</a:t>
            </a: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먼저</a:t>
            </a: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보존</a:t>
            </a:r>
            <a:endParaRPr sz="1400" b="0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527759-46E6-4492-AEE3-FBCB8C1E7C41}"/>
              </a:ext>
            </a:extLst>
          </p:cNvPr>
          <p:cNvSpPr>
            <a:spLocks noGrp="1"/>
          </p:cNvSpPr>
          <p:nvPr/>
        </p:nvSpPr>
        <p:spPr>
          <a:xfrm>
            <a:off x="3476625" y="2533650"/>
            <a:ext cx="2286000" cy="2381250"/>
          </a:xfrm>
          <a:prstGeom prst="roundRect">
            <a:avLst>
              <a:gd name="adj" fmla="val 10000"/>
            </a:avLst>
          </a:prstGeom>
          <a:solidFill>
            <a:srgbClr val="EFE8D6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52F69C-13CE-4469-95A3-46D89A4DFF40}"/>
              </a:ext>
            </a:extLst>
          </p:cNvPr>
          <p:cNvSpPr>
            <a:spLocks noGrp="1"/>
          </p:cNvSpPr>
          <p:nvPr/>
        </p:nvSpPr>
        <p:spPr>
          <a:xfrm>
            <a:off x="3667125" y="2733675"/>
            <a:ext cx="419100" cy="419100"/>
          </a:xfrm>
          <a:prstGeom prst="ellipse">
            <a:avLst/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12AFBD-319A-4C6F-B5EA-D54C1A70C149}"/>
              </a:ext>
            </a:extLst>
          </p:cNvPr>
          <p:cNvSpPr>
            <a:spLocks noGrp="1"/>
          </p:cNvSpPr>
          <p:nvPr/>
        </p:nvSpPr>
        <p:spPr>
          <a:xfrm>
            <a:off x="3667125" y="27432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DBB49B-C5EB-41A2-8FF7-5B5E8FD46287}"/>
              </a:ext>
            </a:extLst>
          </p:cNvPr>
          <p:cNvSpPr>
            <a:spLocks noGrp="1"/>
          </p:cNvSpPr>
          <p:nvPr/>
        </p:nvSpPr>
        <p:spPr>
          <a:xfrm>
            <a:off x="3667125" y="34099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미분석 표시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0F8740-F798-4A0F-96BB-F43876CE3FE1}"/>
              </a:ext>
            </a:extLst>
          </p:cNvPr>
          <p:cNvSpPr>
            <a:spLocks noGrp="1"/>
          </p:cNvSpPr>
          <p:nvPr/>
        </p:nvSpPr>
        <p:spPr>
          <a:xfrm>
            <a:off x="3667125" y="4000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목록에서 분석 여부를</a:t>
            </a:r>
            <a:endParaRPr lang="ko-KR" altLang="en-US" sz="1400" b="0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2000"/>
              </a:lnSpc>
              <a:buNone/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명확하게</a:t>
            </a: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구분</a:t>
            </a:r>
            <a:endParaRPr sz="1400" b="0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F5D97D7-0EBB-46C3-904F-DA1A36793614}"/>
              </a:ext>
            </a:extLst>
          </p:cNvPr>
          <p:cNvSpPr>
            <a:spLocks noGrp="1"/>
          </p:cNvSpPr>
          <p:nvPr/>
        </p:nvSpPr>
        <p:spPr>
          <a:xfrm>
            <a:off x="6048375" y="2533650"/>
            <a:ext cx="2286000" cy="2381250"/>
          </a:xfrm>
          <a:prstGeom prst="roundRect">
            <a:avLst>
              <a:gd name="adj" fmla="val 10000"/>
            </a:avLst>
          </a:prstGeom>
          <a:solidFill>
            <a:srgbClr val="DCE8E8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9781981-69B8-4307-9A9B-5F17C2B46446}"/>
              </a:ext>
            </a:extLst>
          </p:cNvPr>
          <p:cNvSpPr>
            <a:spLocks noGrp="1"/>
          </p:cNvSpPr>
          <p:nvPr/>
        </p:nvSpPr>
        <p:spPr>
          <a:xfrm>
            <a:off x="6238875" y="2733675"/>
            <a:ext cx="419100" cy="419100"/>
          </a:xfrm>
          <a:prstGeom prst="ellipse">
            <a:avLst/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BE6995-D3E5-482E-8076-DDAFB5F57A2D}"/>
              </a:ext>
            </a:extLst>
          </p:cNvPr>
          <p:cNvSpPr>
            <a:spLocks noGrp="1"/>
          </p:cNvSpPr>
          <p:nvPr/>
        </p:nvSpPr>
        <p:spPr>
          <a:xfrm>
            <a:off x="6238875" y="27432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4B5C8B-F299-48EA-9B22-C1FA44438B7D}"/>
              </a:ext>
            </a:extLst>
          </p:cNvPr>
          <p:cNvSpPr>
            <a:spLocks noGrp="1"/>
          </p:cNvSpPr>
          <p:nvPr/>
        </p:nvSpPr>
        <p:spPr>
          <a:xfrm>
            <a:off x="6238875" y="34099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나중에 분석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74002A-EBBC-4B01-9E55-BFDB3B0614D3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기존 문진을 그대로 </a:t>
            </a:r>
            <a:endParaRPr lang="ko-KR" altLang="en-US" sz="1400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  <a:p>
            <a:pPr>
              <a:lnSpc>
                <a:spcPct val="122000"/>
              </a:lnSpc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40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사용해 예측</a:t>
            </a: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4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 err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생성</a:t>
            </a:r>
            <a:endParaRPr sz="1400" b="0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D2FC8E-B709-4182-8266-4B0603C4B10A}"/>
              </a:ext>
            </a:extLst>
          </p:cNvPr>
          <p:cNvSpPr>
            <a:spLocks noGrp="1"/>
          </p:cNvSpPr>
          <p:nvPr/>
        </p:nvSpPr>
        <p:spPr>
          <a:xfrm>
            <a:off x="8620125" y="2533650"/>
            <a:ext cx="2286000" cy="2381250"/>
          </a:xfrm>
          <a:prstGeom prst="roundRect">
            <a:avLst>
              <a:gd name="adj" fmla="val 10000"/>
            </a:avLst>
          </a:prstGeom>
          <a:solidFill>
            <a:srgbClr val="E7E8DA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15C38A8-331C-496D-BBFE-A6038794CB5B}"/>
              </a:ext>
            </a:extLst>
          </p:cNvPr>
          <p:cNvSpPr>
            <a:spLocks noGrp="1"/>
          </p:cNvSpPr>
          <p:nvPr/>
        </p:nvSpPr>
        <p:spPr>
          <a:xfrm>
            <a:off x="8810625" y="2733675"/>
            <a:ext cx="419100" cy="419100"/>
          </a:xfrm>
          <a:prstGeom prst="ellipse">
            <a:avLst/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EAEF08-2CC6-4D12-A95A-C49B30AE75CE}"/>
              </a:ext>
            </a:extLst>
          </p:cNvPr>
          <p:cNvSpPr>
            <a:spLocks noGrp="1"/>
          </p:cNvSpPr>
          <p:nvPr/>
        </p:nvSpPr>
        <p:spPr>
          <a:xfrm>
            <a:off x="8810625" y="274320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4E4AAE-624D-4C56-A8FD-496985610582}"/>
              </a:ext>
            </a:extLst>
          </p:cNvPr>
          <p:cNvSpPr>
            <a:spLocks noGrp="1"/>
          </p:cNvSpPr>
          <p:nvPr/>
        </p:nvSpPr>
        <p:spPr>
          <a:xfrm>
            <a:off x="8810625" y="34099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통합 상세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D0C580-A002-4070-B4A7-71FF5A7394B1}"/>
              </a:ext>
            </a:extLst>
          </p:cNvPr>
          <p:cNvSpPr>
            <a:spLocks noGrp="1"/>
          </p:cNvSpPr>
          <p:nvPr/>
        </p:nvSpPr>
        <p:spPr>
          <a:xfrm>
            <a:off x="8810625" y="4000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ct val="122000"/>
              </a:lnSpc>
              <a:defRPr sz="153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문진과 </a:t>
            </a:r>
            <a:r>
              <a:rPr lang="en-US" altLang="ko-KR" sz="1400" b="0">
                <a:solidFill>
                  <a:srgbClr val="68705F"/>
                </a:solidFill>
                <a:ea typeface="+mn-lt"/>
                <a:cs typeface="+mn-lt"/>
              </a:rPr>
              <a:t>AI</a:t>
            </a:r>
            <a:r>
              <a:rPr lang="ko-KR" altLang="en-US" sz="1400" b="0">
                <a:solidFill>
                  <a:srgbClr val="68705F"/>
                </a:solidFill>
                <a:ea typeface="+mn-lt"/>
                <a:cs typeface="+mn-lt"/>
              </a:rPr>
              <a:t> 결과를</a:t>
            </a: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400" b="0">
                <a:solidFill>
                  <a:srgbClr val="68705F"/>
                </a:solidFill>
                <a:ea typeface="+mn-lt"/>
                <a:cs typeface="+mn-lt"/>
              </a:rPr>
              <a:t>하나의 </a:t>
            </a:r>
            <a:r>
              <a:rPr lang="ko-KR" altLang="en-US" sz="1400">
                <a:solidFill>
                  <a:srgbClr val="68705F"/>
                </a:solidFill>
                <a:ea typeface="+mn-lt"/>
                <a:cs typeface="+mn-lt"/>
              </a:rPr>
              <a:t>건강 기록으로</a:t>
            </a:r>
            <a:r>
              <a:rPr lang="ko-KR" altLang="en-US" sz="1400" b="0">
                <a:solidFill>
                  <a:srgbClr val="68705F"/>
                </a:solidFill>
                <a:ea typeface="+mn-lt"/>
                <a:cs typeface="+mn-lt"/>
              </a:rPr>
              <a:t> 확인</a:t>
            </a:r>
            <a:endParaRPr lang="ko-KR" altLang="en-US">
              <a:ea typeface="+mn-lt"/>
              <a:cs typeface="+mn-lt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F81E8FA-888A-44CD-8052-30FA19456C5C}"/>
              </a:ext>
            </a:extLst>
          </p:cNvPr>
          <p:cNvSpPr>
            <a:spLocks noGrp="1"/>
          </p:cNvSpPr>
          <p:nvPr/>
        </p:nvSpPr>
        <p:spPr>
          <a:xfrm>
            <a:off x="2524125" y="5381625"/>
            <a:ext cx="3429000" cy="381000"/>
          </a:xfrm>
          <a:prstGeom prst="roundRect">
            <a:avLst>
              <a:gd name="adj" fmla="val 50000"/>
            </a:avLst>
          </a:prstGeom>
          <a:solidFill>
            <a:srgbClr val="FFFDF7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2A904D-84D3-4D0B-BB81-71086FE93288}"/>
              </a:ext>
            </a:extLst>
          </p:cNvPr>
          <p:cNvSpPr>
            <a:spLocks noGrp="1"/>
          </p:cNvSpPr>
          <p:nvPr/>
        </p:nvSpPr>
        <p:spPr>
          <a:xfrm>
            <a:off x="2619375" y="54197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목록: 페이징 · 상태 · 날짜 · 주요 수치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20E9F87-C86F-4961-9324-CD4DE2809C4F}"/>
              </a:ext>
            </a:extLst>
          </p:cNvPr>
          <p:cNvSpPr>
            <a:spLocks noGrp="1"/>
          </p:cNvSpPr>
          <p:nvPr/>
        </p:nvSpPr>
        <p:spPr>
          <a:xfrm>
            <a:off x="6229350" y="5381625"/>
            <a:ext cx="3429000" cy="381000"/>
          </a:xfrm>
          <a:prstGeom prst="roundRect">
            <a:avLst>
              <a:gd name="adj" fmla="val 50000"/>
            </a:avLst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6C3950-1862-4722-B3C2-11A4A896BD15}"/>
              </a:ext>
            </a:extLst>
          </p:cNvPr>
          <p:cNvSpPr>
            <a:spLocks noGrp="1"/>
          </p:cNvSpPr>
          <p:nvPr/>
        </p:nvSpPr>
        <p:spPr>
          <a:xfrm>
            <a:off x="6324600" y="541972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상세: 전체 문진 · AI 설명 · 기록 삭제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3ED500-F5C6-4488-8C2F-BED67D05A6A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62FFC2-1E13-4505-AE3D-46BBC34AB908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742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eyebrow">
            <a:extLst>
              <a:ext uri="{FF2B5EF4-FFF2-40B4-BE49-F238E27FC236}">
                <a16:creationId xmlns:a16="http://schemas.microsoft.com/office/drawing/2014/main" id="{8B092F81-8BF0-49AB-B17D-03731074771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07 · CORE FEATURE ③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F86CC23-F3C2-42C1-8235-68AD8A4F2B0E}"/>
              </a:ext>
            </a:extLst>
          </p:cNvPr>
          <p:cNvSpPr>
            <a:spLocks noGrp="1"/>
          </p:cNvSpPr>
          <p:nvPr/>
        </p:nvSpPr>
        <p:spPr>
          <a:xfrm>
            <a:off x="552450" y="791540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800">
                <a:latin typeface="Malgun Gothic"/>
              </a:rPr>
              <a:t>일상 기록과 </a:t>
            </a:r>
            <a:r>
              <a:rPr lang="en-US" altLang="ko-KR" sz="2800">
                <a:latin typeface="Malgun Gothic"/>
              </a:rPr>
              <a:t>AI</a:t>
            </a:r>
            <a:r>
              <a:rPr lang="ko-KR" sz="2800">
                <a:latin typeface="Malgun Gothic"/>
              </a:rPr>
              <a:t> 분석 결과를 날짜별로 모아 확인할 수 있습니다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BD38A20E-E531-4BBB-9B0D-A3A7901F7441}"/>
              </a:ext>
            </a:extLst>
          </p:cNvPr>
          <p:cNvSpPr>
            <a:spLocks noGrp="1"/>
          </p:cNvSpPr>
          <p:nvPr/>
        </p:nvSpPr>
        <p:spPr>
          <a:xfrm>
            <a:off x="571500" y="1371118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68705F"/>
                </a:solidFill>
              </a:rPr>
              <a:t>건강 다이어리에서 하루 상태를 기록하고, 주간 리포트에서 최근 7일의 건강 지표를 확인합니다.</a:t>
            </a:r>
            <a:endParaRPr sz="1600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9077D95-01EA-4CD8-88BA-162FB87F1FC8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A43434-808F-4E24-A781-A8CEDD65AB6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A71774-99BF-4538-B120-5DD2A56AF95C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7D5A25B-F423-4E3A-9478-34A25CAD32CF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143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544"/>
          </a:bodyPr>
          <a:lstStyle/>
          <a:p>
            <a:pPr>
              <a:defRPr sz="14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건강 다이어리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27915C8-9BE3-4A10-9460-3ED21B19D6A8}"/>
              </a:ext>
            </a:extLst>
          </p:cNvPr>
          <p:cNvSpPr>
            <a:spLocks noGrp="1"/>
          </p:cNvSpPr>
          <p:nvPr/>
        </p:nvSpPr>
        <p:spPr>
          <a:xfrm>
            <a:off x="5943600" y="2152650"/>
            <a:ext cx="5143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544"/>
          </a:bodyPr>
          <a:lstStyle/>
          <a:p>
            <a:pPr>
              <a:defRPr sz="14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주간 리포트</a:t>
            </a: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519664"/>
            <a:ext cx="5143500" cy="2894998"/>
          </a:xfrm>
          <a:prstGeom prst="roundRect">
            <a:avLst>
              <a:gd name="adj" fmla="val 3834"/>
            </a:avLst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43600" y="2519664"/>
            <a:ext cx="5143500" cy="2894998"/>
          </a:xfrm>
          <a:prstGeom prst="roundRect">
            <a:avLst>
              <a:gd name="adj" fmla="val 3834"/>
            </a:avLst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FAB7D3A4-BE82-478B-B830-764BA646DFE3}"/>
              </a:ext>
            </a:extLst>
          </p:cNvPr>
          <p:cNvSpPr>
            <a:spLocks noGrp="1"/>
          </p:cNvSpPr>
          <p:nvPr/>
        </p:nvSpPr>
        <p:spPr>
          <a:xfrm>
            <a:off x="552450" y="565785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월간 달력에서 건강 기록을 확인하고, 날짜별 상태와 메모를 작성합니다.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78184B8-C210-46DE-96C9-26306F6F1911}"/>
              </a:ext>
            </a:extLst>
          </p:cNvPr>
          <p:cNvSpPr>
            <a:spLocks noGrp="1"/>
          </p:cNvSpPr>
          <p:nvPr/>
        </p:nvSpPr>
        <p:spPr>
          <a:xfrm>
            <a:off x="5943600" y="565785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450"/>
          </a:bodyPr>
          <a:lstStyle/>
          <a:p>
            <a:pPr>
              <a:defRPr sz="1125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평균 체온·심박수, 건강 문진, 주의·위험 알림을 최근 7일 기준으로 요약합니다.</a:t>
            </a:r>
          </a:p>
        </p:txBody>
      </p:sp>
    </p:spTree>
    <p:extLst>
      <p:ext uri="{BB962C8B-B14F-4D97-AF65-F5344CB8AC3E}">
        <p14:creationId xmlns:p14="http://schemas.microsoft.com/office/powerpoint/2010/main" val="3232195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">
            <a:extLst>
              <a:ext uri="{FF2B5EF4-FFF2-40B4-BE49-F238E27FC236}">
                <a16:creationId xmlns:a16="http://schemas.microsoft.com/office/drawing/2014/main" id="{13F6506E-6219-4B8B-B0D9-56D61F84EE5C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08 · CORE FEATURE ④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A4AA614-95C7-43B1-8D3B-D93D9277004A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000" lnSpcReduction="10000"/>
          </a:bodyPr>
          <a:lstStyle/>
          <a:p>
            <a:pPr>
              <a:lnSpc>
                <a:spcPct val="108000"/>
              </a:lnSpc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주소</a:t>
            </a:r>
            <a:r>
              <a:rPr lang="en-US" altLang="ko-KR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기반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날씨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·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대기질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데이터를</a:t>
            </a:r>
            <a:r>
              <a:rPr lang="en-US" altLang="ko-KR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결합해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산책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점수를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계산합니다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.</a:t>
            </a:r>
            <a:endParaRPr lang="ko-KR" altLang="en-US">
              <a:ea typeface="+mn-lt"/>
              <a:cs typeface="+mn-lt"/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8AF1F4E-16DE-4232-B59F-6626B3A61A4D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회원 주소를 기본 지역으로 사용하고, 다른 지역을 직접 검색하면 해당 위치의 날씨·대기질로 다시 계산합니다.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910841D-27FF-408A-AD40-1E138B9C5BA2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7AC8DB-CD49-4C30-86E7-009E3CF08528}"/>
              </a:ext>
            </a:extLst>
          </p:cNvPr>
          <p:cNvSpPr>
            <a:spLocks noGrp="1"/>
          </p:cNvSpPr>
          <p:nvPr/>
        </p:nvSpPr>
        <p:spPr>
          <a:xfrm>
            <a:off x="504825" y="2143125"/>
            <a:ext cx="3238500" cy="22860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47F945-AA9C-4057-A306-4C533830CE16}"/>
              </a:ext>
            </a:extLst>
          </p:cNvPr>
          <p:cNvSpPr>
            <a:spLocks noGrp="1"/>
          </p:cNvSpPr>
          <p:nvPr/>
        </p:nvSpPr>
        <p:spPr>
          <a:xfrm>
            <a:off x="685800" y="4790222"/>
            <a:ext cx="2876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42"/>
          </a:bodyPr>
          <a:lstStyle/>
          <a:p>
            <a:pPr algn="ctr">
              <a:lnSpc>
                <a:spcPct val="108000"/>
              </a:lnSpc>
              <a:buNone/>
              <a:defRPr sz="1613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초코와</a:t>
            </a:r>
            <a:r>
              <a:rPr sz="14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산책하기 좋은 날씨예요!</a:t>
            </a:r>
            <a:endParaRPr lang="ko-KR" altLang="en-US" sz="1400" b="1">
              <a:solidFill>
                <a:srgbClr val="3F4930"/>
              </a:solidFill>
              <a:latin typeface="Malgun Gothic"/>
              <a:ea typeface="Malgun Gothic"/>
              <a:cs typeface="Malgun Gothic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1406BA2-2E80-A14C-7ED8-3787B5232B71}"/>
              </a:ext>
            </a:extLst>
          </p:cNvPr>
          <p:cNvGrpSpPr/>
          <p:nvPr/>
        </p:nvGrpSpPr>
        <p:grpSpPr>
          <a:xfrm>
            <a:off x="4632151" y="4519640"/>
            <a:ext cx="2333625" cy="323850"/>
            <a:chOff x="4210050" y="2362200"/>
            <a:chExt cx="2333625" cy="32385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098D6A0-99DB-459E-AC71-3F22C884D420}"/>
                </a:ext>
              </a:extLst>
            </p:cNvPr>
            <p:cNvSpPr>
              <a:spLocks noGrp="1"/>
            </p:cNvSpPr>
            <p:nvPr/>
          </p:nvSpPr>
          <p:spPr>
            <a:xfrm>
              <a:off x="4210050" y="2362200"/>
              <a:ext cx="2333625" cy="323850"/>
            </a:xfrm>
            <a:prstGeom prst="roundRect">
              <a:avLst>
                <a:gd name="adj" fmla="val 50000"/>
              </a:avLst>
            </a:prstGeom>
            <a:solidFill>
              <a:srgbClr val="C6A34C"/>
            </a:solidFill>
            <a:ln w="0">
              <a:noFill/>
              <a:prstDash val="solid"/>
            </a:ln>
          </p:spPr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1BC527-4AEF-4762-B0CE-8B7EE2513EDF}"/>
                </a:ext>
              </a:extLst>
            </p:cNvPr>
            <p:cNvSpPr>
              <a:spLocks noGrp="1"/>
            </p:cNvSpPr>
            <p:nvPr/>
          </p:nvSpPr>
          <p:spPr>
            <a:xfrm>
              <a:off x="4305300" y="2400300"/>
              <a:ext cx="214312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ctr">
                <a:lnSpc>
                  <a:spcPct val="108000"/>
                </a:lnSpc>
                <a:defRPr sz="1088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50" b="1" err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동네</a:t>
              </a:r>
              <a:r>
                <a:rPr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 한 </a:t>
              </a:r>
              <a:r>
                <a:rPr sz="1050" b="1" err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바퀴</a:t>
              </a:r>
              <a:r>
                <a:rPr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 · </a:t>
              </a:r>
              <a:r>
                <a:rPr lang="en-US"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45 – 74</a:t>
              </a:r>
              <a:r>
                <a:rPr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점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DBA57F2-483A-48E2-B189-BD84BFB8B73A}"/>
              </a:ext>
            </a:extLst>
          </p:cNvPr>
          <p:cNvSpPr>
            <a:spLocks noGrp="1"/>
          </p:cNvSpPr>
          <p:nvPr/>
        </p:nvSpPr>
        <p:spPr>
          <a:xfrm>
            <a:off x="4364861" y="4790222"/>
            <a:ext cx="2876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869"/>
          </a:bodyPr>
          <a:lstStyle/>
          <a:p>
            <a:pPr algn="ctr">
              <a:lnSpc>
                <a:spcPct val="108000"/>
              </a:lnSpc>
              <a:buNone/>
              <a:defRPr sz="1613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가볍게 동네 한 바퀴는 괜찮아요.</a:t>
            </a:r>
            <a:endParaRPr lang="ko-KR" altLang="en-US" sz="1400" b="1">
              <a:solidFill>
                <a:srgbClr val="3F4930"/>
              </a:solidFill>
              <a:latin typeface="Malgun Gothic"/>
              <a:ea typeface="Malgun Gothic"/>
              <a:cs typeface="Malgun Gothic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69F4272-BF30-6134-EED5-EF46A475BB7E}"/>
              </a:ext>
            </a:extLst>
          </p:cNvPr>
          <p:cNvGrpSpPr/>
          <p:nvPr/>
        </p:nvGrpSpPr>
        <p:grpSpPr>
          <a:xfrm>
            <a:off x="8205112" y="4519640"/>
            <a:ext cx="2333625" cy="323850"/>
            <a:chOff x="7696200" y="2362200"/>
            <a:chExt cx="2333625" cy="32385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6ECB1C4-7B3B-4EE0-9B49-4C1F9FC84B66}"/>
                </a:ext>
              </a:extLst>
            </p:cNvPr>
            <p:cNvSpPr>
              <a:spLocks noGrp="1"/>
            </p:cNvSpPr>
            <p:nvPr/>
          </p:nvSpPr>
          <p:spPr>
            <a:xfrm>
              <a:off x="7696200" y="2362200"/>
              <a:ext cx="2333625" cy="323850"/>
            </a:xfrm>
            <a:prstGeom prst="roundRect">
              <a:avLst>
                <a:gd name="adj" fmla="val 50000"/>
              </a:avLst>
            </a:prstGeom>
            <a:solidFill>
              <a:srgbClr val="A95743"/>
            </a:solidFill>
            <a:ln w="0">
              <a:noFill/>
              <a:prstDash val="solid"/>
            </a:ln>
          </p:spPr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8AA5E23-47EB-4BC6-BCE9-28520C46C753}"/>
                </a:ext>
              </a:extLst>
            </p:cNvPr>
            <p:cNvSpPr>
              <a:spLocks noGrp="1"/>
            </p:cNvSpPr>
            <p:nvPr/>
          </p:nvSpPr>
          <p:spPr>
            <a:xfrm>
              <a:off x="7791450" y="2400300"/>
              <a:ext cx="214312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ctr">
                <a:lnSpc>
                  <a:spcPct val="108000"/>
                </a:lnSpc>
                <a:defRPr sz="1088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50" b="1" err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집에서</a:t>
              </a:r>
              <a:r>
                <a:rPr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 </a:t>
              </a:r>
              <a:r>
                <a:rPr sz="1050" b="1" err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쉬어요</a:t>
              </a:r>
              <a:r>
                <a:rPr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 · </a:t>
              </a:r>
              <a:r>
                <a:rPr lang="en-US"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 – 44</a:t>
              </a:r>
              <a:r>
                <a:rPr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점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C912920-BFA0-451F-8CFE-F55341BB9504}"/>
              </a:ext>
            </a:extLst>
          </p:cNvPr>
          <p:cNvSpPr>
            <a:spLocks noGrp="1"/>
          </p:cNvSpPr>
          <p:nvPr/>
        </p:nvSpPr>
        <p:spPr>
          <a:xfrm>
            <a:off x="7928176" y="4790222"/>
            <a:ext cx="2876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869"/>
          </a:bodyPr>
          <a:lstStyle/>
          <a:p>
            <a:pPr algn="ctr">
              <a:lnSpc>
                <a:spcPct val="108000"/>
              </a:lnSpc>
              <a:buNone/>
              <a:defRPr sz="1613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오늘은 집에서 휴식하는 게 좋아요.</a:t>
            </a:r>
            <a:endParaRPr lang="ko-KR" altLang="en-US" sz="1400" b="1">
              <a:solidFill>
                <a:srgbClr val="3F493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03AFBC-3DC9-4782-A967-C8CB697634E8}"/>
              </a:ext>
            </a:extLst>
          </p:cNvPr>
          <p:cNvSpPr>
            <a:spLocks noGrp="1"/>
          </p:cNvSpPr>
          <p:nvPr/>
        </p:nvSpPr>
        <p:spPr>
          <a:xfrm>
            <a:off x="1428750" y="5382469"/>
            <a:ext cx="9334500" cy="666750"/>
          </a:xfrm>
          <a:prstGeom prst="roundRect">
            <a:avLst>
              <a:gd name="adj" fmla="val 50000"/>
            </a:avLst>
          </a:prstGeom>
          <a:solidFill>
            <a:srgbClr val="3F4930"/>
          </a:solidFill>
          <a:ln w="9525">
            <a:solidFill>
              <a:srgbClr val="3F4930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B17EA0-FED8-4871-BAB1-99982245EA2A}"/>
              </a:ext>
            </a:extLst>
          </p:cNvPr>
          <p:cNvSpPr>
            <a:spLocks noGrp="1"/>
          </p:cNvSpPr>
          <p:nvPr/>
        </p:nvSpPr>
        <p:spPr>
          <a:xfrm>
            <a:off x="1666875" y="5544273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4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Kakao 주소→좌표  ·  기상청 기온·강수  ·  AirKorea 미세먼지  ·  0~100점 범위로 보정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6ABBFB-B4F6-4828-9949-A2FC1F626F2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1DCA50-8D5E-159F-3A27-74FBDCEAE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10" y="2070835"/>
            <a:ext cx="3237649" cy="2284153"/>
          </a:xfrm>
          <a:prstGeom prst="roundRect">
            <a:avLst>
              <a:gd name="adj" fmla="val 11111"/>
            </a:avLst>
          </a:prstGeom>
          <a:ln w="190500" cap="rnd">
            <a:solidFill>
              <a:srgbClr val="FFFDF7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C9F7101-2A7E-4CC4-90AE-321568942434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709A361-2A22-4533-B1E6-855ED0B1707C}"/>
              </a:ext>
            </a:extLst>
          </p:cNvPr>
          <p:cNvGrpSpPr/>
          <p:nvPr/>
        </p:nvGrpSpPr>
        <p:grpSpPr>
          <a:xfrm>
            <a:off x="962736" y="4509995"/>
            <a:ext cx="2333625" cy="323850"/>
            <a:chOff x="723900" y="2362200"/>
            <a:chExt cx="2333625" cy="32385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087BCB6-6452-4F9F-986F-3F190B010DDD}"/>
                </a:ext>
              </a:extLst>
            </p:cNvPr>
            <p:cNvSpPr>
              <a:spLocks noGrp="1"/>
            </p:cNvSpPr>
            <p:nvPr/>
          </p:nvSpPr>
          <p:spPr>
            <a:xfrm>
              <a:off x="723900" y="2362200"/>
              <a:ext cx="2333625" cy="323850"/>
            </a:xfrm>
            <a:prstGeom prst="roundRect">
              <a:avLst>
                <a:gd name="adj" fmla="val 50000"/>
              </a:avLst>
            </a:prstGeom>
            <a:solidFill>
              <a:srgbClr val="3F4930"/>
            </a:solidFill>
            <a:ln w="0">
              <a:noFill/>
              <a:prstDash val="solid"/>
            </a:ln>
          </p:spPr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4AC65FE-EC22-4D62-8938-20A24DEB77A8}"/>
                </a:ext>
              </a:extLst>
            </p:cNvPr>
            <p:cNvSpPr>
              <a:spLocks noGrp="1"/>
            </p:cNvSpPr>
            <p:nvPr/>
          </p:nvSpPr>
          <p:spPr>
            <a:xfrm>
              <a:off x="819150" y="2405482"/>
              <a:ext cx="214312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rmAutofit/>
            </a:bodyPr>
            <a:lstStyle/>
            <a:p>
              <a:pPr algn="ctr">
                <a:lnSpc>
                  <a:spcPct val="108000"/>
                </a:lnSpc>
                <a:defRPr sz="1088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050" b="1" err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산책하기</a:t>
              </a:r>
              <a:r>
                <a:rPr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 </a:t>
              </a:r>
              <a:r>
                <a:rPr sz="1050" b="1" err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좋아요</a:t>
              </a:r>
              <a:r>
                <a:rPr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 · </a:t>
              </a:r>
              <a:r>
                <a:rPr lang="en-US"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75 – 100</a:t>
              </a:r>
              <a:r>
                <a:rPr sz="105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점</a:t>
              </a:r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CA9BA431-273D-4053-3AE6-07EF47071C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91" b="-500"/>
          <a:stretch>
            <a:fillRect/>
          </a:stretch>
        </p:blipFill>
        <p:spPr>
          <a:xfrm>
            <a:off x="7764105" y="2066005"/>
            <a:ext cx="3231044" cy="2295574"/>
          </a:xfrm>
          <a:prstGeom prst="roundRect">
            <a:avLst>
              <a:gd name="adj" fmla="val 11111"/>
            </a:avLst>
          </a:prstGeom>
          <a:ln w="190500" cap="rnd">
            <a:solidFill>
              <a:srgbClr val="FFFFFF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DD2320-FFFF-8F1E-FFCA-B06BFFB84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528" y="2061576"/>
            <a:ext cx="3266591" cy="2295229"/>
          </a:xfrm>
          <a:prstGeom prst="roundRect">
            <a:avLst>
              <a:gd name="adj" fmla="val 11111"/>
            </a:avLst>
          </a:prstGeom>
          <a:ln w="190500" cap="rnd">
            <a:solidFill>
              <a:srgbClr val="FFFFFF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73968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yebrow">
            <a:extLst>
              <a:ext uri="{FF2B5EF4-FFF2-40B4-BE49-F238E27FC236}">
                <a16:creationId xmlns:a16="http://schemas.microsoft.com/office/drawing/2014/main" id="{B99BFA67-A440-466C-9D38-87349F14B50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1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09</a:t>
            </a:r>
            <a:r>
              <a:rPr lang="ko-KR" sz="11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· CORE FEATURE ⑤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DB1BB5E-269D-4D4C-8476-DDC691420BF9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500">
                <a:solidFill>
                  <a:srgbClr val="3F4930"/>
                </a:solidFill>
                <a:ea typeface="+mn-lt"/>
                <a:cs typeface="+mn-lt"/>
              </a:rPr>
              <a:t>QR </a:t>
            </a:r>
            <a:r>
              <a:rPr lang="ko-KR" sz="3500">
                <a:solidFill>
                  <a:srgbClr val="3F4930"/>
                </a:solidFill>
                <a:ea typeface="+mn-lt"/>
                <a:cs typeface="+mn-lt"/>
              </a:rPr>
              <a:t>코드로 실종 시 보호자와 빠르게 연결합니다.</a:t>
            </a:r>
            <a:endParaRPr lang="ko-KR">
              <a:ea typeface="+mn-lt"/>
              <a:cs typeface="+mn-lt"/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D2D91671-0F37-44F2-9E81-732E259F1B4F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QR 자체에 개인정보를 넣지 않고, 공개 토큰 URL을 통해 선택한 정보만 서버에서 조회합니다.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90E999F-D3D1-4D45-AD53-E05746EAD46B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4C3175-D67B-4A69-AB26-F59E23AE9897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4286250" cy="3905250"/>
          </a:xfrm>
          <a:prstGeom prst="roundRect">
            <a:avLst>
              <a:gd name="adj" fmla="val 5854"/>
            </a:avLst>
          </a:prstGeom>
          <a:solidFill>
            <a:srgbClr val="3F4930"/>
          </a:solidFill>
          <a:ln w="9525">
            <a:solidFill>
              <a:srgbClr val="3F493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A4EBA5-BB6E-4BE5-A05D-F71D2069FB32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257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LOST PET QR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9AC57-D252-488E-BE66-987A55878635}"/>
              </a:ext>
            </a:extLst>
          </p:cNvPr>
          <p:cNvSpPr>
            <a:spLocks noGrp="1"/>
          </p:cNvSpPr>
          <p:nvPr/>
        </p:nvSpPr>
        <p:spPr>
          <a:xfrm>
            <a:off x="921792" y="2815704"/>
            <a:ext cx="3525672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반려동물을</a:t>
            </a: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잃어버렸을 때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연락받을 수 있는 공개 프로필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1ADA0E-5E1A-470C-88B5-F63F097560F3}"/>
              </a:ext>
            </a:extLst>
          </p:cNvPr>
          <p:cNvSpPr>
            <a:spLocks noGrp="1"/>
          </p:cNvSpPr>
          <p:nvPr/>
        </p:nvSpPr>
        <p:spPr>
          <a:xfrm>
            <a:off x="923925" y="3895725"/>
            <a:ext cx="1771650" cy="1771650"/>
          </a:xfrm>
          <a:prstGeom prst="roundRect">
            <a:avLst>
              <a:gd name="adj" fmla="val 6452"/>
            </a:avLst>
          </a:prstGeom>
          <a:solidFill>
            <a:srgbClr val="FFFDF7"/>
          </a:solidFill>
          <a:ln w="9525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DD7047-F531-452B-B237-8CB6A1DF4744}"/>
              </a:ext>
            </a:extLst>
          </p:cNvPr>
          <p:cNvSpPr>
            <a:spLocks noGrp="1"/>
          </p:cNvSpPr>
          <p:nvPr/>
        </p:nvSpPr>
        <p:spPr>
          <a:xfrm>
            <a:off x="2838450" y="3980731"/>
            <a:ext cx="1515014" cy="3579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시연용 QR 이미지</a:t>
            </a:r>
            <a:endParaRPr lang="ko-KR" altLang="en-US" sz="1200" b="1">
              <a:solidFill>
                <a:srgbClr val="EFE8D6"/>
              </a:solidFill>
              <a:latin typeface="Malgun Gothic"/>
              <a:ea typeface="Malgun Gothic"/>
              <a:cs typeface="Malgun Gothic"/>
            </a:endParaRPr>
          </a:p>
          <a:p>
            <a:pPr>
              <a:lnSpc>
                <a:spcPct val="108000"/>
              </a:lnSpc>
              <a:defRPr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동물정보</a:t>
            </a:r>
            <a:r>
              <a:rPr lang="en-US"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 :</a:t>
            </a:r>
            <a:r>
              <a:rPr lang="en-US" altLang="ko-KR"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라라</a:t>
            </a:r>
            <a:r>
              <a:rPr lang="en-US"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lang="ko-KR" altLang="en-US" sz="1200" b="1">
              <a:solidFill>
                <a:srgbClr val="EFE8D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6A8937-3381-4624-BF40-A75E79EC3CAE}"/>
              </a:ext>
            </a:extLst>
          </p:cNvPr>
          <p:cNvSpPr>
            <a:spLocks noGrp="1"/>
          </p:cNvSpPr>
          <p:nvPr/>
        </p:nvSpPr>
        <p:spPr>
          <a:xfrm>
            <a:off x="2838450" y="4457700"/>
            <a:ext cx="152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919" lnSpcReduction="20000"/>
          </a:bodyPr>
          <a:lstStyle/>
          <a:p>
            <a:pPr>
              <a:lnSpc>
                <a:spcPct val="120000"/>
              </a:lnSpc>
              <a:defRPr sz="13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350">
                <a:solidFill>
                  <a:srgbClr val="FFFFFF"/>
                </a:solidFill>
                <a:latin typeface="Malgun Gothic"/>
                <a:ea typeface="Malgun Gothic"/>
              </a:rPr>
              <a:t>QR </a:t>
            </a:r>
            <a:r>
              <a:rPr lang="en-US" altLang="ko-KR" sz="1350" err="1">
                <a:solidFill>
                  <a:srgbClr val="FFFFFF"/>
                </a:solidFill>
                <a:latin typeface="Malgun Gothic"/>
                <a:ea typeface="Malgun Gothic"/>
              </a:rPr>
              <a:t>주소</a:t>
            </a:r>
            <a:r>
              <a:rPr lang="en-US" altLang="ko-KR" sz="1350">
                <a:solidFill>
                  <a:srgbClr val="FFFFFF"/>
                </a:solidFill>
                <a:latin typeface="Malgun Gothic"/>
                <a:ea typeface="Malgun Gothic"/>
              </a:rPr>
              <a:t> :</a:t>
            </a:r>
          </a:p>
          <a:p>
            <a:pPr>
              <a:lnSpc>
                <a:spcPct val="120000"/>
              </a:lnSpc>
              <a:defRPr sz="138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350">
                <a:ea typeface="+mn-lt"/>
                <a:cs typeface="+mn-lt"/>
                <a:hlinkClick r:id="rId3"/>
              </a:rPr>
              <a:t>https://patpet.duckdns.org/lost-pet/1L_hQpcWAwlN6vVV0_1JIREr344-Rg9x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D10D96-1F84-42DD-87A5-83948724D629}"/>
              </a:ext>
            </a:extLst>
          </p:cNvPr>
          <p:cNvSpPr>
            <a:spLocks noGrp="1"/>
          </p:cNvSpPr>
          <p:nvPr/>
        </p:nvSpPr>
        <p:spPr>
          <a:xfrm>
            <a:off x="5381625" y="22098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공개할 정보만 선택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0C5F76-9422-42B6-A78F-9108CBA0E208}"/>
              </a:ext>
            </a:extLst>
          </p:cNvPr>
          <p:cNvSpPr>
            <a:spLocks noGrp="1"/>
          </p:cNvSpPr>
          <p:nvPr/>
        </p:nvSpPr>
        <p:spPr>
          <a:xfrm>
            <a:off x="5381625" y="2819400"/>
            <a:ext cx="5715000" cy="628650"/>
          </a:xfrm>
          <a:prstGeom prst="roundRect">
            <a:avLst>
              <a:gd name="adj" fmla="val 24242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B77059B-68D0-46DA-894E-7FE4565022DF}"/>
              </a:ext>
            </a:extLst>
          </p:cNvPr>
          <p:cNvSpPr>
            <a:spLocks noGrp="1"/>
          </p:cNvSpPr>
          <p:nvPr/>
        </p:nvSpPr>
        <p:spPr>
          <a:xfrm>
            <a:off x="5572125" y="29813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F4930"/>
          </a:solidFill>
          <a:ln w="9525">
            <a:solidFill>
              <a:srgbClr val="3F493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3B0017-6CC7-4BC4-8DD2-5C32E7BEB345}"/>
              </a:ext>
            </a:extLst>
          </p:cNvPr>
          <p:cNvSpPr>
            <a:spLocks noGrp="1"/>
          </p:cNvSpPr>
          <p:nvPr/>
        </p:nvSpPr>
        <p:spPr>
          <a:xfrm>
            <a:off x="5572125" y="2962275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44EFFE-C367-43D6-A222-6B7B371D12FA}"/>
              </a:ext>
            </a:extLst>
          </p:cNvPr>
          <p:cNvSpPr>
            <a:spLocks noGrp="1"/>
          </p:cNvSpPr>
          <p:nvPr/>
        </p:nvSpPr>
        <p:spPr>
          <a:xfrm>
            <a:off x="6096000" y="2924175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보호자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549838-8DC6-492B-BAF2-C8A435A92072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이름 · 연락처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ED66BE-E8A8-4FEC-97C4-83720692BBE6}"/>
              </a:ext>
            </a:extLst>
          </p:cNvPr>
          <p:cNvSpPr>
            <a:spLocks noGrp="1"/>
          </p:cNvSpPr>
          <p:nvPr/>
        </p:nvSpPr>
        <p:spPr>
          <a:xfrm>
            <a:off x="5381625" y="3638550"/>
            <a:ext cx="5715000" cy="628650"/>
          </a:xfrm>
          <a:prstGeom prst="roundRect">
            <a:avLst>
              <a:gd name="adj" fmla="val 24242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C6CB37-A5FB-44DD-B41A-2BC3BF4A6288}"/>
              </a:ext>
            </a:extLst>
          </p:cNvPr>
          <p:cNvSpPr>
            <a:spLocks noGrp="1"/>
          </p:cNvSpPr>
          <p:nvPr/>
        </p:nvSpPr>
        <p:spPr>
          <a:xfrm>
            <a:off x="5572125" y="38004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F4930"/>
          </a:solidFill>
          <a:ln w="9525">
            <a:solidFill>
              <a:srgbClr val="3F493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CF941D-1BD4-4AF3-B325-32C42970B20D}"/>
              </a:ext>
            </a:extLst>
          </p:cNvPr>
          <p:cNvSpPr>
            <a:spLocks noGrp="1"/>
          </p:cNvSpPr>
          <p:nvPr/>
        </p:nvSpPr>
        <p:spPr>
          <a:xfrm>
            <a:off x="5572125" y="3781425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2743E0-7A95-4C18-9728-798789900E7E}"/>
              </a:ext>
            </a:extLst>
          </p:cNvPr>
          <p:cNvSpPr>
            <a:spLocks noGrp="1"/>
          </p:cNvSpPr>
          <p:nvPr/>
        </p:nvSpPr>
        <p:spPr>
          <a:xfrm>
            <a:off x="6096000" y="3743325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반려동물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33F5E2-3374-4BFF-85D9-42351F93FCF5}"/>
              </a:ext>
            </a:extLst>
          </p:cNvPr>
          <p:cNvSpPr>
            <a:spLocks noGrp="1"/>
          </p:cNvSpPr>
          <p:nvPr/>
        </p:nvSpPr>
        <p:spPr>
          <a:xfrm>
            <a:off x="7334250" y="374332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이름 · 종류 · 품종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13FA27C-44B8-415D-A3CE-D9B1528FCF60}"/>
              </a:ext>
            </a:extLst>
          </p:cNvPr>
          <p:cNvSpPr>
            <a:spLocks noGrp="1"/>
          </p:cNvSpPr>
          <p:nvPr/>
        </p:nvSpPr>
        <p:spPr>
          <a:xfrm>
            <a:off x="5381625" y="4457700"/>
            <a:ext cx="5715000" cy="628650"/>
          </a:xfrm>
          <a:prstGeom prst="roundRect">
            <a:avLst>
              <a:gd name="adj" fmla="val 24242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FD43E07-781E-4D25-9E92-FDF1B63D6C5F}"/>
              </a:ext>
            </a:extLst>
          </p:cNvPr>
          <p:cNvSpPr>
            <a:spLocks noGrp="1"/>
          </p:cNvSpPr>
          <p:nvPr/>
        </p:nvSpPr>
        <p:spPr>
          <a:xfrm>
            <a:off x="5572125" y="46196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F4930"/>
          </a:solidFill>
          <a:ln w="9525">
            <a:solidFill>
              <a:srgbClr val="3F493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A99811-033C-4AC2-BE4F-F99BE17017E5}"/>
              </a:ext>
            </a:extLst>
          </p:cNvPr>
          <p:cNvSpPr>
            <a:spLocks noGrp="1"/>
          </p:cNvSpPr>
          <p:nvPr/>
        </p:nvSpPr>
        <p:spPr>
          <a:xfrm>
            <a:off x="5572125" y="4600575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10B1E2-8A18-4613-8D4B-6E23B50A470E}"/>
              </a:ext>
            </a:extLst>
          </p:cNvPr>
          <p:cNvSpPr>
            <a:spLocks noGrp="1"/>
          </p:cNvSpPr>
          <p:nvPr/>
        </p:nvSpPr>
        <p:spPr>
          <a:xfrm>
            <a:off x="6096000" y="4562475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병력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A778B8-C857-454D-BF30-097CA8E14574}"/>
              </a:ext>
            </a:extLst>
          </p:cNvPr>
          <p:cNvSpPr>
            <a:spLocks noGrp="1"/>
          </p:cNvSpPr>
          <p:nvPr/>
        </p:nvSpPr>
        <p:spPr>
          <a:xfrm>
            <a:off x="7334250" y="45624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medicalHistory / 특이사항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7C5D977-834A-43AE-98F1-FED9B3EC5C06}"/>
              </a:ext>
            </a:extLst>
          </p:cNvPr>
          <p:cNvSpPr>
            <a:spLocks noGrp="1"/>
          </p:cNvSpPr>
          <p:nvPr/>
        </p:nvSpPr>
        <p:spPr>
          <a:xfrm>
            <a:off x="5381625" y="5429250"/>
            <a:ext cx="5715000" cy="609600"/>
          </a:xfrm>
          <a:prstGeom prst="roundRect">
            <a:avLst>
              <a:gd name="adj" fmla="val 25000"/>
            </a:avLst>
          </a:prstGeom>
          <a:solidFill>
            <a:srgbClr val="F0DCD3"/>
          </a:solidFill>
          <a:ln w="9525">
            <a:solidFill>
              <a:srgbClr val="DFC1B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A24EB9-5E35-4C4C-9673-142FD7628368}"/>
              </a:ext>
            </a:extLst>
          </p:cNvPr>
          <p:cNvSpPr>
            <a:spLocks noGrp="1"/>
          </p:cNvSpPr>
          <p:nvPr/>
        </p:nvSpPr>
        <p:spPr>
          <a:xfrm>
            <a:off x="5619750" y="5591175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661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A9574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5743"/>
                </a:solidFill>
                <a:latin typeface="Malgun Gothic"/>
                <a:ea typeface="Malgun Gothic"/>
                <a:cs typeface="Malgun Gothic"/>
              </a:rPr>
              <a:t>공개 중지·삭제 시 같은 QR 주소도 더 이상 정보를 보여주지 않습니다.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F42F1A-DCED-40B0-8DB3-89912497381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1CD272-A338-45DE-A893-D29654C82AB2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F3CF069-E933-84C5-EA7A-61B93DC8C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689" y="3999716"/>
            <a:ext cx="1624731" cy="162473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9DE1237-D90F-AF21-223B-07716737B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026" y="1984076"/>
            <a:ext cx="2403231" cy="458637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B0EF11E-BEAC-387B-4B8F-E4BFDCEFEF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0148" y="1987670"/>
            <a:ext cx="2403231" cy="458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7" grpId="0"/>
      <p:bldP spid="20" grpId="0"/>
      <p:bldP spid="21" grpId="0"/>
      <p:bldP spid="22" grpId="0"/>
      <p:bldP spid="25" grpId="0" build="allAtOnce"/>
      <p:bldP spid="26" grpId="0"/>
      <p:bldP spid="27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C58C4208-1E2E-46BE-928F-0A1C23229088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1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10</a:t>
            </a:r>
            <a:r>
              <a:rPr sz="11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 · AI DESIGN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B5CA744-15A9-438B-8B6C-ED999CFE5E47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예측의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이유를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자연어</a:t>
            </a:r>
            <a:r>
              <a:rPr lang="ko-KR" altLang="en-US"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로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500" b="1" err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바꿉니다</a:t>
            </a:r>
            <a:r>
              <a:rPr sz="35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49D77FF3-7F2C-4D1E-A8A2-EF80BEAA3F1E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머신러닝 결과를 SHAP로 설명하고, 지식 검색과 생성형 AI를 결합해 보호자에게 이해하기 쉬운 표현으로 변환합니다.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DB146B8-D53A-4264-902C-5143A2AD7721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1620BEB-A65D-4894-BC94-F48543D82DF0}"/>
              </a:ext>
            </a:extLst>
          </p:cNvPr>
          <p:cNvSpPr>
            <a:spLocks noGrp="1"/>
          </p:cNvSpPr>
          <p:nvPr/>
        </p:nvSpPr>
        <p:spPr>
          <a:xfrm>
            <a:off x="2209800" y="3362325"/>
            <a:ext cx="590550" cy="22860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DCC8D62-7014-4203-9B88-AA20FE218164}"/>
              </a:ext>
            </a:extLst>
          </p:cNvPr>
          <p:cNvSpPr>
            <a:spLocks noGrp="1"/>
          </p:cNvSpPr>
          <p:nvPr/>
        </p:nvSpPr>
        <p:spPr>
          <a:xfrm>
            <a:off x="4457700" y="3362325"/>
            <a:ext cx="590550" cy="22860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6A0BC50-1153-4285-AD44-5B7F5DFC617E}"/>
              </a:ext>
            </a:extLst>
          </p:cNvPr>
          <p:cNvSpPr>
            <a:spLocks noGrp="1"/>
          </p:cNvSpPr>
          <p:nvPr/>
        </p:nvSpPr>
        <p:spPr>
          <a:xfrm>
            <a:off x="6705600" y="3362325"/>
            <a:ext cx="590550" cy="22860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8EF7C70-6434-4F56-A8D0-5EB6AD38F487}"/>
              </a:ext>
            </a:extLst>
          </p:cNvPr>
          <p:cNvSpPr>
            <a:spLocks noGrp="1"/>
          </p:cNvSpPr>
          <p:nvPr/>
        </p:nvSpPr>
        <p:spPr>
          <a:xfrm>
            <a:off x="8953500" y="3362325"/>
            <a:ext cx="590550" cy="228600"/>
          </a:xfrm>
          <a:prstGeom prst="rightArrow">
            <a:avLst/>
          </a:prstGeom>
          <a:solidFill>
            <a:srgbClr val="D7C9A5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F6D134-2D3C-40F6-9F25-02ECD964C8B2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1809750" cy="2476500"/>
          </a:xfrm>
          <a:prstGeom prst="roundRect">
            <a:avLst>
              <a:gd name="adj" fmla="val 12632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B7D144-4183-4436-85C6-B20418FF6819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4FFBF8-CCE3-4185-861E-F45F56114824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문진 데이터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A91DF0-8E06-41E7-B9FB-00592E5398EF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4668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종·나이·수치·</a:t>
            </a:r>
          </a:p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생활 상태·증상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B5B701-EA6A-49DE-8323-E13E1A9CDD2A}"/>
              </a:ext>
            </a:extLst>
          </p:cNvPr>
          <p:cNvSpPr>
            <a:spLocks noGrp="1"/>
          </p:cNvSpPr>
          <p:nvPr/>
        </p:nvSpPr>
        <p:spPr>
          <a:xfrm>
            <a:off x="2800350" y="2514600"/>
            <a:ext cx="1809750" cy="2476500"/>
          </a:xfrm>
          <a:prstGeom prst="roundRect">
            <a:avLst>
              <a:gd name="adj" fmla="val 12632"/>
            </a:avLst>
          </a:prstGeom>
          <a:solidFill>
            <a:srgbClr val="E7E8DA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1587EB-170A-4B9F-86E9-08C064D81171}"/>
              </a:ext>
            </a:extLst>
          </p:cNvPr>
          <p:cNvSpPr>
            <a:spLocks noGrp="1"/>
          </p:cNvSpPr>
          <p:nvPr/>
        </p:nvSpPr>
        <p:spPr>
          <a:xfrm>
            <a:off x="2990850" y="27432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44F9E2-16CE-4AA9-813D-02E56795628E}"/>
              </a:ext>
            </a:extLst>
          </p:cNvPr>
          <p:cNvSpPr>
            <a:spLocks noGrp="1"/>
          </p:cNvSpPr>
          <p:nvPr/>
        </p:nvSpPr>
        <p:spPr>
          <a:xfrm>
            <a:off x="2971800" y="33147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위험도 예측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E673B8-2657-44F2-99E2-816692A4CDBC}"/>
              </a:ext>
            </a:extLst>
          </p:cNvPr>
          <p:cNvSpPr>
            <a:spLocks noGrp="1"/>
          </p:cNvSpPr>
          <p:nvPr/>
        </p:nvSpPr>
        <p:spPr>
          <a:xfrm>
            <a:off x="2971800" y="3943350"/>
            <a:ext cx="14668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확률·등급 계산</a:t>
            </a:r>
          </a:p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최적 모델 선택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B1709-BD3C-408C-8C69-65A84C89C6AB}"/>
              </a:ext>
            </a:extLst>
          </p:cNvPr>
          <p:cNvSpPr>
            <a:spLocks noGrp="1"/>
          </p:cNvSpPr>
          <p:nvPr/>
        </p:nvSpPr>
        <p:spPr>
          <a:xfrm>
            <a:off x="5048250" y="2514600"/>
            <a:ext cx="1809750" cy="2476500"/>
          </a:xfrm>
          <a:prstGeom prst="roundRect">
            <a:avLst>
              <a:gd name="adj" fmla="val 12632"/>
            </a:avLst>
          </a:prstGeom>
          <a:solidFill>
            <a:srgbClr val="EFE8D6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CCA6C5-7D99-44AF-AD85-C5414929DD13}"/>
              </a:ext>
            </a:extLst>
          </p:cNvPr>
          <p:cNvSpPr>
            <a:spLocks noGrp="1"/>
          </p:cNvSpPr>
          <p:nvPr/>
        </p:nvSpPr>
        <p:spPr>
          <a:xfrm>
            <a:off x="5238750" y="27432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SHAP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91ED40-4825-4874-AFB3-0B5839B19B26}"/>
              </a:ext>
            </a:extLst>
          </p:cNvPr>
          <p:cNvSpPr>
            <a:spLocks noGrp="1"/>
          </p:cNvSpPr>
          <p:nvPr/>
        </p:nvSpPr>
        <p:spPr>
          <a:xfrm>
            <a:off x="5219700" y="33147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주요 요인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563FD-1020-4D69-A678-5152333A2E02}"/>
              </a:ext>
            </a:extLst>
          </p:cNvPr>
          <p:cNvSpPr>
            <a:spLocks noGrp="1"/>
          </p:cNvSpPr>
          <p:nvPr/>
        </p:nvSpPr>
        <p:spPr>
          <a:xfrm>
            <a:off x="5219700" y="3943350"/>
            <a:ext cx="14668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71"/>
          </a:bodyPr>
          <a:lstStyle/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예측에 크게 작용한</a:t>
            </a:r>
          </a:p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입력 특성 설명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064CBD-A8A8-4860-90DB-03E00770DA70}"/>
              </a:ext>
            </a:extLst>
          </p:cNvPr>
          <p:cNvSpPr>
            <a:spLocks noGrp="1"/>
          </p:cNvSpPr>
          <p:nvPr/>
        </p:nvSpPr>
        <p:spPr>
          <a:xfrm>
            <a:off x="7296150" y="2514600"/>
            <a:ext cx="1809750" cy="2476500"/>
          </a:xfrm>
          <a:prstGeom prst="roundRect">
            <a:avLst>
              <a:gd name="adj" fmla="val 12632"/>
            </a:avLst>
          </a:prstGeom>
          <a:solidFill>
            <a:srgbClr val="DCE8E8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C7C5A9-3D6F-42F3-88FE-616754779EC4}"/>
              </a:ext>
            </a:extLst>
          </p:cNvPr>
          <p:cNvSpPr>
            <a:spLocks noGrp="1"/>
          </p:cNvSpPr>
          <p:nvPr/>
        </p:nvSpPr>
        <p:spPr>
          <a:xfrm>
            <a:off x="7486650" y="27432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F80939-55E9-40A3-853A-94D7A9841394}"/>
              </a:ext>
            </a:extLst>
          </p:cNvPr>
          <p:cNvSpPr>
            <a:spLocks noGrp="1"/>
          </p:cNvSpPr>
          <p:nvPr/>
        </p:nvSpPr>
        <p:spPr>
          <a:xfrm>
            <a:off x="7467600" y="33147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B87AF4-9BB8-48F5-9D40-15C235DF8FF2}"/>
              </a:ext>
            </a:extLst>
          </p:cNvPr>
          <p:cNvSpPr>
            <a:spLocks noGrp="1"/>
          </p:cNvSpPr>
          <p:nvPr/>
        </p:nvSpPr>
        <p:spPr>
          <a:xfrm>
            <a:off x="7467600" y="3943350"/>
            <a:ext cx="14668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반려동물 건강</a:t>
            </a:r>
          </a:p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지식 문서 검색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EDF110A-2A7D-409D-A8CC-B73FA9B609BB}"/>
              </a:ext>
            </a:extLst>
          </p:cNvPr>
          <p:cNvSpPr>
            <a:spLocks noGrp="1"/>
          </p:cNvSpPr>
          <p:nvPr/>
        </p:nvSpPr>
        <p:spPr>
          <a:xfrm>
            <a:off x="9544050" y="2514600"/>
            <a:ext cx="1809750" cy="2476500"/>
          </a:xfrm>
          <a:prstGeom prst="roundRect">
            <a:avLst>
              <a:gd name="adj" fmla="val 12632"/>
            </a:avLst>
          </a:prstGeom>
          <a:solidFill>
            <a:srgbClr val="F0DCD3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7A3E58-D0F4-4F83-971E-EAB928934C8F}"/>
              </a:ext>
            </a:extLst>
          </p:cNvPr>
          <p:cNvSpPr>
            <a:spLocks noGrp="1"/>
          </p:cNvSpPr>
          <p:nvPr/>
        </p:nvSpPr>
        <p:spPr>
          <a:xfrm>
            <a:off x="9734550" y="27432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A9574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A95743"/>
                </a:solidFill>
                <a:latin typeface="Malgun Gothic"/>
                <a:ea typeface="Malgun Gothic"/>
                <a:cs typeface="Malgun Gothic"/>
              </a:rPr>
              <a:t>GEMINI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61CB3C-26E7-4D53-952F-970CE14EA61D}"/>
              </a:ext>
            </a:extLst>
          </p:cNvPr>
          <p:cNvSpPr>
            <a:spLocks noGrp="1"/>
          </p:cNvSpPr>
          <p:nvPr/>
        </p:nvSpPr>
        <p:spPr>
          <a:xfrm>
            <a:off x="9715500" y="33147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보호자 문장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041E69-B77E-44F5-9EE4-49B564DECD00}"/>
              </a:ext>
            </a:extLst>
          </p:cNvPr>
          <p:cNvSpPr>
            <a:spLocks noGrp="1"/>
          </p:cNvSpPr>
          <p:nvPr/>
        </p:nvSpPr>
        <p:spPr>
          <a:xfrm>
            <a:off x="9715500" y="3943350"/>
            <a:ext cx="14668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쉬운 설명·주의·</a:t>
            </a:r>
          </a:p>
          <a:p>
            <a:pPr algn="ctr">
              <a:lnSpc>
                <a:spcPct val="120000"/>
              </a:lnSpc>
              <a:buNone/>
              <a:def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진료 권고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151F10E-8913-412F-BDE4-F344F5816F76}"/>
              </a:ext>
            </a:extLst>
          </p:cNvPr>
          <p:cNvSpPr>
            <a:spLocks noGrp="1"/>
          </p:cNvSpPr>
          <p:nvPr/>
        </p:nvSpPr>
        <p:spPr>
          <a:xfrm>
            <a:off x="1809750" y="5362575"/>
            <a:ext cx="8572500" cy="571500"/>
          </a:xfrm>
          <a:prstGeom prst="roundRect">
            <a:avLst>
              <a:gd name="adj" fmla="val 50000"/>
            </a:avLst>
          </a:prstGeom>
          <a:solidFill>
            <a:srgbClr val="3F4930"/>
          </a:solidFill>
          <a:ln w="9525">
            <a:solidFill>
              <a:srgbClr val="3F4930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DA9865-7440-4D82-9AE0-884B5CE7A7E1}"/>
              </a:ext>
            </a:extLst>
          </p:cNvPr>
          <p:cNvSpPr>
            <a:spLocks noGrp="1"/>
          </p:cNvSpPr>
          <p:nvPr/>
        </p:nvSpPr>
        <p:spPr>
          <a:xfrm>
            <a:off x="2047875" y="551497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안전장치: 진단·처방·약물 단정 금지  ·  계산은 코드에서 수행  ·  생성 실패 시 템플릿 응답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4310F6-992B-408A-9670-BB3B489BF23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C0BA59-C043-4497-A9FA-2D513576B8AE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653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6EC37-E995-B808-B39B-73ED0AAF8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B1043257-A7FD-7100-C785-89A5105C4259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100">
                <a:solidFill>
                  <a:srgbClr val="66734F"/>
                </a:solidFill>
                <a:latin typeface="맑은 고딕"/>
                <a:ea typeface="맑은 고딕"/>
                <a:cs typeface="+mn-lt"/>
              </a:rPr>
              <a:t>11 · AI MODEL &amp; BENCHMARK</a:t>
            </a:r>
            <a:endParaRPr lang="ko-KR">
              <a:latin typeface="맑은 고딕"/>
              <a:ea typeface="맑은 고딕"/>
              <a:cs typeface="+mn-lt"/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2695E11-8B73-E643-CCF3-74EE7FDA1C52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2500" lnSpcReduction="20000"/>
          </a:bodyPr>
          <a:lstStyle/>
          <a:p>
            <a:pPr>
              <a:lnSpc>
                <a:spcPct val="108000"/>
              </a:lnSpc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4</a:t>
            </a:r>
            <a:r>
              <a:rPr lang="ko-KR" altLang="en-US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개</a:t>
            </a:r>
            <a:r>
              <a:rPr lang="en-US" altLang="ko-KR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모델</a:t>
            </a:r>
            <a:r>
              <a:rPr lang="en-US" altLang="ko-KR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비교</a:t>
            </a:r>
            <a:r>
              <a:rPr lang="en-US" altLang="ko-KR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검증과</a:t>
            </a:r>
            <a:r>
              <a:rPr lang="en-US" altLang="ko-KR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종별</a:t>
            </a:r>
            <a:r>
              <a:rPr lang="en-US" altLang="ko-KR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3500" err="1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임계값</a:t>
            </a:r>
            <a:r>
              <a:rPr lang="en-US" altLang="ko-KR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분리로</a:t>
            </a:r>
            <a:r>
              <a:rPr lang="en-US" altLang="ko-KR" sz="3500">
                <a:solidFill>
                  <a:srgbClr val="3F4930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합성</a:t>
            </a:r>
            <a:r>
              <a:rPr lang="en-US" altLang="ko-KR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데이터</a:t>
            </a:r>
            <a:r>
              <a:rPr lang="en-US" altLang="ko-KR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기준</a:t>
            </a:r>
            <a:r>
              <a:rPr lang="en-US" altLang="ko-KR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모델</a:t>
            </a:r>
            <a:r>
              <a:rPr lang="en-US" altLang="ko-KR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성능을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en-US" sz="3500" err="1">
                <a:solidFill>
                  <a:srgbClr val="3F4930"/>
                </a:solidFill>
                <a:ea typeface="+mn-lt"/>
                <a:cs typeface="+mn-lt"/>
              </a:rPr>
              <a:t>비교했습니다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.</a:t>
            </a:r>
            <a:endParaRPr lang="en-US" altLang="ko-KR" sz="3500">
              <a:latin typeface="맑은 고딕"/>
              <a:ea typeface="맑은 고딕"/>
              <a:cs typeface="+mn-lt"/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4C432214-EAA1-FA8C-751C-02F8A710384F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10,000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건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합성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데이터로</a:t>
            </a:r>
            <a:r>
              <a:rPr 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4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개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알고리즘을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정량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비교하고</a:t>
            </a:r>
            <a:r>
              <a:rPr lang="en-US" sz="1600" b="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,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강아지</a:t>
            </a:r>
            <a:r>
              <a:rPr 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고양이의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생리적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차이를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반영한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임계값을</a:t>
            </a:r>
            <a:r>
              <a:rPr lang="en-US" altLang="ko-KR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적용했습니다</a:t>
            </a:r>
            <a:r>
              <a:rPr lang="en-US" sz="1600" b="0">
                <a:solidFill>
                  <a:srgbClr val="68705F"/>
                </a:solidFill>
                <a:latin typeface="맑은 고딕"/>
                <a:ea typeface="맑은 고딕"/>
                <a:cs typeface="+mn-lt"/>
              </a:rPr>
              <a:t>.</a:t>
            </a:r>
            <a:endParaRPr lang="en-US" altLang="ko-KR" sz="1600">
              <a:latin typeface="맑은 고딕"/>
              <a:ea typeface="맑은 고딕"/>
              <a:cs typeface="+mn-lt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CB1EBF4-B582-D972-DF4A-AE46B802F81B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8D5453-17F4-1735-B0DF-BE835149951B}"/>
              </a:ext>
            </a:extLst>
          </p:cNvPr>
          <p:cNvSpPr>
            <a:spLocks noGrp="1"/>
          </p:cNvSpPr>
          <p:nvPr/>
        </p:nvSpPr>
        <p:spPr>
          <a:xfrm>
            <a:off x="572770" y="2209800"/>
            <a:ext cx="6158230" cy="34721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E9238D-A246-1F9A-1F75-322850102A2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맑은 고딕"/>
                <a:ea typeface="맑은 고딕"/>
                <a:cs typeface="Malgun Gothic"/>
              </a:rPr>
              <a:t>PATPET TEAM PROJECT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3BE84C-7E24-D646-82CA-4F14A6FC5FD5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050" b="1">
                <a:solidFill>
                  <a:srgbClr val="68705F"/>
                </a:solidFill>
                <a:latin typeface="맑은 고딕"/>
                <a:ea typeface="맑은 고딕"/>
                <a:cs typeface="Malgun Gothic"/>
              </a:rPr>
              <a:t>12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8B2F4A94-BA47-CF34-CB5C-6FE340E9A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550033"/>
              </p:ext>
            </p:extLst>
          </p:nvPr>
        </p:nvGraphicFramePr>
        <p:xfrm>
          <a:off x="730684" y="2860109"/>
          <a:ext cx="5824080" cy="246267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4816">
                  <a:extLst>
                    <a:ext uri="{9D8B030D-6E8A-4147-A177-3AD203B41FA5}">
                      <a16:colId xmlns:a16="http://schemas.microsoft.com/office/drawing/2014/main" val="3028658894"/>
                    </a:ext>
                  </a:extLst>
                </a:gridCol>
                <a:gridCol w="1164816">
                  <a:extLst>
                    <a:ext uri="{9D8B030D-6E8A-4147-A177-3AD203B41FA5}">
                      <a16:colId xmlns:a16="http://schemas.microsoft.com/office/drawing/2014/main" val="2184390144"/>
                    </a:ext>
                  </a:extLst>
                </a:gridCol>
                <a:gridCol w="1164816">
                  <a:extLst>
                    <a:ext uri="{9D8B030D-6E8A-4147-A177-3AD203B41FA5}">
                      <a16:colId xmlns:a16="http://schemas.microsoft.com/office/drawing/2014/main" val="2961866881"/>
                    </a:ext>
                  </a:extLst>
                </a:gridCol>
                <a:gridCol w="1164816">
                  <a:extLst>
                    <a:ext uri="{9D8B030D-6E8A-4147-A177-3AD203B41FA5}">
                      <a16:colId xmlns:a16="http://schemas.microsoft.com/office/drawing/2014/main" val="3810863698"/>
                    </a:ext>
                  </a:extLst>
                </a:gridCol>
                <a:gridCol w="1164816">
                  <a:extLst>
                    <a:ext uri="{9D8B030D-6E8A-4147-A177-3AD203B41FA5}">
                      <a16:colId xmlns:a16="http://schemas.microsoft.com/office/drawing/2014/main" val="346294052"/>
                    </a:ext>
                  </a:extLst>
                </a:gridCol>
              </a:tblGrid>
              <a:tr h="361493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900" b="1" i="0" spc="38">
                          <a:solidFill>
                            <a:srgbClr val="8E8D88"/>
                          </a:solidFill>
                          <a:effectLst/>
                          <a:latin typeface="Malgun Gothic"/>
                          <a:ea typeface="Malgun Gothic"/>
                        </a:rPr>
                        <a:t>모델 알고리즘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900" b="1" i="0" spc="38">
                          <a:solidFill>
                            <a:srgbClr val="8E8D88"/>
                          </a:solidFill>
                          <a:effectLst/>
                          <a:latin typeface="Malgun Gothic"/>
                          <a:ea typeface="Malgun Gothic"/>
                        </a:rPr>
                        <a:t>Macro F1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900" b="1" i="0" spc="38">
                          <a:solidFill>
                            <a:srgbClr val="8E8D88"/>
                          </a:solidFill>
                          <a:effectLst/>
                          <a:latin typeface="Malgun Gothic"/>
                          <a:ea typeface="Malgun Gothic"/>
                        </a:rPr>
                        <a:t>Recall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900" b="1" i="0" spc="38">
                          <a:solidFill>
                            <a:srgbClr val="8E8D88"/>
                          </a:solidFill>
                          <a:effectLst/>
                          <a:latin typeface="Malgun Gothic"/>
                          <a:ea typeface="Malgun Gothic"/>
                        </a:rPr>
                        <a:t>Precision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900" b="1" i="0" spc="38">
                          <a:solidFill>
                            <a:srgbClr val="8E8D88"/>
                          </a:solidFill>
                          <a:effectLst/>
                          <a:latin typeface="Malgun Gothic"/>
                          <a:ea typeface="Malgun Gothic"/>
                        </a:rPr>
                        <a:t>추론 속도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725246"/>
                  </a:ext>
                </a:extLst>
              </a:tr>
              <a:tr h="62131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Logistic Regression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0.8120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0.8095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0.8150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0.001s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14288" cap="flat" cmpd="sng" algn="ctr">
                      <a:solidFill>
                        <a:srgbClr val="E8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841363"/>
                  </a:ext>
                </a:extLst>
              </a:tr>
              <a:tr h="62131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Random Forest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0.9015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0.9030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0.9002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0.015s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49895"/>
                  </a:ext>
                </a:extLst>
              </a:tr>
              <a:tr h="429273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XGBoost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0.9180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0.9175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0.9190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0" i="0">
                          <a:solidFill>
                            <a:srgbClr val="1D1D1B"/>
                          </a:solidFill>
                          <a:effectLst/>
                          <a:latin typeface="Malgun Gothic"/>
                          <a:ea typeface="Malgun Gothic"/>
                        </a:rPr>
                        <a:t>0.004s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030432"/>
                  </a:ext>
                </a:extLst>
              </a:tr>
              <a:tr h="429273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1" i="0">
                          <a:solidFill>
                            <a:srgbClr val="1B5E38"/>
                          </a:solidFill>
                          <a:effectLst/>
                          <a:latin typeface="Malgun Gothic"/>
                          <a:ea typeface="Malgun Gothic"/>
                        </a:rPr>
                        <a:t>LightGBM</a:t>
                      </a:r>
                      <a:endParaRPr lang="ko-KR" sz="800" b="1" i="0">
                        <a:solidFill>
                          <a:srgbClr val="FFFFFF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1" i="0">
                          <a:solidFill>
                            <a:srgbClr val="1B5E38"/>
                          </a:solidFill>
                          <a:effectLst/>
                          <a:latin typeface="Malgun Gothic"/>
                          <a:ea typeface="Malgun Gothic"/>
                        </a:rPr>
                        <a:t>0.9257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1" i="0">
                          <a:solidFill>
                            <a:srgbClr val="1B5E38"/>
                          </a:solidFill>
                          <a:effectLst/>
                          <a:latin typeface="Malgun Gothic"/>
                          <a:ea typeface="Malgun Gothic"/>
                        </a:rPr>
                        <a:t>0.9270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1" i="0">
                          <a:solidFill>
                            <a:srgbClr val="1B5E38"/>
                          </a:solidFill>
                          <a:effectLst/>
                          <a:latin typeface="Malgun Gothic"/>
                          <a:ea typeface="Malgun Gothic"/>
                        </a:rPr>
                        <a:t>0.9250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00"/>
                        </a:spcBef>
                        <a:buNone/>
                      </a:pPr>
                      <a:r>
                        <a:rPr lang="ko-KR" sz="1000" b="1" i="0">
                          <a:solidFill>
                            <a:srgbClr val="1B5E38"/>
                          </a:solidFill>
                          <a:effectLst/>
                          <a:latin typeface="Malgun Gothic"/>
                          <a:ea typeface="Malgun Gothic"/>
                        </a:rPr>
                        <a:t>0.001s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618899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2683F692-ACFB-C32A-52C3-670B088DB049}"/>
              </a:ext>
            </a:extLst>
          </p:cNvPr>
          <p:cNvSpPr txBox="1"/>
          <p:nvPr/>
        </p:nvSpPr>
        <p:spPr>
          <a:xfrm>
            <a:off x="735139" y="2476604"/>
            <a:ext cx="347597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ML</a:t>
            </a:r>
            <a:r>
              <a:rPr lang="en-US" sz="1400" b="1" i="0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sz="1400" b="1" i="0" err="1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모델</a:t>
            </a:r>
            <a:r>
              <a:rPr lang="en-US" sz="1400" b="1" i="0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sz="1400" b="1" i="0" err="1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정량</a:t>
            </a:r>
            <a:r>
              <a:rPr lang="en-US" sz="1400" b="1" i="0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sz="1400" b="1" i="0" err="1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비교</a:t>
            </a:r>
            <a:r>
              <a:rPr lang="en-US" sz="1400" b="1" i="0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 (Macro </a:t>
            </a:r>
            <a:r>
              <a:rPr lang="en-US" sz="1400" b="1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F1 </a:t>
            </a:r>
            <a:r>
              <a:rPr lang="ko-KR" altLang="en-US" sz="1400" b="1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기준</a:t>
            </a:r>
            <a:r>
              <a:rPr lang="en-US" sz="1400" b="1">
                <a:solidFill>
                  <a:schemeClr val="tx2"/>
                </a:solidFill>
                <a:latin typeface="맑은 고딕"/>
                <a:ea typeface="맑은 고딕"/>
                <a:cs typeface="Calibri"/>
              </a:rPr>
              <a:t>)</a:t>
            </a:r>
            <a:endParaRPr lang="ko-KR" altLang="en-US">
              <a:solidFill>
                <a:schemeClr val="tx2"/>
              </a:solidFill>
            </a:endParaRPr>
          </a:p>
        </p:txBody>
      </p:sp>
      <p:sp>
        <p:nvSpPr>
          <p:cNvPr id="47" name="순서도: 수행의 시작/종료 46">
            <a:extLst>
              <a:ext uri="{FF2B5EF4-FFF2-40B4-BE49-F238E27FC236}">
                <a16:creationId xmlns:a16="http://schemas.microsoft.com/office/drawing/2014/main" id="{49965E5E-E610-3CF3-3FFE-DACD4374DFDC}"/>
              </a:ext>
            </a:extLst>
          </p:cNvPr>
          <p:cNvSpPr/>
          <p:nvPr/>
        </p:nvSpPr>
        <p:spPr>
          <a:xfrm>
            <a:off x="4873877" y="2471663"/>
            <a:ext cx="1565752" cy="313150"/>
          </a:xfrm>
          <a:prstGeom prst="flowChartTerminator">
            <a:avLst/>
          </a:prstGeom>
          <a:solidFill>
            <a:srgbClr val="EAF3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000" b="1">
                <a:solidFill>
                  <a:srgbClr val="1B5E38"/>
                </a:solidFill>
                <a:highlight>
                  <a:srgbClr val="EAF3EC"/>
                </a:highlight>
                <a:latin typeface="Malgun Gothic"/>
                <a:ea typeface="Malgun Gothic"/>
                <a:cs typeface="+mn-lt"/>
              </a:rPr>
              <a:t>LightGBM 최종 선정</a:t>
            </a:r>
            <a:endParaRPr lang="ko-KR" sz="1000">
              <a:latin typeface="Malgun Gothic"/>
              <a:ea typeface="Malgun Gothic"/>
            </a:endParaRPr>
          </a:p>
        </p:txBody>
      </p:sp>
      <p:sp>
        <p:nvSpPr>
          <p:cNvPr id="7" name="Rectangle: Rounded Corners 8">
            <a:extLst>
              <a:ext uri="{FF2B5EF4-FFF2-40B4-BE49-F238E27FC236}">
                <a16:creationId xmlns:a16="http://schemas.microsoft.com/office/drawing/2014/main" id="{C624065E-83AD-4496-4FE4-0C64E67CAE3E}"/>
              </a:ext>
            </a:extLst>
          </p:cNvPr>
          <p:cNvSpPr>
            <a:spLocks noGrp="1"/>
          </p:cNvSpPr>
          <p:nvPr/>
        </p:nvSpPr>
        <p:spPr>
          <a:xfrm>
            <a:off x="6871970" y="2199639"/>
            <a:ext cx="4766310" cy="34721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04724-8A75-D7D8-B2A5-57C47DD5040D}"/>
              </a:ext>
            </a:extLst>
          </p:cNvPr>
          <p:cNvSpPr txBox="1"/>
          <p:nvPr/>
        </p:nvSpPr>
        <p:spPr>
          <a:xfrm>
            <a:off x="6993698" y="2476604"/>
            <a:ext cx="347597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종별</a:t>
            </a:r>
            <a:r>
              <a:rPr lang="en-US" sz="1400" b="1" i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(</a:t>
            </a:r>
            <a:r>
              <a:rPr lang="en-US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DOG/CAT) </a:t>
            </a:r>
            <a:r>
              <a:rPr lang="ko-KR" altLang="en-US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생체</a:t>
            </a:r>
            <a:r>
              <a:rPr lang="en-US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임계값</a:t>
            </a:r>
            <a:r>
              <a:rPr lang="en-US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분리</a:t>
            </a:r>
            <a:endParaRPr lang="ko-KR" b="1">
              <a:solidFill>
                <a:schemeClr val="tx2"/>
              </a:solidFill>
              <a:latin typeface="Malgun Gothic"/>
              <a:ea typeface="Malgun Gothic"/>
            </a:endParaRP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9F837401-CB52-2646-54F8-5F1894D79B7F}"/>
              </a:ext>
            </a:extLst>
          </p:cNvPr>
          <p:cNvSpPr/>
          <p:nvPr/>
        </p:nvSpPr>
        <p:spPr>
          <a:xfrm>
            <a:off x="6995160" y="2864870"/>
            <a:ext cx="4416552" cy="1225446"/>
          </a:xfrm>
          <a:prstGeom prst="roundRect">
            <a:avLst/>
          </a:prstGeom>
          <a:solidFill>
            <a:srgbClr val="F9F8F4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1D1D1B"/>
                </a:solidFill>
                <a:latin typeface="맑은 고딕"/>
              </a:defRPr>
            </a:pPr>
            <a:r>
              <a:rPr sz="1200"/>
              <a:t>🐶 </a:t>
            </a:r>
            <a:r>
              <a:rPr sz="1200" err="1"/>
              <a:t>강아지</a:t>
            </a:r>
            <a:r>
              <a:rPr sz="1200"/>
              <a:t> (DOG)            </a:t>
            </a:r>
            <a:r>
              <a:rPr lang="ko-KR" sz="1200"/>
              <a:t> </a:t>
            </a:r>
            <a:r>
              <a:rPr sz="1200"/>
              <a:t>   </a:t>
            </a:r>
            <a:r>
              <a:rPr lang="ko-KR" sz="1200"/>
              <a:t> </a:t>
            </a:r>
            <a:r>
              <a:rPr sz="1200"/>
              <a:t>[</a:t>
            </a:r>
            <a:r>
              <a:rPr sz="1200" err="1"/>
              <a:t>정상</a:t>
            </a:r>
            <a:r>
              <a:rPr sz="1200"/>
              <a:t> </a:t>
            </a:r>
            <a:r>
              <a:rPr sz="1200" err="1"/>
              <a:t>체온</a:t>
            </a:r>
            <a:r>
              <a:rPr sz="1200"/>
              <a:t> 37.5 ~ 39.2</a:t>
            </a:r>
            <a:r>
              <a:rPr lang="en-US" sz="1200">
                <a:latin typeface="Malgun Gothic"/>
                <a:ea typeface="Malgun Gothic"/>
              </a:rPr>
              <a:t>°C]</a:t>
            </a:r>
            <a:endParaRPr lang="en-US" altLang="ko-KR" sz="1200">
              <a:latin typeface="Malgun Gothic"/>
              <a:ea typeface="Malgun Gothic"/>
            </a:endParaRPr>
          </a:p>
          <a:p>
            <a:pPr>
              <a:spcBef>
                <a:spcPts val="600"/>
              </a:spcBef>
              <a:defRPr sz="1000">
                <a:solidFill>
                  <a:srgbClr val="72716C"/>
                </a:solidFill>
                <a:latin typeface="맑은 고딕"/>
              </a:defRPr>
            </a:pPr>
            <a:r>
              <a:rPr sz="1200">
                <a:latin typeface="Malgun Gothic"/>
                <a:ea typeface="Malgun Gothic"/>
              </a:rPr>
              <a:t>• </a:t>
            </a:r>
            <a:r>
              <a:rPr sz="1200" err="1">
                <a:latin typeface="Malgun Gothic"/>
                <a:ea typeface="Malgun Gothic"/>
              </a:rPr>
              <a:t>미열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sz="1200" err="1">
                <a:latin typeface="Malgun Gothic"/>
                <a:ea typeface="Malgun Gothic"/>
              </a:rPr>
              <a:t>기준</a:t>
            </a:r>
            <a:r>
              <a:rPr sz="1200">
                <a:latin typeface="Malgun Gothic"/>
                <a:ea typeface="Malgun Gothic"/>
              </a:rPr>
              <a:t> : 39.3°C </a:t>
            </a:r>
            <a:r>
              <a:rPr sz="1200" err="1">
                <a:latin typeface="Malgun Gothic"/>
                <a:ea typeface="Malgun Gothic"/>
              </a:rPr>
              <a:t>이상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lang="ko-KR" sz="1200">
                <a:latin typeface="Malgun Gothic"/>
                <a:ea typeface="Malgun Gothic"/>
              </a:rPr>
              <a:t> </a:t>
            </a:r>
            <a:r>
              <a:rPr sz="1200">
                <a:latin typeface="Malgun Gothic"/>
                <a:ea typeface="Malgun Gothic"/>
              </a:rPr>
              <a:t>    </a:t>
            </a:r>
            <a:r>
              <a:rPr lang="ko-KR" sz="1200">
                <a:latin typeface="Malgun Gothic"/>
                <a:ea typeface="Malgun Gothic"/>
              </a:rPr>
              <a:t> </a:t>
            </a:r>
            <a:r>
              <a:rPr lang="ko-KR" sz="600">
                <a:latin typeface="Malgun Gothic"/>
                <a:ea typeface="Malgun Gothic"/>
              </a:rPr>
              <a:t> </a:t>
            </a:r>
            <a:r>
              <a:rPr lang="ko-KR" altLang="en-US" sz="1200">
                <a:latin typeface="Malgun Gothic"/>
                <a:ea typeface="Malgun Gothic"/>
              </a:rPr>
              <a:t> </a:t>
            </a:r>
            <a:r>
              <a:rPr sz="1200">
                <a:latin typeface="Malgun Gothic"/>
                <a:ea typeface="Malgun Gothic"/>
              </a:rPr>
              <a:t>• </a:t>
            </a:r>
            <a:r>
              <a:rPr sz="1200" err="1">
                <a:latin typeface="Malgun Gothic"/>
                <a:ea typeface="Malgun Gothic"/>
              </a:rPr>
              <a:t>고열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sz="1200" err="1">
                <a:latin typeface="Malgun Gothic"/>
                <a:ea typeface="Malgun Gothic"/>
              </a:rPr>
              <a:t>기준</a:t>
            </a:r>
            <a:r>
              <a:rPr sz="1200">
                <a:latin typeface="Malgun Gothic"/>
                <a:ea typeface="Malgun Gothic"/>
              </a:rPr>
              <a:t> : 40.0°C </a:t>
            </a:r>
            <a:r>
              <a:rPr sz="1200" err="1">
                <a:latin typeface="Malgun Gothic"/>
                <a:ea typeface="Malgun Gothic"/>
              </a:rPr>
              <a:t>이상</a:t>
            </a:r>
            <a:br>
              <a:rPr sz="1200">
                <a:latin typeface="Malgun Gothic"/>
                <a:ea typeface="Malgun Gothic"/>
              </a:rPr>
            </a:br>
            <a:r>
              <a:rPr sz="1200">
                <a:latin typeface="Malgun Gothic"/>
                <a:ea typeface="Malgun Gothic"/>
              </a:rPr>
              <a:t>• </a:t>
            </a:r>
            <a:r>
              <a:rPr sz="1200" err="1">
                <a:latin typeface="Malgun Gothic"/>
                <a:ea typeface="Malgun Gothic"/>
              </a:rPr>
              <a:t>빈맥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sz="1200" err="1">
                <a:latin typeface="Malgun Gothic"/>
                <a:ea typeface="Malgun Gothic"/>
              </a:rPr>
              <a:t>기준</a:t>
            </a:r>
            <a:r>
              <a:rPr sz="1200">
                <a:latin typeface="Malgun Gothic"/>
                <a:ea typeface="Malgun Gothic"/>
              </a:rPr>
              <a:t> : 160 bpm </a:t>
            </a:r>
            <a:r>
              <a:rPr sz="1200" err="1">
                <a:latin typeface="Malgun Gothic"/>
                <a:ea typeface="Malgun Gothic"/>
              </a:rPr>
              <a:t>이상</a:t>
            </a:r>
            <a:r>
              <a:rPr sz="1200">
                <a:latin typeface="Malgun Gothic"/>
                <a:ea typeface="Malgun Gothic"/>
              </a:rPr>
              <a:t>     • </a:t>
            </a:r>
            <a:r>
              <a:rPr sz="1200" err="1">
                <a:latin typeface="Malgun Gothic"/>
                <a:ea typeface="Malgun Gothic"/>
              </a:rPr>
              <a:t>호흡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sz="1200" err="1">
                <a:latin typeface="Malgun Gothic"/>
                <a:ea typeface="Malgun Gothic"/>
              </a:rPr>
              <a:t>급증</a:t>
            </a:r>
            <a:r>
              <a:rPr sz="1200">
                <a:latin typeface="Malgun Gothic"/>
                <a:ea typeface="Malgun Gothic"/>
              </a:rPr>
              <a:t> : 40회/분 </a:t>
            </a:r>
            <a:r>
              <a:rPr sz="1200" err="1">
                <a:latin typeface="Malgun Gothic"/>
                <a:ea typeface="Malgun Gothic"/>
              </a:rPr>
              <a:t>이상</a:t>
            </a:r>
            <a:endParaRPr sz="1200">
              <a:latin typeface="Malgun Gothic"/>
              <a:ea typeface="Malgun Gothic"/>
            </a:endParaRPr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9D4D11EB-0AEF-FEED-B6C1-988AD37B8E97}"/>
              </a:ext>
            </a:extLst>
          </p:cNvPr>
          <p:cNvSpPr/>
          <p:nvPr/>
        </p:nvSpPr>
        <p:spPr>
          <a:xfrm>
            <a:off x="6995160" y="4167022"/>
            <a:ext cx="4416552" cy="1225446"/>
          </a:xfrm>
          <a:prstGeom prst="roundRect">
            <a:avLst/>
          </a:prstGeom>
          <a:solidFill>
            <a:srgbClr val="F9F8F4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1D1D1B"/>
                </a:solidFill>
                <a:latin typeface="맑은 고딕"/>
              </a:defRPr>
            </a:pPr>
            <a:r>
              <a:rPr lang="ko-KR" altLang="en-US" sz="1200">
                <a:latin typeface="Malgun Gothic"/>
                <a:ea typeface="Malgun Gothic"/>
              </a:rPr>
              <a:t>🐱</a:t>
            </a:r>
            <a:r>
              <a:rPr lang="en-US" altLang="ko-KR" sz="1200">
                <a:latin typeface="Malgun Gothic"/>
                <a:ea typeface="Malgun Gothic"/>
              </a:rPr>
              <a:t> </a:t>
            </a:r>
            <a:r>
              <a:rPr lang="ko-KR" altLang="en-US" sz="1200">
                <a:latin typeface="Malgun Gothic"/>
                <a:ea typeface="Malgun Gothic"/>
              </a:rPr>
              <a:t>고양이</a:t>
            </a:r>
            <a:r>
              <a:rPr lang="en-US" sz="1200">
                <a:latin typeface="Malgun Gothic"/>
                <a:ea typeface="Malgun Gothic"/>
              </a:rPr>
              <a:t> (CAT)                   [</a:t>
            </a:r>
            <a:r>
              <a:rPr lang="ko-KR" altLang="en-US" sz="1200">
                <a:latin typeface="Malgun Gothic"/>
                <a:ea typeface="Malgun Gothic"/>
              </a:rPr>
              <a:t>정상</a:t>
            </a:r>
            <a:r>
              <a:rPr lang="en-US" altLang="ko-KR" sz="1200">
                <a:latin typeface="Malgun Gothic"/>
                <a:ea typeface="Malgun Gothic"/>
              </a:rPr>
              <a:t> </a:t>
            </a:r>
            <a:r>
              <a:rPr lang="ko-KR" altLang="en-US" sz="1200">
                <a:latin typeface="Malgun Gothic"/>
                <a:ea typeface="Malgun Gothic"/>
              </a:rPr>
              <a:t>체온</a:t>
            </a:r>
            <a:r>
              <a:rPr lang="en-US" altLang="ko-KR" sz="1200">
                <a:latin typeface="Malgun Gothic"/>
                <a:ea typeface="Malgun Gothic"/>
              </a:rPr>
              <a:t> 38.0</a:t>
            </a:r>
            <a:r>
              <a:rPr lang="en-US" sz="1200">
                <a:latin typeface="Malgun Gothic"/>
                <a:ea typeface="Malgun Gothic"/>
              </a:rPr>
              <a:t> ~39.5°C]</a:t>
            </a:r>
            <a:endParaRPr lang="en-US" sz="1200">
              <a:solidFill>
                <a:srgbClr val="000000"/>
              </a:solidFill>
              <a:latin typeface="Malgun Gothic"/>
              <a:ea typeface="Malgun Gothic"/>
            </a:endParaRPr>
          </a:p>
          <a:p>
            <a:pPr>
              <a:defRPr sz="1100" b="1">
                <a:solidFill>
                  <a:srgbClr val="1D1D1B"/>
                </a:solidFill>
                <a:latin typeface="맑은 고딕"/>
              </a:defRPr>
            </a:pPr>
            <a:endParaRPr lang="af-ZA" sz="1200"/>
          </a:p>
          <a:p>
            <a:pPr>
              <a:spcBef>
                <a:spcPts val="600"/>
              </a:spcBef>
              <a:defRPr sz="1000">
                <a:solidFill>
                  <a:srgbClr val="72716C"/>
                </a:solidFill>
                <a:latin typeface="맑은 고딕"/>
              </a:defRPr>
            </a:pPr>
            <a:r>
              <a:rPr sz="1200">
                <a:latin typeface="Malgun Gothic"/>
                <a:ea typeface="Malgun Gothic"/>
              </a:rPr>
              <a:t>• </a:t>
            </a:r>
            <a:r>
              <a:rPr sz="1200" err="1">
                <a:latin typeface="Malgun Gothic"/>
                <a:ea typeface="Malgun Gothic"/>
              </a:rPr>
              <a:t>미열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sz="1200" err="1">
                <a:latin typeface="Malgun Gothic"/>
                <a:ea typeface="Malgun Gothic"/>
              </a:rPr>
              <a:t>기준</a:t>
            </a:r>
            <a:r>
              <a:rPr sz="1200">
                <a:latin typeface="Malgun Gothic"/>
                <a:ea typeface="Malgun Gothic"/>
              </a:rPr>
              <a:t> : </a:t>
            </a:r>
            <a:r>
              <a:rPr lang="en-US" sz="1200">
                <a:latin typeface="Malgun Gothic"/>
                <a:ea typeface="Malgun Gothic"/>
              </a:rPr>
              <a:t>39.6</a:t>
            </a:r>
            <a:r>
              <a:rPr sz="1200">
                <a:latin typeface="Malgun Gothic"/>
                <a:ea typeface="Malgun Gothic"/>
              </a:rPr>
              <a:t>°C </a:t>
            </a:r>
            <a:r>
              <a:rPr sz="1200" err="1">
                <a:latin typeface="Malgun Gothic"/>
                <a:ea typeface="Malgun Gothic"/>
              </a:rPr>
              <a:t>이상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lang="ko-KR" sz="1200">
                <a:latin typeface="Malgun Gothic"/>
                <a:ea typeface="Malgun Gothic"/>
              </a:rPr>
              <a:t> </a:t>
            </a:r>
            <a:r>
              <a:rPr sz="1200">
                <a:latin typeface="Malgun Gothic"/>
                <a:ea typeface="Malgun Gothic"/>
              </a:rPr>
              <a:t>    </a:t>
            </a:r>
            <a:r>
              <a:rPr lang="ko-KR" sz="1200">
                <a:latin typeface="Malgun Gothic"/>
                <a:ea typeface="Malgun Gothic"/>
              </a:rPr>
              <a:t> </a:t>
            </a:r>
            <a:r>
              <a:rPr lang="ko-KR" sz="600">
                <a:latin typeface="Malgun Gothic"/>
                <a:ea typeface="Malgun Gothic"/>
              </a:rPr>
              <a:t> </a:t>
            </a:r>
            <a:r>
              <a:rPr lang="ko-KR" altLang="en-US" sz="1200">
                <a:latin typeface="Malgun Gothic"/>
                <a:ea typeface="Malgun Gothic"/>
              </a:rPr>
              <a:t> </a:t>
            </a:r>
            <a:r>
              <a:rPr sz="1200">
                <a:latin typeface="Malgun Gothic"/>
                <a:ea typeface="Malgun Gothic"/>
              </a:rPr>
              <a:t>• </a:t>
            </a:r>
            <a:r>
              <a:rPr sz="1200" err="1">
                <a:latin typeface="Malgun Gothic"/>
                <a:ea typeface="Malgun Gothic"/>
              </a:rPr>
              <a:t>고열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sz="1200" err="1">
                <a:latin typeface="Malgun Gothic"/>
                <a:ea typeface="Malgun Gothic"/>
              </a:rPr>
              <a:t>기준</a:t>
            </a:r>
            <a:r>
              <a:rPr sz="1200">
                <a:latin typeface="Malgun Gothic"/>
                <a:ea typeface="Malgun Gothic"/>
              </a:rPr>
              <a:t> : </a:t>
            </a:r>
            <a:r>
              <a:rPr lang="en-US" sz="1200">
                <a:latin typeface="Malgun Gothic"/>
                <a:ea typeface="Malgun Gothic"/>
              </a:rPr>
              <a:t>40.5</a:t>
            </a:r>
            <a:r>
              <a:rPr sz="1200">
                <a:latin typeface="Malgun Gothic"/>
                <a:ea typeface="Malgun Gothic"/>
              </a:rPr>
              <a:t>°C </a:t>
            </a:r>
            <a:r>
              <a:rPr sz="1200" err="1">
                <a:latin typeface="Malgun Gothic"/>
                <a:ea typeface="Malgun Gothic"/>
              </a:rPr>
              <a:t>이상</a:t>
            </a:r>
            <a:br>
              <a:rPr sz="1200">
                <a:latin typeface="Malgun Gothic"/>
                <a:ea typeface="Malgun Gothic"/>
              </a:rPr>
            </a:br>
            <a:r>
              <a:rPr sz="1200">
                <a:latin typeface="Malgun Gothic"/>
                <a:ea typeface="Malgun Gothic"/>
              </a:rPr>
              <a:t>• </a:t>
            </a:r>
            <a:r>
              <a:rPr sz="1200" err="1">
                <a:latin typeface="Malgun Gothic"/>
                <a:ea typeface="Malgun Gothic"/>
              </a:rPr>
              <a:t>빈맥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sz="1200" err="1">
                <a:latin typeface="Malgun Gothic"/>
                <a:ea typeface="Malgun Gothic"/>
              </a:rPr>
              <a:t>기준</a:t>
            </a:r>
            <a:r>
              <a:rPr sz="1200">
                <a:latin typeface="Malgun Gothic"/>
                <a:ea typeface="Malgun Gothic"/>
              </a:rPr>
              <a:t> : </a:t>
            </a:r>
            <a:r>
              <a:rPr lang="en-US" sz="1200">
                <a:latin typeface="Malgun Gothic"/>
                <a:ea typeface="Malgun Gothic"/>
              </a:rPr>
              <a:t>240</a:t>
            </a:r>
            <a:r>
              <a:rPr lang="ko-KR" sz="1200">
                <a:latin typeface="Malgun Gothic"/>
                <a:ea typeface="Malgun Gothic"/>
              </a:rPr>
              <a:t> </a:t>
            </a:r>
            <a:r>
              <a:rPr sz="1200">
                <a:latin typeface="Malgun Gothic"/>
                <a:ea typeface="Malgun Gothic"/>
              </a:rPr>
              <a:t>bpm </a:t>
            </a:r>
            <a:r>
              <a:rPr sz="1200" err="1">
                <a:latin typeface="Malgun Gothic"/>
                <a:ea typeface="Malgun Gothic"/>
              </a:rPr>
              <a:t>이상</a:t>
            </a:r>
            <a:r>
              <a:rPr sz="1200">
                <a:latin typeface="Malgun Gothic"/>
                <a:ea typeface="Malgun Gothic"/>
              </a:rPr>
              <a:t>     • </a:t>
            </a:r>
            <a:r>
              <a:rPr sz="1200" err="1">
                <a:latin typeface="Malgun Gothic"/>
                <a:ea typeface="Malgun Gothic"/>
              </a:rPr>
              <a:t>호흡</a:t>
            </a:r>
            <a:r>
              <a:rPr sz="1200">
                <a:latin typeface="Malgun Gothic"/>
                <a:ea typeface="Malgun Gothic"/>
              </a:rPr>
              <a:t> </a:t>
            </a:r>
            <a:r>
              <a:rPr sz="1200" err="1">
                <a:latin typeface="Malgun Gothic"/>
                <a:ea typeface="Malgun Gothic"/>
              </a:rPr>
              <a:t>급증</a:t>
            </a:r>
            <a:r>
              <a:rPr sz="1200">
                <a:latin typeface="Malgun Gothic"/>
                <a:ea typeface="Malgun Gothic"/>
              </a:rPr>
              <a:t> : 40회/분 </a:t>
            </a:r>
            <a:r>
              <a:rPr sz="1200" err="1">
                <a:latin typeface="Malgun Gothic"/>
                <a:ea typeface="Malgun Gothic"/>
              </a:rPr>
              <a:t>이상</a:t>
            </a:r>
            <a:endParaRPr sz="1200"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034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B5E00-3A8F-4781-576D-80DA4BE2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0D56FCBF-04F0-3B22-3B2B-A3CE5E6330FC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100">
                <a:solidFill>
                  <a:srgbClr val="66734F"/>
                </a:solidFill>
                <a:ea typeface="+mn-lt"/>
                <a:cs typeface="+mn-lt"/>
              </a:rPr>
              <a:t>12 · RAG &amp; SYSTEM RELIABILITY</a:t>
            </a:r>
            <a:endParaRPr lang="ko-KR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FEF6592-B38C-1971-EC87-B31EE04B5614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500" lnSpcReduction="20000"/>
          </a:bodyPr>
          <a:lstStyle/>
          <a:p>
            <a:pPr>
              <a:lnSpc>
                <a:spcPct val="108000"/>
              </a:lnSpc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44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개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지식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문서와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3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중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en-US" altLang="ko-KR" sz="3500">
                <a:solidFill>
                  <a:srgbClr val="3F4930"/>
                </a:solidFill>
                <a:ea typeface="+mn-lt"/>
                <a:cs typeface="+mn-lt"/>
              </a:rPr>
              <a:t>Fallback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구조로</a:t>
            </a:r>
            <a:r>
              <a:rPr lang="en-US" altLang="ko-KR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응답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안정성을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ko-KR" altLang="en-US" sz="3500">
                <a:solidFill>
                  <a:srgbClr val="3F4930"/>
                </a:solidFill>
                <a:ea typeface="+mn-lt"/>
                <a:cs typeface="+mn-lt"/>
              </a:rPr>
              <a:t>높였습니다</a:t>
            </a:r>
            <a:r>
              <a:rPr lang="en-US" sz="3500">
                <a:solidFill>
                  <a:srgbClr val="3F4930"/>
                </a:solidFill>
                <a:ea typeface="+mn-lt"/>
                <a:cs typeface="+mn-lt"/>
              </a:rPr>
              <a:t>.</a:t>
            </a:r>
            <a:endParaRPr lang="ko-KR">
              <a:ea typeface="+mn-lt"/>
              <a:cs typeface="+mn-lt"/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D5F7A7B2-26F4-2C12-B737-7AA24EAB586E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근거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문서를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함께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68705F"/>
                </a:solidFill>
                <a:ea typeface="+mn-lt"/>
                <a:cs typeface="+mn-lt"/>
              </a:rPr>
              <a:t>활용하고</a:t>
            </a:r>
            <a:r>
              <a:rPr lang="en-US" sz="1600" b="0">
                <a:solidFill>
                  <a:srgbClr val="68705F"/>
                </a:solidFill>
                <a:ea typeface="+mn-lt"/>
                <a:cs typeface="+mn-lt"/>
              </a:rPr>
              <a:t>,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외부</a:t>
            </a:r>
            <a:r>
              <a:rPr lang="en-US" sz="1600">
                <a:solidFill>
                  <a:srgbClr val="68705F"/>
                </a:solidFill>
                <a:ea typeface="+mn-lt"/>
                <a:cs typeface="+mn-lt"/>
              </a:rPr>
              <a:t> AI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응답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실패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시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단계별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대체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응답을</a:t>
            </a:r>
            <a:r>
              <a:rPr lang="en-US" altLang="ko-KR" sz="160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68705F"/>
                </a:solidFill>
                <a:ea typeface="+mn-lt"/>
                <a:cs typeface="+mn-lt"/>
              </a:rPr>
              <a:t>제공합니다</a:t>
            </a:r>
            <a:endParaRPr lang="ko-KR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5AA7AA1-BD69-A97E-260A-1B4559875C87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D266B7-1DA7-1280-1D28-F88F5357781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맑은 고딕"/>
                <a:ea typeface="맑은 고딕"/>
                <a:cs typeface="Malgun Gothic"/>
              </a:rPr>
              <a:t>PATPET TEAM PROJECT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C2BADF-7CE4-7F4A-649C-7C72A53FF06B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050" b="1">
                <a:solidFill>
                  <a:srgbClr val="68705F"/>
                </a:solidFill>
                <a:latin typeface="맑은 고딕"/>
                <a:ea typeface="맑은 고딕"/>
                <a:cs typeface="Malgun Gothic"/>
              </a:rPr>
              <a:t>13</a:t>
            </a:r>
            <a:endParaRPr sz="1050" b="1">
              <a:solidFill>
                <a:srgbClr val="68705F"/>
              </a:solidFill>
              <a:latin typeface="맑은 고딕"/>
              <a:ea typeface="맑은 고딕"/>
              <a:cs typeface="Malgun Gothic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837CEDE9-F362-71F3-4372-3709D19DC317}"/>
              </a:ext>
            </a:extLst>
          </p:cNvPr>
          <p:cNvSpPr/>
          <p:nvPr/>
        </p:nvSpPr>
        <p:spPr>
          <a:xfrm>
            <a:off x="500415" y="2098736"/>
            <a:ext cx="5669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D1AF385-907A-5E1F-6302-A65300F78821}"/>
              </a:ext>
            </a:extLst>
          </p:cNvPr>
          <p:cNvSpPr txBox="1"/>
          <p:nvPr/>
        </p:nvSpPr>
        <p:spPr>
          <a:xfrm>
            <a:off x="683295" y="2225458"/>
            <a:ext cx="2826095" cy="29238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1D1D1B"/>
                </a:solidFill>
                <a:latin typeface="맑은 고딕"/>
              </a:defRPr>
            </a:pPr>
            <a:r>
              <a:rPr>
                <a:solidFill>
                  <a:srgbClr val="3F4930"/>
                </a:solidFill>
              </a:rPr>
              <a:t>  RAG </a:t>
            </a:r>
            <a:r>
              <a:rPr err="1">
                <a:solidFill>
                  <a:srgbClr val="3F4930"/>
                </a:solidFill>
              </a:rPr>
              <a:t>수의학</a:t>
            </a:r>
            <a:r>
              <a:rPr>
                <a:solidFill>
                  <a:srgbClr val="3F4930"/>
                </a:solidFill>
              </a:rPr>
              <a:t> </a:t>
            </a:r>
            <a:r>
              <a:rPr err="1">
                <a:solidFill>
                  <a:srgbClr val="3F4930"/>
                </a:solidFill>
              </a:rPr>
              <a:t>지식베이스</a:t>
            </a:r>
            <a:r>
              <a:rPr>
                <a:solidFill>
                  <a:srgbClr val="3F4930"/>
                </a:solidFill>
              </a:rPr>
              <a:t> </a:t>
            </a:r>
            <a:r>
              <a:rPr err="1">
                <a:solidFill>
                  <a:srgbClr val="3F4930"/>
                </a:solidFill>
              </a:rPr>
              <a:t>아키텍처</a:t>
            </a:r>
            <a:endParaRPr lang="ko-KR" altLang="en-US" err="1">
              <a:solidFill>
                <a:srgbClr val="3F4930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22DAA7F7-75E8-2DF3-CB38-F79E568A1986}"/>
              </a:ext>
            </a:extLst>
          </p:cNvPr>
          <p:cNvSpPr/>
          <p:nvPr/>
        </p:nvSpPr>
        <p:spPr>
          <a:xfrm>
            <a:off x="683295" y="2647376"/>
            <a:ext cx="2560320" cy="1554480"/>
          </a:xfrm>
          <a:prstGeom prst="roundRect">
            <a:avLst/>
          </a:prstGeom>
          <a:solidFill>
            <a:srgbClr val="F9F8F4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8E8D88"/>
                </a:solidFill>
                <a:latin typeface="맑은 고딕"/>
              </a:defRPr>
            </a:pPr>
            <a:r>
              <a:t>수의학 전문 문서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1D1D1B"/>
                </a:solidFill>
                <a:latin typeface="맑은 고딕"/>
              </a:defRPr>
            </a:pPr>
            <a:r>
              <a:t>44개 코퍼스</a:t>
            </a:r>
          </a:p>
          <a:p>
            <a:pPr>
              <a:defRPr sz="900">
                <a:solidFill>
                  <a:srgbClr val="72716C"/>
                </a:solidFill>
                <a:latin typeface="맑은 고딕"/>
              </a:defRPr>
            </a:pPr>
            <a:r>
              <a:t>체온·소화기·피부·호흡 등 증상별 가이드라인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4CB1AD5-1855-7389-1F8A-CA42B8F93D26}"/>
              </a:ext>
            </a:extLst>
          </p:cNvPr>
          <p:cNvSpPr/>
          <p:nvPr/>
        </p:nvSpPr>
        <p:spPr>
          <a:xfrm>
            <a:off x="3426495" y="2647376"/>
            <a:ext cx="2560320" cy="1554480"/>
          </a:xfrm>
          <a:prstGeom prst="roundRect">
            <a:avLst/>
          </a:prstGeom>
          <a:solidFill>
            <a:srgbClr val="F9F8F4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8E8D88"/>
                </a:solidFill>
                <a:latin typeface="맑은 고딕"/>
              </a:defRPr>
            </a:pPr>
            <a:r>
              <a:t>증상별 체크포인트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1D1D1B"/>
                </a:solidFill>
                <a:latin typeface="맑은 고딕"/>
              </a:defRPr>
            </a:pPr>
            <a:r>
              <a:t>18개 카테고리</a:t>
            </a:r>
          </a:p>
          <a:p>
            <a:pPr>
              <a:defRPr sz="900">
                <a:solidFill>
                  <a:srgbClr val="72716C"/>
                </a:solidFill>
                <a:latin typeface="맑은 고딕"/>
              </a:defRPr>
            </a:pPr>
            <a:r>
              <a:t>ML 위험 요인과 1:1 매핑되는 정형 딕셔너리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6679701E-ADD6-29F6-DA44-CB6A439EFBF2}"/>
              </a:ext>
            </a:extLst>
          </p:cNvPr>
          <p:cNvSpPr/>
          <p:nvPr/>
        </p:nvSpPr>
        <p:spPr>
          <a:xfrm>
            <a:off x="683295" y="4339016"/>
            <a:ext cx="2560320" cy="1554480"/>
          </a:xfrm>
          <a:prstGeom prst="roundRect">
            <a:avLst/>
          </a:prstGeom>
          <a:solidFill>
            <a:srgbClr val="F9F8F4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8E8D88"/>
                </a:solidFill>
                <a:latin typeface="맑은 고딕"/>
              </a:defRPr>
            </a:pPr>
            <a:r>
              <a:t>다국어 임베딩 모델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1D1D1B"/>
                </a:solidFill>
                <a:latin typeface="맑은 고딕"/>
              </a:defRPr>
            </a:pPr>
            <a:r>
              <a:t>MiniLM-L12-v2</a:t>
            </a:r>
          </a:p>
          <a:p>
            <a:pPr>
              <a:defRPr sz="900">
                <a:solidFill>
                  <a:srgbClr val="72716C"/>
                </a:solidFill>
                <a:latin typeface="맑은 고딕"/>
              </a:defRPr>
            </a:pPr>
            <a:r>
              <a:t>384차원 벡터 변환 ('헥헥' ↔ '과호흡' 유사도)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0109E1B1-9AF4-2A19-24AE-59E294899598}"/>
              </a:ext>
            </a:extLst>
          </p:cNvPr>
          <p:cNvSpPr/>
          <p:nvPr/>
        </p:nvSpPr>
        <p:spPr>
          <a:xfrm>
            <a:off x="3426495" y="4339016"/>
            <a:ext cx="2560320" cy="1554480"/>
          </a:xfrm>
          <a:prstGeom prst="roundRect">
            <a:avLst/>
          </a:prstGeom>
          <a:solidFill>
            <a:srgbClr val="F9F8F4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50" b="1">
                <a:solidFill>
                  <a:srgbClr val="8E8D88"/>
                </a:solidFill>
                <a:latin typeface="맑은 고딕"/>
              </a:defRPr>
            </a:pPr>
            <a:r>
              <a:t>로컬 벡터 DB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1D1D1B"/>
                </a:solidFill>
                <a:latin typeface="맑은 고딕"/>
              </a:defRPr>
            </a:pPr>
            <a:r>
              <a:t>ChromaDB</a:t>
            </a:r>
          </a:p>
          <a:p>
            <a:pPr>
              <a:defRPr sz="900">
                <a:solidFill>
                  <a:srgbClr val="72716C"/>
                </a:solidFill>
                <a:latin typeface="맑은 고딕"/>
              </a:defRPr>
            </a:pPr>
            <a:r>
              <a:t>코사인 유사도 검색 (0.01초 내 상위 3개 문서 추출)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B7879261-4967-FD19-EA59-702EF72B6A68}"/>
              </a:ext>
            </a:extLst>
          </p:cNvPr>
          <p:cNvSpPr/>
          <p:nvPr/>
        </p:nvSpPr>
        <p:spPr>
          <a:xfrm>
            <a:off x="6467397" y="2098736"/>
            <a:ext cx="5148072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60960D6F-D7C7-6600-6CE1-B5B7EB617FCD}"/>
              </a:ext>
            </a:extLst>
          </p:cNvPr>
          <p:cNvSpPr txBox="1"/>
          <p:nvPr/>
        </p:nvSpPr>
        <p:spPr>
          <a:xfrm>
            <a:off x="6692030" y="2225458"/>
            <a:ext cx="2317237" cy="29238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1D1D1B"/>
                </a:solidFill>
                <a:latin typeface="맑은 고딕"/>
              </a:defRPr>
            </a:pPr>
            <a:r>
              <a:rPr>
                <a:solidFill>
                  <a:schemeClr val="tx2"/>
                </a:solidFill>
              </a:rPr>
              <a:t> 3중 </a:t>
            </a:r>
            <a:r>
              <a:rPr err="1">
                <a:solidFill>
                  <a:schemeClr val="tx2"/>
                </a:solidFill>
              </a:rPr>
              <a:t>무중단</a:t>
            </a:r>
            <a:r>
              <a:rPr>
                <a:solidFill>
                  <a:schemeClr val="tx2"/>
                </a:solidFill>
              </a:rPr>
              <a:t> Fallback </a:t>
            </a:r>
            <a:r>
              <a:rPr err="1">
                <a:solidFill>
                  <a:schemeClr val="tx2"/>
                </a:solidFill>
              </a:rPr>
              <a:t>안전망</a:t>
            </a:r>
            <a:endParaRPr lang="ko-KR" altLang="en-US">
              <a:solidFill>
                <a:schemeClr val="tx2"/>
              </a:solidFill>
            </a:endParaRP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AC15A870-CCFE-F7C5-A473-1E5B2638052F}"/>
              </a:ext>
            </a:extLst>
          </p:cNvPr>
          <p:cNvSpPr/>
          <p:nvPr/>
        </p:nvSpPr>
        <p:spPr>
          <a:xfrm>
            <a:off x="6692030" y="2647376"/>
            <a:ext cx="4625737" cy="995402"/>
          </a:xfrm>
          <a:prstGeom prst="roundRect">
            <a:avLst/>
          </a:prstGeom>
          <a:solidFill>
            <a:srgbClr val="EAF3EC"/>
          </a:solidFill>
          <a:ln>
            <a:solidFill>
              <a:srgbClr val="2E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1B5E38"/>
                </a:solidFill>
                <a:latin typeface="맑은 고딕"/>
              </a:defRPr>
            </a:pPr>
            <a:r>
              <a:t>[1순위 </a:t>
            </a:r>
            <a:r>
              <a:rPr err="1"/>
              <a:t>정상</a:t>
            </a:r>
            <a:r>
              <a:t>]  Gemini 3.6 Flash + RAG </a:t>
            </a:r>
            <a:r>
              <a:rPr err="1"/>
              <a:t>주입</a:t>
            </a:r>
            <a:r>
              <a:t>    </a:t>
            </a:r>
            <a:r>
              <a:rPr lang="ko-KR"/>
              <a:t>              </a:t>
            </a:r>
            <a:r>
              <a:rPr lang="ko-KR" altLang="en-US"/>
              <a:t>  </a:t>
            </a:r>
            <a:r>
              <a:t>(~0.8s)</a:t>
            </a:r>
          </a:p>
          <a:p>
            <a:pPr>
              <a:spcBef>
                <a:spcPts val="300"/>
              </a:spcBef>
              <a:defRPr sz="950">
                <a:solidFill>
                  <a:srgbClr val="72716C"/>
                </a:solidFill>
                <a:latin typeface="맑은 고딕"/>
              </a:defRPr>
            </a:pPr>
            <a:r>
              <a:rPr lang="ko-KR"/>
              <a:t>         </a:t>
            </a:r>
            <a:r>
              <a:rPr lang="ko-KR" altLang="en-US"/>
              <a:t>           </a:t>
            </a:r>
            <a:r>
              <a:rPr err="1"/>
              <a:t>수의학</a:t>
            </a:r>
            <a:r>
              <a:t> </a:t>
            </a:r>
            <a:r>
              <a:rPr err="1"/>
              <a:t>문서</a:t>
            </a:r>
            <a:r>
              <a:t> </a:t>
            </a:r>
            <a:r>
              <a:rPr err="1"/>
              <a:t>기반</a:t>
            </a:r>
            <a:r>
              <a:t> </a:t>
            </a:r>
            <a:r>
              <a:rPr err="1"/>
              <a:t>맞춤형</a:t>
            </a:r>
            <a:r>
              <a:t> </a:t>
            </a:r>
            <a:r>
              <a:rPr err="1"/>
              <a:t>자연어</a:t>
            </a:r>
            <a:r>
              <a:t> </a:t>
            </a:r>
            <a:r>
              <a:rPr err="1"/>
              <a:t>설명</a:t>
            </a:r>
            <a:r>
              <a:t> </a:t>
            </a:r>
            <a:r>
              <a:rPr err="1"/>
              <a:t>문장</a:t>
            </a:r>
            <a:r>
              <a:t> </a:t>
            </a:r>
            <a:r>
              <a:rPr err="1"/>
              <a:t>생성</a:t>
            </a:r>
            <a:endParaRPr/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1D7CE980-D73E-9F16-68C7-CE6A0ECC1AE4}"/>
              </a:ext>
            </a:extLst>
          </p:cNvPr>
          <p:cNvSpPr/>
          <p:nvPr/>
        </p:nvSpPr>
        <p:spPr>
          <a:xfrm>
            <a:off x="6692030" y="3779938"/>
            <a:ext cx="4625737" cy="1005840"/>
          </a:xfrm>
          <a:prstGeom prst="roundRect">
            <a:avLst/>
          </a:prstGeom>
          <a:solidFill>
            <a:srgbClr val="F9F8F4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1D1D1B"/>
                </a:solidFill>
                <a:latin typeface="맑은 고딕"/>
              </a:defRPr>
            </a:pPr>
            <a:r>
              <a:t>[2순위 </a:t>
            </a:r>
            <a:r>
              <a:rPr err="1"/>
              <a:t>안전망</a:t>
            </a:r>
            <a:r>
              <a:t>]  </a:t>
            </a:r>
            <a:r>
              <a:rPr err="1"/>
              <a:t>지식베이스</a:t>
            </a:r>
            <a:r>
              <a:t>(JSON) </a:t>
            </a:r>
            <a:r>
              <a:rPr err="1"/>
              <a:t>즉시</a:t>
            </a:r>
            <a:r>
              <a:t> </a:t>
            </a:r>
            <a:r>
              <a:rPr err="1"/>
              <a:t>룩업</a:t>
            </a:r>
            <a:r>
              <a:t>    </a:t>
            </a:r>
            <a:r>
              <a:rPr lang="ko-KR"/>
              <a:t>             </a:t>
            </a:r>
            <a:r>
              <a:rPr lang="ko-KR" altLang="en-US"/>
              <a:t> </a:t>
            </a:r>
            <a:r>
              <a:t>(0.001s)</a:t>
            </a:r>
          </a:p>
          <a:p>
            <a:pPr>
              <a:spcBef>
                <a:spcPts val="300"/>
              </a:spcBef>
              <a:defRPr sz="950">
                <a:solidFill>
                  <a:srgbClr val="72716C"/>
                </a:solidFill>
                <a:latin typeface="맑은 고딕"/>
              </a:defRPr>
            </a:pPr>
            <a:r>
              <a:rPr lang="ko-KR"/>
              <a:t> </a:t>
            </a:r>
            <a:r>
              <a:rPr lang="ko-KR" altLang="en-US"/>
              <a:t>                      </a:t>
            </a:r>
            <a:r>
              <a:t>Gemini </a:t>
            </a:r>
            <a:r>
              <a:rPr err="1"/>
              <a:t>장애</a:t>
            </a:r>
            <a:r>
              <a:t> 시 </a:t>
            </a:r>
            <a:r>
              <a:rPr err="1"/>
              <a:t>정형</a:t>
            </a:r>
            <a:r>
              <a:t> </a:t>
            </a:r>
            <a:r>
              <a:rPr err="1"/>
              <a:t>체크포인트</a:t>
            </a:r>
            <a:r>
              <a:t> &amp; </a:t>
            </a:r>
            <a:r>
              <a:rPr err="1"/>
              <a:t>조언으로</a:t>
            </a:r>
            <a:r>
              <a:t> </a:t>
            </a:r>
            <a:r>
              <a:rPr err="1"/>
              <a:t>즉시</a:t>
            </a:r>
            <a:r>
              <a:t> </a:t>
            </a:r>
            <a:r>
              <a:rPr err="1"/>
              <a:t>대체</a:t>
            </a:r>
            <a:endParaRPr/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3BF42B66-EC60-26C6-02CF-43D0D6E4A6F3}"/>
              </a:ext>
            </a:extLst>
          </p:cNvPr>
          <p:cNvSpPr/>
          <p:nvPr/>
        </p:nvSpPr>
        <p:spPr>
          <a:xfrm>
            <a:off x="6692030" y="4922938"/>
            <a:ext cx="4625737" cy="974525"/>
          </a:xfrm>
          <a:prstGeom prst="roundRect">
            <a:avLst/>
          </a:prstGeom>
          <a:solidFill>
            <a:srgbClr val="F9F8F4"/>
          </a:solidFill>
          <a:ln>
            <a:solidFill>
              <a:srgbClr val="E1D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1D1D1B"/>
                </a:solidFill>
                <a:latin typeface="맑은 고딕"/>
              </a:defRPr>
            </a:pPr>
            <a:r>
              <a:t>[3순위 </a:t>
            </a:r>
            <a:r>
              <a:rPr err="1"/>
              <a:t>비상</a:t>
            </a:r>
            <a:r>
              <a:t>]  </a:t>
            </a:r>
            <a:r>
              <a:rPr err="1"/>
              <a:t>내장</a:t>
            </a:r>
            <a:r>
              <a:t> </a:t>
            </a:r>
            <a:r>
              <a:rPr err="1"/>
              <a:t>스마트</a:t>
            </a:r>
            <a:r>
              <a:t> </a:t>
            </a:r>
            <a:r>
              <a:rPr err="1"/>
              <a:t>템플릿</a:t>
            </a:r>
            <a:r>
              <a:t>    </a:t>
            </a:r>
            <a:r>
              <a:rPr lang="ko-KR"/>
              <a:t>                             </a:t>
            </a:r>
            <a:r>
              <a:t>(0.000s)</a:t>
            </a:r>
          </a:p>
          <a:p>
            <a:pPr>
              <a:spcBef>
                <a:spcPts val="300"/>
              </a:spcBef>
              <a:defRPr sz="950">
                <a:solidFill>
                  <a:srgbClr val="72716C"/>
                </a:solidFill>
                <a:latin typeface="맑은 고딕"/>
              </a:defRPr>
            </a:pPr>
            <a:r>
              <a:rPr lang="ko-KR"/>
              <a:t>                    </a:t>
            </a:r>
            <a:r>
              <a:rPr err="1"/>
              <a:t>지식</a:t>
            </a:r>
            <a:r>
              <a:t> </a:t>
            </a:r>
            <a:r>
              <a:rPr err="1"/>
              <a:t>미매칭</a:t>
            </a:r>
            <a:r>
              <a:t> 시 </a:t>
            </a:r>
            <a:r>
              <a:rPr err="1"/>
              <a:t>기본</a:t>
            </a:r>
            <a:r>
              <a:t> </a:t>
            </a:r>
            <a:r>
              <a:rPr err="1"/>
              <a:t>웰니스</a:t>
            </a:r>
            <a:r>
              <a:t> </a:t>
            </a:r>
            <a:r>
              <a:rPr err="1"/>
              <a:t>관찰</a:t>
            </a:r>
            <a:r>
              <a:t> </a:t>
            </a:r>
            <a:r>
              <a:rPr err="1"/>
              <a:t>가이드</a:t>
            </a:r>
            <a:r>
              <a:t> </a:t>
            </a:r>
            <a:r>
              <a:rPr err="1"/>
              <a:t>응답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2148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">
            <a:extLst>
              <a:ext uri="{FF2B5EF4-FFF2-40B4-BE49-F238E27FC236}">
                <a16:creationId xmlns:a16="http://schemas.microsoft.com/office/drawing/2014/main" id="{BC81EA78-7C6B-4DBD-8575-5E7ACEBC194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1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13</a:t>
            </a:r>
            <a:r>
              <a:rPr sz="11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 · AI EXPERIENCE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4CEF03F-3755-42CB-A32A-DD817AB6D6D6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사료는 제품보다 ‘성분 방향’을 추천합니다.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17A5584C-85A1-4BD8-9213-B21D384B7608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특정 제품을 처방하지 않고 건강 고민·알레르기·현재 사료 형태를 바탕으로 도움이 될 성분과 주의 원료를 정리합니다.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8DB87DA-0201-4F96-921C-0706D760FE4D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95B15D-07E1-46E2-A53C-B4C68FFC6230}"/>
              </a:ext>
            </a:extLst>
          </p:cNvPr>
          <p:cNvSpPr>
            <a:spLocks noGrp="1"/>
          </p:cNvSpPr>
          <p:nvPr/>
        </p:nvSpPr>
        <p:spPr>
          <a:xfrm>
            <a:off x="504825" y="2047875"/>
            <a:ext cx="6477000" cy="4095750"/>
          </a:xfrm>
          <a:prstGeom prst="roundRect">
            <a:avLst>
              <a:gd name="adj" fmla="val 5581"/>
            </a:avLst>
          </a:prstGeom>
          <a:solidFill>
            <a:srgbClr val="FFFDF7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 t="26881" b="26881"/>
          <a:stretch>
            <a:fillRect/>
          </a:stretch>
        </p:blipFill>
        <p:spPr>
          <a:xfrm>
            <a:off x="552450" y="2095500"/>
            <a:ext cx="6381750" cy="4000500"/>
          </a:xfrm>
          <a:prstGeom prst="roundRect">
            <a:avLst>
              <a:gd name="adj" fmla="val 5714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3EDC97-7BF9-40B1-BE33-8B5848AF9DA2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314450" cy="323850"/>
          </a:xfrm>
          <a:prstGeom prst="roundRect">
            <a:avLst>
              <a:gd name="adj" fmla="val 50000"/>
            </a:avLst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3EEB5C-03A1-43A6-93F6-1CC6A0CAE28D}"/>
              </a:ext>
            </a:extLst>
          </p:cNvPr>
          <p:cNvSpPr>
            <a:spLocks noGrp="1"/>
          </p:cNvSpPr>
          <p:nvPr/>
        </p:nvSpPr>
        <p:spPr>
          <a:xfrm>
            <a:off x="895350" y="23241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실제 구현 화면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411773-23BE-4C46-81A1-BD704A4EDCF6}"/>
              </a:ext>
            </a:extLst>
          </p:cNvPr>
          <p:cNvSpPr>
            <a:spLocks noGrp="1"/>
          </p:cNvSpPr>
          <p:nvPr/>
        </p:nvSpPr>
        <p:spPr>
          <a:xfrm>
            <a:off x="7467600" y="22860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785"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추천 결과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91C455-51A0-46ED-89BE-A3B4505C4A4F}"/>
              </a:ext>
            </a:extLst>
          </p:cNvPr>
          <p:cNvSpPr>
            <a:spLocks noGrp="1"/>
          </p:cNvSpPr>
          <p:nvPr/>
        </p:nvSpPr>
        <p:spPr>
          <a:xfrm>
            <a:off x="7467600" y="2857500"/>
            <a:ext cx="40005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12000"/>
              </a:lnSpc>
              <a:spcAft>
                <a:spcPts val="18"/>
              </a:spcAft>
              <a:buNone/>
              <a:defRPr sz="1650" b="0">
                <a:solidFill>
                  <a:srgbClr val="26302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도움이 될 성분</a:t>
            </a:r>
            <a:r>
              <a:rPr sz="1650" b="0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과 선택 이유</a:t>
            </a:r>
          </a:p>
          <a:p>
            <a:pPr marL="24" indent="-14" algn="l">
              <a:lnSpc>
                <a:spcPct val="112000"/>
              </a:lnSpc>
              <a:spcAft>
                <a:spcPts val="18"/>
              </a:spcAft>
              <a:buNone/>
              <a:defRPr sz="1650" b="0">
                <a:solidFill>
                  <a:srgbClr val="26302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주의하거나 피할 원료</a:t>
            </a:r>
            <a:r>
              <a:rPr sz="1650" b="0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와 알레르기 고려</a:t>
            </a:r>
          </a:p>
          <a:p>
            <a:pPr marL="24" indent="-14" algn="l">
              <a:lnSpc>
                <a:spcPct val="112000"/>
              </a:lnSpc>
              <a:spcAft>
                <a:spcPts val="18"/>
              </a:spcAft>
              <a:buNone/>
              <a:defRPr sz="1650" b="0">
                <a:solidFill>
                  <a:srgbClr val="26302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현재 사료를 고려</a:t>
            </a:r>
            <a:r>
              <a:rPr sz="1650" b="0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한 비슷한 유형·대체 방향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1FA9DA-B888-4F3E-BDFE-3A79BBAF1508}"/>
              </a:ext>
            </a:extLst>
          </p:cNvPr>
          <p:cNvSpPr>
            <a:spLocks noGrp="1"/>
          </p:cNvSpPr>
          <p:nvPr/>
        </p:nvSpPr>
        <p:spPr>
          <a:xfrm>
            <a:off x="7467600" y="4857750"/>
            <a:ext cx="4000500" cy="1047750"/>
          </a:xfrm>
          <a:prstGeom prst="roundRect">
            <a:avLst>
              <a:gd name="adj" fmla="val 14545"/>
            </a:avLst>
          </a:prstGeom>
          <a:solidFill>
            <a:srgbClr val="EFE8D6"/>
          </a:solidFill>
          <a:ln w="9525">
            <a:solidFill>
              <a:srgbClr val="D7C9A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E6A621-D0FE-4F6F-B444-0764A1F44578}"/>
              </a:ext>
            </a:extLst>
          </p:cNvPr>
          <p:cNvSpPr>
            <a:spLocks noGrp="1"/>
          </p:cNvSpPr>
          <p:nvPr/>
        </p:nvSpPr>
        <p:spPr>
          <a:xfrm>
            <a:off x="7696200" y="5057775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의도적으로 제외한 것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4740AB-90F7-412D-A262-570F750FBAD9}"/>
              </a:ext>
            </a:extLst>
          </p:cNvPr>
          <p:cNvSpPr>
            <a:spLocks noGrp="1"/>
          </p:cNvSpPr>
          <p:nvPr/>
        </p:nvSpPr>
        <p:spPr>
          <a:xfrm>
            <a:off x="7696200" y="54292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350"/>
          </a:bodyPr>
          <a:lstStyle/>
          <a:p>
            <a:pPr algn="l">
              <a:lnSpc>
                <a:spcPct val="108000"/>
              </a:lnSpc>
              <a:buNone/>
              <a:defRPr sz="1538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defRPr>
            </a:pPr>
            <a:r>
              <a:rPr sz="1538" b="1">
                <a:solidFill>
                  <a:srgbClr val="263021"/>
                </a:solidFill>
                <a:latin typeface="Malgun Gothic"/>
                <a:ea typeface="Malgun Gothic"/>
                <a:cs typeface="Malgun Gothic"/>
              </a:rPr>
              <a:t>제품 구매 유도 · 질병 처방 · 수의사 진단 대체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0C792-991C-42F8-9882-1C1DBE3B0FF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90FBBC-6FC5-4F86-9401-DAA5CA5FD7FA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14</a:t>
            </a:r>
            <a:endParaRPr sz="1050" b="1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12546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>
            <a:extLst>
              <a:ext uri="{FF2B5EF4-FFF2-40B4-BE49-F238E27FC236}">
                <a16:creationId xmlns:a16="http://schemas.microsoft.com/office/drawing/2014/main" id="{6578C146-9358-45F6-BB18-47AA885CCA2F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1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14</a:t>
            </a:r>
            <a:r>
              <a:rPr sz="11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 · ENGINEERING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99863F7-2CAC-47B5-8BCA-1C2A8900239A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108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기능보다 데이터가 이어지는 구조를 우선했습니다.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EDA2588-7DBC-44F4-80D0-0CCF536A99A1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팀 프로젝트에서 충돌과 변경을 줄이기 위해 인증 경계, 데이터 생명주기, DB 변경 이력을 명확히 나눴습니다.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0C95B30-9A18-4369-BA72-AC17B9BCB2FA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87100" cy="0"/>
          </a:xfrm>
          <a:prstGeom prst="line">
            <a:avLst/>
          </a:prstGeom>
          <a:noFill/>
          <a:ln w="9525">
            <a:solidFill>
              <a:srgbClr val="D8D6CA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03AC38-9FE6-46FD-B45D-E1FBE390AC34}"/>
              </a:ext>
            </a:extLst>
          </p:cNvPr>
          <p:cNvSpPr>
            <a:spLocks noGrp="1"/>
          </p:cNvSpPr>
          <p:nvPr/>
        </p:nvSpPr>
        <p:spPr>
          <a:xfrm>
            <a:off x="552450" y="2333625"/>
            <a:ext cx="3143250" cy="3286125"/>
          </a:xfrm>
          <a:prstGeom prst="roundRect">
            <a:avLst>
              <a:gd name="adj" fmla="val 7273"/>
            </a:avLst>
          </a:prstGeom>
          <a:solidFill>
            <a:srgbClr val="E7E8DA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975D3C-191B-490C-B8C1-7B158F013474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7A7B3-BDDE-4C60-8826-1A867A721491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SECURITY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52F870-AAE1-408D-AC10-221A82160D94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Spring 단일 관문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38EAA9-4142-4D19-A14D-A2196BA2D244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2686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000" lnSpcReduction="10000"/>
          </a:bodyPr>
          <a:lstStyle/>
          <a:p>
            <a:pPr>
              <a:lnSpc>
                <a:spcPct val="128000"/>
              </a:lnSpc>
              <a:defRPr sz="1575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50" b="1">
                <a:solidFill>
                  <a:srgbClr val="68705F"/>
                </a:solidFill>
                <a:ea typeface="+mn-lt"/>
                <a:cs typeface="+mn-lt"/>
              </a:rPr>
              <a:t>Spring Boot</a:t>
            </a:r>
            <a: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b="1">
                <a:solidFill>
                  <a:srgbClr val="68705F"/>
                </a:solidFill>
                <a:ea typeface="+mn-lt"/>
                <a:cs typeface="+mn-lt"/>
              </a:rPr>
              <a:t>단일</a:t>
            </a:r>
            <a:r>
              <a:rPr lang="en-US" sz="1550" b="1">
                <a:solidFill>
                  <a:srgbClr val="68705F"/>
                </a:solidFill>
                <a:ea typeface="+mn-lt"/>
                <a:cs typeface="+mn-lt"/>
              </a:rPr>
              <a:t> API</a:t>
            </a:r>
            <a: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b="1">
                <a:solidFill>
                  <a:srgbClr val="68705F"/>
                </a:solidFill>
                <a:ea typeface="+mn-lt"/>
                <a:cs typeface="+mn-lt"/>
              </a:rPr>
              <a:t>관문</a:t>
            </a:r>
            <a:br>
              <a:rPr lang="en-US" sz="1550" b="1">
                <a:solidFill>
                  <a:srgbClr val="68705F"/>
                </a:solidFill>
                <a:ea typeface="+mn-lt"/>
                <a:cs typeface="+mn-lt"/>
              </a:rPr>
            </a:br>
            <a:r>
              <a:rPr lang="en-US" sz="1550" b="1" err="1">
                <a:solidFill>
                  <a:srgbClr val="68705F"/>
                </a:solidFill>
                <a:ea typeface="+mn-lt"/>
                <a:cs typeface="+mn-lt"/>
              </a:rPr>
              <a:t>브라우저는</a:t>
            </a:r>
            <a:r>
              <a:rPr lang="en-US" sz="1550" b="1">
                <a:solidFill>
                  <a:srgbClr val="68705F"/>
                </a:solidFill>
                <a:ea typeface="+mn-lt"/>
                <a:cs typeface="+mn-lt"/>
              </a:rPr>
              <a:t> Spring</a:t>
            </a:r>
            <a: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550" b="1" err="1">
                <a:solidFill>
                  <a:srgbClr val="68705F"/>
                </a:solidFill>
                <a:ea typeface="+mn-lt"/>
                <a:cs typeface="+mn-lt"/>
              </a:rPr>
              <a:t>API만</a:t>
            </a:r>
            <a:r>
              <a:rPr lang="en-US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550" b="1" err="1">
                <a:solidFill>
                  <a:srgbClr val="68705F"/>
                </a:solidFill>
                <a:ea typeface="+mn-lt"/>
                <a:cs typeface="+mn-lt"/>
              </a:rPr>
              <a:t>호출</a:t>
            </a:r>
            <a:b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</a:br>
            <a:r>
              <a:rPr lang="en-US" sz="1550" b="1">
                <a:solidFill>
                  <a:srgbClr val="68705F"/>
                </a:solidFill>
                <a:ea typeface="+mn-lt"/>
                <a:cs typeface="+mn-lt"/>
              </a:rPr>
              <a:t>JWT</a:t>
            </a:r>
            <a: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b="1">
                <a:solidFill>
                  <a:srgbClr val="68705F"/>
                </a:solidFill>
                <a:ea typeface="+mn-lt"/>
                <a:cs typeface="+mn-lt"/>
              </a:rPr>
              <a:t>인증</a:t>
            </a:r>
            <a:r>
              <a:rPr lang="en-US" sz="1550" b="1">
                <a:solidFill>
                  <a:srgbClr val="68705F"/>
                </a:solidFill>
                <a:ea typeface="+mn-lt"/>
                <a:cs typeface="+mn-lt"/>
              </a:rPr>
              <a:t>·</a:t>
            </a:r>
            <a:r>
              <a:rPr lang="ko-KR" altLang="en-US" sz="1550" b="1">
                <a:solidFill>
                  <a:srgbClr val="68705F"/>
                </a:solidFill>
                <a:ea typeface="+mn-lt"/>
                <a:cs typeface="+mn-lt"/>
              </a:rPr>
              <a:t>인가와</a:t>
            </a:r>
            <a: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550" b="1" err="1">
                <a:solidFill>
                  <a:srgbClr val="68705F"/>
                </a:solidFill>
                <a:ea typeface="+mn-lt"/>
                <a:cs typeface="+mn-lt"/>
              </a:rPr>
              <a:t>소유권</a:t>
            </a:r>
            <a:r>
              <a:rPr lang="en-US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b="1">
                <a:solidFill>
                  <a:srgbClr val="68705F"/>
                </a:solidFill>
                <a:ea typeface="+mn-lt"/>
                <a:cs typeface="+mn-lt"/>
              </a:rPr>
              <a:t>검증</a:t>
            </a:r>
            <a: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b="1">
                <a:solidFill>
                  <a:srgbClr val="68705F"/>
                </a:solidFill>
                <a:ea typeface="+mn-lt"/>
                <a:cs typeface="+mn-lt"/>
              </a:rPr>
              <a:t>처리</a:t>
            </a:r>
            <a:b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</a:br>
            <a:r>
              <a:rPr lang="en-US" sz="1550" b="1" err="1">
                <a:solidFill>
                  <a:srgbClr val="68705F"/>
                </a:solidFill>
                <a:ea typeface="+mn-lt"/>
                <a:cs typeface="+mn-lt"/>
              </a:rPr>
              <a:t>FastAPI</a:t>
            </a:r>
            <a:r>
              <a:rPr lang="ko-KR" altLang="en-US" sz="1550" b="1">
                <a:solidFill>
                  <a:srgbClr val="68705F"/>
                </a:solidFill>
                <a:ea typeface="+mn-lt"/>
                <a:cs typeface="+mn-lt"/>
              </a:rPr>
              <a:t>는</a:t>
            </a:r>
            <a:r>
              <a:rPr lang="en-US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550" b="1" err="1">
                <a:solidFill>
                  <a:srgbClr val="68705F"/>
                </a:solidFill>
                <a:ea typeface="+mn-lt"/>
                <a:cs typeface="+mn-lt"/>
              </a:rPr>
              <a:t>내부</a:t>
            </a:r>
            <a:r>
              <a:rPr lang="en-US" sz="1550" b="1">
                <a:solidFill>
                  <a:srgbClr val="68705F"/>
                </a:solidFill>
                <a:ea typeface="+mn-lt"/>
                <a:cs typeface="+mn-lt"/>
              </a:rPr>
              <a:t> AI</a:t>
            </a:r>
            <a: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b="1">
                <a:solidFill>
                  <a:srgbClr val="68705F"/>
                </a:solidFill>
                <a:ea typeface="+mn-lt"/>
                <a:cs typeface="+mn-lt"/>
              </a:rPr>
              <a:t>서비스로</a:t>
            </a:r>
            <a:r>
              <a:rPr lang="en-US" altLang="ko-KR" sz="1550" b="1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b="1">
                <a:solidFill>
                  <a:srgbClr val="68705F"/>
                </a:solidFill>
                <a:ea typeface="+mn-lt"/>
                <a:cs typeface="+mn-lt"/>
              </a:rPr>
              <a:t>분리</a:t>
            </a:r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80D41D-8C74-4D71-9922-492F73E4F325}"/>
              </a:ext>
            </a:extLst>
          </p:cNvPr>
          <p:cNvSpPr>
            <a:spLocks noGrp="1"/>
          </p:cNvSpPr>
          <p:nvPr/>
        </p:nvSpPr>
        <p:spPr>
          <a:xfrm>
            <a:off x="3076575" y="5057775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A0E249-85EC-4EB2-9FFE-4DE095F215A5}"/>
              </a:ext>
            </a:extLst>
          </p:cNvPr>
          <p:cNvSpPr>
            <a:spLocks noGrp="1"/>
          </p:cNvSpPr>
          <p:nvPr/>
        </p:nvSpPr>
        <p:spPr>
          <a:xfrm>
            <a:off x="4038600" y="2333625"/>
            <a:ext cx="3143250" cy="3286125"/>
          </a:xfrm>
          <a:prstGeom prst="roundRect">
            <a:avLst>
              <a:gd name="adj" fmla="val 7273"/>
            </a:avLst>
          </a:prstGeom>
          <a:solidFill>
            <a:srgbClr val="EFE8D6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AFCC73-D924-4C04-B986-6C56CD9E219E}"/>
              </a:ext>
            </a:extLst>
          </p:cNvPr>
          <p:cNvSpPr>
            <a:spLocks noGrp="1"/>
          </p:cNvSpPr>
          <p:nvPr/>
        </p:nvSpPr>
        <p:spPr>
          <a:xfrm>
            <a:off x="4267200" y="257175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C6A34C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134729-5A51-40CC-A8FD-F9E4F8BC1651}"/>
              </a:ext>
            </a:extLst>
          </p:cNvPr>
          <p:cNvSpPr>
            <a:spLocks noGrp="1"/>
          </p:cNvSpPr>
          <p:nvPr/>
        </p:nvSpPr>
        <p:spPr>
          <a:xfrm>
            <a:off x="4362450" y="26098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8515CD-9EB3-4A2F-8E36-D02C68280324}"/>
              </a:ext>
            </a:extLst>
          </p:cNvPr>
          <p:cNvSpPr>
            <a:spLocks noGrp="1"/>
          </p:cNvSpPr>
          <p:nvPr/>
        </p:nvSpPr>
        <p:spPr>
          <a:xfrm>
            <a:off x="4267200" y="318135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000" lnSpcReduction="10000"/>
          </a:bodyPr>
          <a:lstStyle/>
          <a:p>
            <a:pPr>
              <a:lnSpc>
                <a:spcPct val="108000"/>
              </a:lnSpc>
              <a:defRPr sz="225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250">
                <a:solidFill>
                  <a:srgbClr val="3F4930"/>
                </a:solidFill>
                <a:ea typeface="+mn-lt"/>
                <a:cs typeface="+mn-lt"/>
              </a:rPr>
              <a:t>문진·예측 </a:t>
            </a:r>
            <a:r>
              <a:rPr lang="ko-KR" altLang="en-US" sz="2250">
                <a:solidFill>
                  <a:srgbClr val="3F4930"/>
                </a:solidFill>
                <a:ea typeface="+mn-lt"/>
                <a:cs typeface="+mn-lt"/>
              </a:rPr>
              <a:t>생명주기</a:t>
            </a:r>
            <a:r>
              <a:rPr lang="en-US" altLang="ko-KR" sz="2250">
                <a:solidFill>
                  <a:srgbClr val="3F4930"/>
                </a:solidFill>
                <a:ea typeface="+mn-lt"/>
                <a:cs typeface="+mn-lt"/>
              </a:rPr>
              <a:t> </a:t>
            </a:r>
            <a:r>
              <a:rPr lang="en-US" sz="2250">
                <a:solidFill>
                  <a:srgbClr val="3F4930"/>
                </a:solidFill>
                <a:ea typeface="+mn-lt"/>
                <a:cs typeface="+mn-lt"/>
              </a:rPr>
              <a:t>분리</a:t>
            </a:r>
            <a:endParaRPr lang="en-US" altLang="ko-KR">
              <a:ea typeface="+mn-lt"/>
              <a:cs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21B32E-37CE-428C-BF7E-DFB6C4FAF121}"/>
              </a:ext>
            </a:extLst>
          </p:cNvPr>
          <p:cNvSpPr>
            <a:spLocks noGrp="1"/>
          </p:cNvSpPr>
          <p:nvPr/>
        </p:nvSpPr>
        <p:spPr>
          <a:xfrm>
            <a:off x="4267200" y="3886200"/>
            <a:ext cx="26860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575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문진은 항상 저장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AI 결과는 선택적으로 연결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미분석 기록도 재사용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425025-BAFF-46E0-A267-9E80E3E13FDD}"/>
              </a:ext>
            </a:extLst>
          </p:cNvPr>
          <p:cNvSpPr>
            <a:spLocks noGrp="1"/>
          </p:cNvSpPr>
          <p:nvPr/>
        </p:nvSpPr>
        <p:spPr>
          <a:xfrm>
            <a:off x="6562725" y="5057775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41D716C-FBFE-41C8-BA01-577FF9842350}"/>
              </a:ext>
            </a:extLst>
          </p:cNvPr>
          <p:cNvSpPr>
            <a:spLocks noGrp="1"/>
          </p:cNvSpPr>
          <p:nvPr/>
        </p:nvSpPr>
        <p:spPr>
          <a:xfrm>
            <a:off x="7524750" y="2333625"/>
            <a:ext cx="3143250" cy="3286125"/>
          </a:xfrm>
          <a:prstGeom prst="roundRect">
            <a:avLst>
              <a:gd name="adj" fmla="val 7273"/>
            </a:avLst>
          </a:prstGeom>
          <a:solidFill>
            <a:srgbClr val="DCE8E8"/>
          </a:solidFill>
          <a:ln w="9525">
            <a:solidFill>
              <a:srgbClr val="D8D6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54F5BE2-AC62-4BF3-BB70-F85E21FBD0EB}"/>
              </a:ext>
            </a:extLst>
          </p:cNvPr>
          <p:cNvSpPr>
            <a:spLocks noGrp="1"/>
          </p:cNvSpPr>
          <p:nvPr/>
        </p:nvSpPr>
        <p:spPr>
          <a:xfrm>
            <a:off x="7753350" y="257175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F0B920-8AD7-4838-8EB2-D8226622957E}"/>
              </a:ext>
            </a:extLst>
          </p:cNvPr>
          <p:cNvSpPr>
            <a:spLocks noGrp="1"/>
          </p:cNvSpPr>
          <p:nvPr/>
        </p:nvSpPr>
        <p:spPr>
          <a:xfrm>
            <a:off x="7848600" y="26098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SCHEMA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A878E5-DA90-4FF6-90B8-34C5607FA95F}"/>
              </a:ext>
            </a:extLst>
          </p:cNvPr>
          <p:cNvSpPr>
            <a:spLocks noGrp="1"/>
          </p:cNvSpPr>
          <p:nvPr/>
        </p:nvSpPr>
        <p:spPr>
          <a:xfrm>
            <a:off x="7753350" y="318135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000" lnSpcReduction="10000"/>
          </a:bodyPr>
          <a:lstStyle/>
          <a:p>
            <a:pPr>
              <a:lnSpc>
                <a:spcPct val="108000"/>
              </a:lnSpc>
              <a:defRPr sz="225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250">
                <a:solidFill>
                  <a:srgbClr val="3F4930"/>
                </a:solidFill>
                <a:ea typeface="+mn-lt"/>
                <a:cs typeface="+mn-lt"/>
              </a:rPr>
              <a:t>DB 구조 변경 이력 관리</a:t>
            </a:r>
            <a:endParaRPr lang="ko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F05E5C-E8B0-4AC0-A5EC-4D96454A2586}"/>
              </a:ext>
            </a:extLst>
          </p:cNvPr>
          <p:cNvSpPr>
            <a:spLocks noGrp="1"/>
          </p:cNvSpPr>
          <p:nvPr/>
        </p:nvSpPr>
        <p:spPr>
          <a:xfrm>
            <a:off x="7839614" y="3972464"/>
            <a:ext cx="2714804" cy="10808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>
              <a:lnSpc>
                <a:spcPct val="128000"/>
              </a:lnSpc>
              <a:defRPr sz="1575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50" b="0" err="1">
                <a:solidFill>
                  <a:srgbClr val="68705F"/>
                </a:solidFill>
                <a:ea typeface="+mn-lt"/>
                <a:cs typeface="+mn-lt"/>
              </a:rPr>
              <a:t>주소</a:t>
            </a:r>
            <a:r>
              <a:rPr lang="en-US" sz="1550" err="1">
                <a:solidFill>
                  <a:srgbClr val="68705F"/>
                </a:solidFill>
                <a:ea typeface="+mn-lt"/>
                <a:cs typeface="+mn-lt"/>
              </a:rPr>
              <a:t>·</a:t>
            </a:r>
            <a:r>
              <a:rPr lang="en-US" sz="1550" b="0" err="1">
                <a:solidFill>
                  <a:srgbClr val="68705F"/>
                </a:solidFill>
                <a:ea typeface="+mn-lt"/>
                <a:cs typeface="+mn-lt"/>
              </a:rPr>
              <a:t>프로필</a:t>
            </a:r>
            <a:r>
              <a:rPr lang="en-US" sz="1550" b="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en-US" sz="1550" b="0" err="1">
                <a:solidFill>
                  <a:srgbClr val="68705F"/>
                </a:solidFill>
                <a:ea typeface="+mn-lt"/>
                <a:cs typeface="+mn-lt"/>
              </a:rPr>
              <a:t>이미지</a:t>
            </a:r>
            <a:r>
              <a:rPr lang="en-US" sz="1550">
                <a:solidFill>
                  <a:srgbClr val="68705F"/>
                </a:solidFill>
                <a:ea typeface="+mn-lt"/>
                <a:cs typeface="+mn-lt"/>
              </a:rPr>
              <a:t>·</a:t>
            </a:r>
            <a:endParaRPr lang="en-US" altLang="ko-KR" sz="1550">
              <a:ea typeface="Calibri"/>
              <a:cs typeface="Calibri"/>
            </a:endParaRPr>
          </a:p>
          <a:p>
            <a:pPr>
              <a:lnSpc>
                <a:spcPct val="128000"/>
              </a:lnSpc>
              <a:defRPr sz="1575" b="0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50" err="1">
                <a:solidFill>
                  <a:srgbClr val="68705F"/>
                </a:solidFill>
                <a:ea typeface="+mn-lt"/>
                <a:cs typeface="+mn-lt"/>
              </a:rPr>
              <a:t>QR·</a:t>
            </a:r>
            <a:r>
              <a:rPr lang="ko-KR" altLang="en-US" sz="1550" err="1">
                <a:solidFill>
                  <a:srgbClr val="68705F"/>
                </a:solidFill>
                <a:ea typeface="+mn-lt"/>
                <a:cs typeface="+mn-lt"/>
              </a:rPr>
              <a:t>공개</a:t>
            </a:r>
            <a:r>
              <a:rPr lang="en-US" altLang="ko-KR" sz="155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err="1">
                <a:solidFill>
                  <a:srgbClr val="68705F"/>
                </a:solidFill>
                <a:ea typeface="+mn-lt"/>
                <a:cs typeface="+mn-lt"/>
              </a:rPr>
              <a:t>범위</a:t>
            </a:r>
            <a:r>
              <a:rPr lang="en-US" sz="1550" err="1">
                <a:solidFill>
                  <a:srgbClr val="68705F"/>
                </a:solidFill>
                <a:ea typeface="+mn-lt"/>
                <a:cs typeface="+mn-lt"/>
              </a:rPr>
              <a:t>·</a:t>
            </a:r>
            <a:r>
              <a:rPr lang="ko-KR" altLang="en-US" sz="1550" err="1">
                <a:solidFill>
                  <a:srgbClr val="68705F"/>
                </a:solidFill>
                <a:ea typeface="+mn-lt"/>
                <a:cs typeface="+mn-lt"/>
              </a:rPr>
              <a:t>주간</a:t>
            </a:r>
            <a:r>
              <a:rPr lang="en-US" altLang="ko-KR" sz="155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68705F"/>
                </a:solidFill>
                <a:ea typeface="+mn-lt"/>
                <a:cs typeface="+mn-lt"/>
              </a:rPr>
              <a:t>평균</a:t>
            </a:r>
            <a:r>
              <a:rPr lang="en-US" altLang="ko-KR" sz="155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68705F"/>
                </a:solidFill>
                <a:ea typeface="+mn-lt"/>
                <a:cs typeface="+mn-lt"/>
              </a:rPr>
              <a:t>정책까지</a:t>
            </a:r>
            <a:br>
              <a:rPr lang="en-US" altLang="ko-KR" sz="1550">
                <a:ea typeface="+mn-lt"/>
                <a:cs typeface="+mn-lt"/>
              </a:rPr>
            </a:br>
            <a:r>
              <a:rPr lang="en-US" sz="1550">
                <a:solidFill>
                  <a:srgbClr val="68705F"/>
                </a:solidFill>
                <a:ea typeface="+mn-lt"/>
                <a:cs typeface="+mn-lt"/>
              </a:rPr>
              <a:t>DB</a:t>
            </a:r>
            <a:r>
              <a:rPr lang="en-US" altLang="ko-KR" sz="155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err="1">
                <a:solidFill>
                  <a:srgbClr val="68705F"/>
                </a:solidFill>
                <a:ea typeface="+mn-lt"/>
                <a:cs typeface="+mn-lt"/>
              </a:rPr>
              <a:t>변경</a:t>
            </a:r>
            <a:r>
              <a:rPr lang="en-US" altLang="ko-KR" sz="155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err="1">
                <a:solidFill>
                  <a:srgbClr val="68705F"/>
                </a:solidFill>
                <a:ea typeface="+mn-lt"/>
                <a:cs typeface="+mn-lt"/>
              </a:rPr>
              <a:t>이력을</a:t>
            </a:r>
            <a:r>
              <a:rPr lang="en-US" sz="155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err="1">
                <a:solidFill>
                  <a:srgbClr val="68705F"/>
                </a:solidFill>
                <a:ea typeface="+mn-lt"/>
                <a:cs typeface="+mn-lt"/>
              </a:rPr>
              <a:t>버전으로</a:t>
            </a:r>
            <a:r>
              <a:rPr lang="en-US" sz="1550">
                <a:solidFill>
                  <a:srgbClr val="68705F"/>
                </a:solidFill>
                <a:ea typeface="+mn-lt"/>
                <a:cs typeface="+mn-lt"/>
              </a:rPr>
              <a:t> </a:t>
            </a:r>
            <a:r>
              <a:rPr lang="ko-KR" altLang="en-US" sz="1550" err="1">
                <a:solidFill>
                  <a:srgbClr val="68705F"/>
                </a:solidFill>
                <a:ea typeface="+mn-lt"/>
                <a:cs typeface="+mn-lt"/>
              </a:rPr>
              <a:t>관리</a:t>
            </a:r>
            <a:endParaRPr lang="en-US" altLang="ko-KR" sz="1550">
              <a:ea typeface="Calibri"/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6AD2C7-DD4A-44E2-ADF0-02496E0EA487}"/>
              </a:ext>
            </a:extLst>
          </p:cNvPr>
          <p:cNvSpPr>
            <a:spLocks noGrp="1"/>
          </p:cNvSpPr>
          <p:nvPr/>
        </p:nvSpPr>
        <p:spPr>
          <a:xfrm>
            <a:off x="10048875" y="5057775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34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C8C391-1CA8-4F22-9F63-686530DA2E29}"/>
              </a:ext>
            </a:extLst>
          </p:cNvPr>
          <p:cNvSpPr>
            <a:spLocks noGrp="1"/>
          </p:cNvSpPr>
          <p:nvPr/>
        </p:nvSpPr>
        <p:spPr>
          <a:xfrm>
            <a:off x="3524250" y="5829300"/>
            <a:ext cx="5143500" cy="361950"/>
          </a:xfrm>
          <a:prstGeom prst="roundRect">
            <a:avLst>
              <a:gd name="adj" fmla="val 50000"/>
            </a:avLst>
          </a:prstGeom>
          <a:solidFill>
            <a:srgbClr val="3F4930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2E0138-D116-4E12-88E0-4E88421F4546}"/>
              </a:ext>
            </a:extLst>
          </p:cNvPr>
          <p:cNvSpPr>
            <a:spLocks noGrp="1"/>
          </p:cNvSpPr>
          <p:nvPr/>
        </p:nvSpPr>
        <p:spPr>
          <a:xfrm>
            <a:off x="3619500" y="58674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50">
                <a:solidFill>
                  <a:srgbClr val="FFFFFF"/>
                </a:solidFill>
                <a:ea typeface="+mn-lt"/>
                <a:cs typeface="+mn-lt"/>
              </a:rPr>
              <a:t>DB</a:t>
            </a:r>
            <a:r>
              <a:rPr lang="en-US" altLang="ko-KR" sz="12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ko-KR" altLang="en-US" sz="1250">
                <a:solidFill>
                  <a:srgbClr val="FFFFFF"/>
                </a:solidFill>
                <a:ea typeface="+mn-lt"/>
                <a:cs typeface="+mn-lt"/>
              </a:rPr>
              <a:t>접속정보</a:t>
            </a:r>
            <a:r>
              <a:rPr lang="en-US" sz="1250">
                <a:solidFill>
                  <a:srgbClr val="FFFFFF"/>
                </a:solidFill>
                <a:ea typeface="+mn-lt"/>
                <a:cs typeface="+mn-lt"/>
              </a:rPr>
              <a:t>·AI</a:t>
            </a:r>
            <a:r>
              <a:rPr lang="en-US" altLang="ko-KR" sz="12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ko-KR" altLang="en-US" sz="1250">
                <a:solidFill>
                  <a:srgbClr val="FFFFFF"/>
                </a:solidFill>
                <a:ea typeface="+mn-lt"/>
                <a:cs typeface="+mn-lt"/>
              </a:rPr>
              <a:t>키</a:t>
            </a:r>
            <a:r>
              <a:rPr lang="en-US" sz="1250">
                <a:solidFill>
                  <a:srgbClr val="FFFFFF"/>
                </a:solidFill>
                <a:ea typeface="+mn-lt"/>
                <a:cs typeface="+mn-lt"/>
              </a:rPr>
              <a:t>·공공 API </a:t>
            </a:r>
            <a:r>
              <a:rPr lang="ko-KR" altLang="en-US" sz="1250">
                <a:solidFill>
                  <a:srgbClr val="FFFFFF"/>
                </a:solidFill>
                <a:ea typeface="+mn-lt"/>
                <a:cs typeface="+mn-lt"/>
              </a:rPr>
              <a:t>키는</a:t>
            </a:r>
            <a:r>
              <a:rPr lang="en-US" altLang="ko-KR" sz="12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ko-KR" altLang="en-US" sz="1250">
                <a:solidFill>
                  <a:srgbClr val="FFFFFF"/>
                </a:solidFill>
                <a:ea typeface="+mn-lt"/>
                <a:cs typeface="+mn-lt"/>
              </a:rPr>
              <a:t>환경변수로</a:t>
            </a:r>
            <a:r>
              <a:rPr lang="en-US" altLang="ko-KR" sz="12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ko-KR" altLang="en-US" sz="1250">
                <a:solidFill>
                  <a:srgbClr val="FFFFFF"/>
                </a:solidFill>
                <a:ea typeface="+mn-lt"/>
                <a:cs typeface="+mn-lt"/>
              </a:rPr>
              <a:t>분리하고</a:t>
            </a:r>
            <a:r>
              <a:rPr lang="en-US" altLang="ko-KR" sz="12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250">
                <a:solidFill>
                  <a:srgbClr val="FFFFFF"/>
                </a:solidFill>
                <a:ea typeface="+mn-lt"/>
                <a:cs typeface="+mn-lt"/>
              </a:rPr>
              <a:t>Git</a:t>
            </a:r>
            <a:r>
              <a:rPr lang="ko-KR" altLang="en-US" sz="1250">
                <a:solidFill>
                  <a:srgbClr val="FFFFFF"/>
                </a:solidFill>
                <a:ea typeface="+mn-lt"/>
                <a:cs typeface="+mn-lt"/>
              </a:rPr>
              <a:t>에서</a:t>
            </a:r>
            <a:r>
              <a:rPr lang="en-US" sz="1250">
                <a:solidFill>
                  <a:srgbClr val="FFFFFF"/>
                </a:solidFill>
                <a:ea typeface="+mn-lt"/>
                <a:cs typeface="+mn-lt"/>
              </a:rPr>
              <a:t> 제외</a:t>
            </a:r>
            <a:endParaRPr lang="en-US" altLang="ko-KR" sz="1250">
              <a:ea typeface="+mn-lt"/>
              <a:cs typeface="+mn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387B1E-BA58-4FF4-8F33-910E887182D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PATPET TEAM PROJECT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19E193-8B25-4993-A051-628E3E4A9056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638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050" b="1">
                <a:solidFill>
                  <a:srgbClr val="68705F"/>
                </a:solidFill>
                <a:latin typeface="Malgun Gothic"/>
                <a:ea typeface="Malgun Gothic"/>
                <a:cs typeface="Malgun Gothic"/>
              </a:rPr>
              <a:t>15</a:t>
            </a:r>
            <a:endParaRPr sz="1050" b="1">
              <a:solidFill>
                <a:srgbClr val="68705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318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1A57792-765F-4CA8-926D-FEF37637A367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LIVE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E5B8B7-EB3A-46AB-BCDB-91031326B6A4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6642339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706"/>
          </a:bodyPr>
          <a:lstStyle/>
          <a:p>
            <a:pPr>
              <a:lnSpc>
                <a:spcPct val="95000"/>
              </a:lnSpc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/>
              <a:t>감사합니다.</a:t>
            </a:r>
            <a:endParaRPr lang="ko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DE9FE2-8BEE-489A-A561-5A8B621BB238}"/>
              </a:ext>
            </a:extLst>
          </p:cNvPr>
          <p:cNvSpPr>
            <a:spLocks noGrp="1"/>
          </p:cNvSpPr>
          <p:nvPr/>
        </p:nvSpPr>
        <p:spPr>
          <a:xfrm>
            <a:off x="552450" y="24574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시연 순서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A28C5F-D677-48B0-85DC-596321093211}"/>
              </a:ext>
            </a:extLst>
          </p:cNvPr>
          <p:cNvSpPr>
            <a:spLocks noGrp="1"/>
          </p:cNvSpPr>
          <p:nvPr/>
        </p:nvSpPr>
        <p:spPr>
          <a:xfrm>
            <a:off x="552450" y="3009900"/>
            <a:ext cx="2857500" cy="514350"/>
          </a:xfrm>
          <a:prstGeom prst="roundRect">
            <a:avLst>
              <a:gd name="adj" fmla="val 29630"/>
            </a:avLst>
          </a:prstGeom>
          <a:solidFill>
            <a:srgbClr val="56613F"/>
          </a:solidFill>
          <a:ln w="9525">
            <a:solidFill>
              <a:srgbClr val="6E795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D6069-2115-4A2F-B8F2-36FD3293462F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A51006-9631-4FA7-9636-751B853D08AD}"/>
              </a:ext>
            </a:extLst>
          </p:cNvPr>
          <p:cNvSpPr>
            <a:spLocks noGrp="1"/>
          </p:cNvSpPr>
          <p:nvPr/>
        </p:nvSpPr>
        <p:spPr>
          <a:xfrm>
            <a:off x="1104900" y="3114675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로그인·</a:t>
            </a:r>
            <a:r>
              <a:rPr lang="ko-KR"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반려동물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선택</a:t>
            </a:r>
            <a:endParaRPr lang="ko-KR" altLang="en-US" sz="1500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3533DE-F66C-48F2-AB27-1F28CCB58A5A}"/>
              </a:ext>
            </a:extLst>
          </p:cNvPr>
          <p:cNvSpPr>
            <a:spLocks noGrp="1"/>
          </p:cNvSpPr>
          <p:nvPr/>
        </p:nvSpPr>
        <p:spPr>
          <a:xfrm>
            <a:off x="552450" y="3695700"/>
            <a:ext cx="2857500" cy="514350"/>
          </a:xfrm>
          <a:prstGeom prst="roundRect">
            <a:avLst>
              <a:gd name="adj" fmla="val 29630"/>
            </a:avLst>
          </a:prstGeom>
          <a:solidFill>
            <a:srgbClr val="56613F"/>
          </a:solidFill>
          <a:ln w="9525">
            <a:solidFill>
              <a:srgbClr val="6E795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6C79ED-6B28-48A5-BE25-1795BC6971ED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244A3D-5C6E-4316-AB83-EC5059A64DC6}"/>
              </a:ext>
            </a:extLst>
          </p:cNvPr>
          <p:cNvSpPr>
            <a:spLocks noGrp="1"/>
          </p:cNvSpPr>
          <p:nvPr/>
        </p:nvSpPr>
        <p:spPr>
          <a:xfrm>
            <a:off x="1104900" y="3800475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문진 저장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23A163-FB2C-4C9D-AA8F-5E2E1F92C096}"/>
              </a:ext>
            </a:extLst>
          </p:cNvPr>
          <p:cNvSpPr>
            <a:spLocks noGrp="1"/>
          </p:cNvSpPr>
          <p:nvPr/>
        </p:nvSpPr>
        <p:spPr>
          <a:xfrm>
            <a:off x="552450" y="4381500"/>
            <a:ext cx="2857500" cy="514350"/>
          </a:xfrm>
          <a:prstGeom prst="roundRect">
            <a:avLst>
              <a:gd name="adj" fmla="val 29630"/>
            </a:avLst>
          </a:prstGeom>
          <a:solidFill>
            <a:srgbClr val="56613F"/>
          </a:solidFill>
          <a:ln w="9525">
            <a:solidFill>
              <a:srgbClr val="6E795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34E3CC-11BB-4592-979C-0CD9C3218BF9}"/>
              </a:ext>
            </a:extLst>
          </p:cNvPr>
          <p:cNvSpPr>
            <a:spLocks noGrp="1"/>
          </p:cNvSpPr>
          <p:nvPr/>
        </p:nvSpPr>
        <p:spPr>
          <a:xfrm>
            <a:off x="704850" y="45148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51EDA5-ED28-44C5-8EB6-D60A96FA6DEA}"/>
              </a:ext>
            </a:extLst>
          </p:cNvPr>
          <p:cNvSpPr>
            <a:spLocks noGrp="1"/>
          </p:cNvSpPr>
          <p:nvPr/>
        </p:nvSpPr>
        <p:spPr>
          <a:xfrm>
            <a:off x="1104900" y="4486275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분석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453742-4BDB-4A49-8800-73E4B4CA776C}"/>
              </a:ext>
            </a:extLst>
          </p:cNvPr>
          <p:cNvSpPr>
            <a:spLocks noGrp="1"/>
          </p:cNvSpPr>
          <p:nvPr/>
        </p:nvSpPr>
        <p:spPr>
          <a:xfrm>
            <a:off x="3695700" y="3009900"/>
            <a:ext cx="2857500" cy="514350"/>
          </a:xfrm>
          <a:prstGeom prst="roundRect">
            <a:avLst>
              <a:gd name="adj" fmla="val 29630"/>
            </a:avLst>
          </a:prstGeom>
          <a:solidFill>
            <a:srgbClr val="56613F"/>
          </a:solidFill>
          <a:ln w="9525">
            <a:solidFill>
              <a:srgbClr val="6E795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31A078-86BC-47DF-AABF-BBEEABA62F96}"/>
              </a:ext>
            </a:extLst>
          </p:cNvPr>
          <p:cNvSpPr>
            <a:spLocks noGrp="1"/>
          </p:cNvSpPr>
          <p:nvPr/>
        </p:nvSpPr>
        <p:spPr>
          <a:xfrm>
            <a:off x="3848100" y="31432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04BEE1-F092-43B6-ADAD-3870C88B3A7C}"/>
              </a:ext>
            </a:extLst>
          </p:cNvPr>
          <p:cNvSpPr>
            <a:spLocks noGrp="1"/>
          </p:cNvSpPr>
          <p:nvPr/>
        </p:nvSpPr>
        <p:spPr>
          <a:xfrm>
            <a:off x="4248150" y="3114675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건강 기록·리포트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D0C226F-51B5-4F33-9D5E-9FE4959D1BA3}"/>
              </a:ext>
            </a:extLst>
          </p:cNvPr>
          <p:cNvSpPr>
            <a:spLocks noGrp="1"/>
          </p:cNvSpPr>
          <p:nvPr/>
        </p:nvSpPr>
        <p:spPr>
          <a:xfrm>
            <a:off x="3695700" y="3695700"/>
            <a:ext cx="2857500" cy="514350"/>
          </a:xfrm>
          <a:prstGeom prst="roundRect">
            <a:avLst>
              <a:gd name="adj" fmla="val 29630"/>
            </a:avLst>
          </a:prstGeom>
          <a:solidFill>
            <a:srgbClr val="56613F"/>
          </a:solidFill>
          <a:ln w="9525">
            <a:solidFill>
              <a:srgbClr val="6E795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6EDE3A-51B7-418D-86EA-F54B824BE919}"/>
              </a:ext>
            </a:extLst>
          </p:cNvPr>
          <p:cNvSpPr>
            <a:spLocks noGrp="1"/>
          </p:cNvSpPr>
          <p:nvPr/>
        </p:nvSpPr>
        <p:spPr>
          <a:xfrm>
            <a:off x="3848100" y="38290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3470A8-192B-4851-8CEE-2D4AE1C33678}"/>
              </a:ext>
            </a:extLst>
          </p:cNvPr>
          <p:cNvSpPr>
            <a:spLocks noGrp="1"/>
          </p:cNvSpPr>
          <p:nvPr/>
        </p:nvSpPr>
        <p:spPr>
          <a:xfrm>
            <a:off x="4248150" y="3800475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산책 추천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CFA9F62-352B-4E84-BE78-170CDA230E1A}"/>
              </a:ext>
            </a:extLst>
          </p:cNvPr>
          <p:cNvSpPr>
            <a:spLocks noGrp="1"/>
          </p:cNvSpPr>
          <p:nvPr/>
        </p:nvSpPr>
        <p:spPr>
          <a:xfrm>
            <a:off x="3695700" y="4381500"/>
            <a:ext cx="2857500" cy="514350"/>
          </a:xfrm>
          <a:prstGeom prst="roundRect">
            <a:avLst>
              <a:gd name="adj" fmla="val 29630"/>
            </a:avLst>
          </a:prstGeom>
          <a:solidFill>
            <a:srgbClr val="56613F"/>
          </a:solidFill>
          <a:ln w="9525">
            <a:solidFill>
              <a:srgbClr val="6E795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9E26D2-28FF-4B32-8B50-56D9F40290EC}"/>
              </a:ext>
            </a:extLst>
          </p:cNvPr>
          <p:cNvSpPr>
            <a:spLocks noGrp="1"/>
          </p:cNvSpPr>
          <p:nvPr/>
        </p:nvSpPr>
        <p:spPr>
          <a:xfrm>
            <a:off x="3848100" y="45148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7C9A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A6BD0C-0246-43B5-8EA4-E1B38BD70E26}"/>
              </a:ext>
            </a:extLst>
          </p:cNvPr>
          <p:cNvSpPr>
            <a:spLocks noGrp="1"/>
          </p:cNvSpPr>
          <p:nvPr/>
        </p:nvSpPr>
        <p:spPr>
          <a:xfrm>
            <a:off x="4248150" y="4486275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QR 생성·모바일 스캔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B05C8F-9F9B-4F59-A35B-44C1C437DAE7}"/>
              </a:ext>
            </a:extLst>
          </p:cNvPr>
          <p:cNvSpPr>
            <a:spLocks noGrp="1"/>
          </p:cNvSpPr>
          <p:nvPr/>
        </p:nvSpPr>
        <p:spPr>
          <a:xfrm>
            <a:off x="7696200" y="4362450"/>
            <a:ext cx="3429000" cy="723900"/>
          </a:xfrm>
          <a:prstGeom prst="roundRect">
            <a:avLst>
              <a:gd name="adj" fmla="val 21053"/>
            </a:avLst>
          </a:prstGeom>
          <a:solidFill>
            <a:srgbClr val="E7E8DA"/>
          </a:solidFill>
          <a:ln w="9525">
            <a:solidFill>
              <a:srgbClr val="D8D6C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F52F5C-837D-4621-8681-EB734A4923B2}"/>
              </a:ext>
            </a:extLst>
          </p:cNvPr>
          <p:cNvSpPr>
            <a:spLocks noGrp="1"/>
          </p:cNvSpPr>
          <p:nvPr/>
        </p:nvSpPr>
        <p:spPr>
          <a:xfrm>
            <a:off x="7696200" y="4448175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3F4930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4523C0-2FD4-4DA9-945B-B6D7645BD69E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FE8D6"/>
                </a:solidFill>
                <a:latin typeface="Malgun Gothic"/>
                <a:ea typeface="Malgun Gothic"/>
                <a:cs typeface="Malgun Gothic"/>
              </a:rPr>
              <a:t>PatPet Team Project · 2026</a:t>
            </a:r>
          </a:p>
        </p:txBody>
      </p:sp>
    </p:spTree>
    <p:extLst>
      <p:ext uri="{BB962C8B-B14F-4D97-AF65-F5344CB8AC3E}">
        <p14:creationId xmlns:p14="http://schemas.microsoft.com/office/powerpoint/2010/main" val="12079799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tPet Warm Olive">
      <a:dk1>
        <a:srgbClr val="263021"/>
      </a:dk1>
      <a:lt1>
        <a:srgbClr val="FFFFFF"/>
      </a:lt1>
      <a:dk2>
        <a:srgbClr val="3F4930"/>
      </a:dk2>
      <a:lt2>
        <a:srgbClr val="E7E8DA"/>
      </a:lt2>
      <a:accent1>
        <a:srgbClr val="3F4930"/>
      </a:accent1>
      <a:accent2>
        <a:srgbClr val="66734F"/>
      </a:accent2>
      <a:accent3>
        <a:srgbClr val="C6A34C"/>
      </a:accent3>
      <a:accent4>
        <a:srgbClr val="D9855B"/>
      </a:accent4>
      <a:accent5>
        <a:srgbClr val="66878B"/>
      </a:accent5>
      <a:accent6>
        <a:srgbClr val="A95743"/>
      </a:accent6>
      <a:hlink>
        <a:srgbClr val="66878B"/>
      </a:hlink>
      <a:folHlink>
        <a:srgbClr val="A9574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atPet Warm Oliv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atPet Warm Olive">
      <a:dk1>
        <a:srgbClr val="263021"/>
      </a:dk1>
      <a:lt1>
        <a:srgbClr val="FFFFFF"/>
      </a:lt1>
      <a:dk2>
        <a:srgbClr val="3F4930"/>
      </a:dk2>
      <a:lt2>
        <a:srgbClr val="E7E8DA"/>
      </a:lt2>
      <a:accent1>
        <a:srgbClr val="3F4930"/>
      </a:accent1>
      <a:accent2>
        <a:srgbClr val="66734F"/>
      </a:accent2>
      <a:accent3>
        <a:srgbClr val="C6A34C"/>
      </a:accent3>
      <a:accent4>
        <a:srgbClr val="D9855B"/>
      </a:accent4>
      <a:accent5>
        <a:srgbClr val="66878B"/>
      </a:accent5>
      <a:accent6>
        <a:srgbClr val="A95743"/>
      </a:accent6>
      <a:hlink>
        <a:srgbClr val="66878B"/>
      </a:hlink>
      <a:folHlink>
        <a:srgbClr val="A9574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atPet Warm Oliv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16</Slides>
  <Notes>16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2</cp:revision>
  <dcterms:created xsi:type="dcterms:W3CDTF">2026-08-28T04:08:10Z</dcterms:created>
  <dcterms:modified xsi:type="dcterms:W3CDTF">2026-09-09T00:40:04Z</dcterms:modified>
</cp:coreProperties>
</file>